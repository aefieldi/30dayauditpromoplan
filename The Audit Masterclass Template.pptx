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e1d2a747-a74e-b868-9ff1-de9154cdd3fa}">
          <p14:sldIdLst>
            <p14:sldId id="256"/>
            <p14:sldId id="257"/>
            <p14:sldId id="258"/>
            <p14:sldId id="259"/>
            <p14:sldId id="260"/>
            <p14:sldId id="261"/>
            <p14:sldId id="262"/>
          </p14:sldIdLst>
        </p14:section>
        <p14:section name="My story" id="{7f602969-8ef0-0df4-ff5c-a1b48405cf36}">
          <p14:sldIdLst>
            <p14:sldId id="263"/>
            <p14:sldId id="264"/>
          </p14:sldIdLst>
        </p14:section>
        <p14:section name="The real problem" id="{2f379161-38fc-8f80-8ddf-5ddaa6b8f1aa}">
          <p14:sldIdLst>
            <p14:sldId id="265"/>
            <p14:sldId id="266"/>
            <p14:sldId id="267"/>
          </p14:sldIdLst>
        </p14:section>
        <p14:section name="Who you become" id="{ace0b019-8e7b-5ea4-3678-1e7469416897}">
          <p14:sldIdLst>
            <p14:sldId id="268"/>
          </p14:sldIdLst>
        </p14:section>
        <p14:section name="The method" id="{a4f4ed91-9208-d4f1-7830-bcff7b46c885}">
          <p14:sldIdLst>
            <p14:sldId id="269"/>
            <p14:sldId id="270"/>
            <p14:sldId id="271"/>
            <p14:sldId id="272"/>
            <p14:sldId id="273"/>
            <p14:sldId id="274"/>
            <p14:sldId id="275"/>
            <p14:sldId id="276"/>
            <p14:sldId id="277"/>
            <p14:sldId id="278"/>
            <p14:sldId id="279"/>
            <p14:sldId id="280"/>
          </p14:sldIdLst>
        </p14:section>
        <p14:section name="Proof" id="{73efeab7-fb55-6dff-68cb-ad70b6ed82cf}">
          <p14:sldIdLst>
            <p14:sldId id="281"/>
            <p14:sldId id="282"/>
          </p14:sldIdLst>
        </p14:section>
        <p14:section name="Close" id="{275e1c30-e76d-e996-745e-3b7fe948b568}">
          <p14:sldIdLst>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PROMISE. Say the result they want and the thing they hate in one breath. No hello, no "welcome to my channel". The first line is the whole video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WHO THIS IS FOR. Six kinds of people who should keep watching. Name them the way they describe themselves. The sixth card is the one rule that covers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WHERE YOU MIGHT BE RIGHT NOW. Five situations from your brain dump, question 3. Say each one as if you are describing one person. Ask them to comment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WHO I AM. Your photo, four lines about you, four numbers or facts that make you the person to listen to on this. Numbers prove a mechanism; they are not the flex. If you have no numbers yet, use facts: years, training, who taught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WHAT YOU HAVE ALREADY TRIED. Eight things your person has tried that did not work. From your brain dump, question 3. Say "tell me in the comments which ones you have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WHAT YOU TRULY WANT. The big line is what they want underneath what they say they want (brain dump, question 4). The four cards are the specific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WHAT WE WILL COVER. Read the six rows fast. This is the map, it tells them it is worth staying.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MY STORY. Where you were before you figured this out. One scene, not a biography. Brain dump, question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THE TURNING POINT. What changed, and what you do differently now because of it. This is where your audit was born.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THE REAL PROBLEM. One quote in their exact words (brain dump, question 3, the sentence they keep saying to themselves). Then name the real problem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WHY IT KEEPS HAPPENING. Four reasons the problem repeats. Each one should make them nod.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BELIEFS THAT KEEP YOU STUCK. Six old beliefs your person holds. Say each one, then the reframe. These come from the 10 beliefs in your audit breakdown.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WHO YOU BECOME. The identity on the other side, in three or four words. Then four shifts: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THE ANSWER. Name your method (or your audit) and say what it is in one line. Then the three steps. The rest of the video walks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WHY IT WORKS. Four things the method is built on. Principles, not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STEP 1 DIVIDER. Say the step name and the one-line summary. Pause. Swap the photo for one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STEP 1 DETAIL. What to do, how to do it, the mistake to avoid. Then the line at the bottom is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STEP 1 EXAMPLE. One real story, four stages, a result. Brain dump question 9. First names only, or no name. The result can be a feeling, not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STEP 2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STEP 2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STEP 2 EXAMPLE. Another real story, or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STEP 3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STEP 3 DETAIL. This is usually the step that happens on your audit.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WHAT THE AUDIT LOOKS LIKE. Before, during, after. Three screenshots: your booking page, your intake form or notes, what they get afterwards. Brain dump questions 5, 7,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YOUR TURN. Give them one thing to do right now, on their own, from the video. Ask them to comment what they got.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PROOF. Three results from people you have worked with. Screenshots of their words if you have them. First names only, or no names. No results you cannot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RECAP. Say what they now know, fast. Then the bridge: "the step most people cannot do alone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THE INVITATION. Say what the audit is, who it is for, what they leave with, and how to book. One ask, said flat. The link is in the first line of the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WHAT HAPPENS WHEN YOU BOOK. Walk the four steps so booking feels safe and specific. Brain dump questions 8, 5, 7,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YOUR QUESTIONS. Answer the five objections from your brain dump (question 10) before they ask them. Then one last line and the link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THE LAST LINE. One sentence they can act on today, whether they book or not.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24-2.jpg"/><Relationship Id="rId3" Type="http://schemas.openxmlformats.org/officeDocument/2006/relationships/image" Target="../media/image-24-2.jpg"/><Relationship Id="rId4" Type="http://schemas.openxmlformats.org/officeDocument/2006/relationships/image" Target="../media/image-24-2.jp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24-2.jpg"/><Relationship Id="rId3" Type="http://schemas.openxmlformats.org/officeDocument/2006/relationships/image" Target="../media/image-24-2.jpg"/><Relationship Id="rId4" Type="http://schemas.openxmlformats.org/officeDocument/2006/relationships/image" Target="../media/image-24-2.jp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hoto.jpg">    </p:cNvPr>
          <p:cNvPicPr>
            <a:picLocks noChangeAspect="1"/>
          </p:cNvPicPr>
          <p:nvPr/>
        </p:nvPicPr>
        <p:blipFill>
          <a:blip r:embed="rId2"/>
          <a:stretch>
            <a:fillRect/>
          </a:stretch>
        </p:blipFill>
        <p:spPr>
          <a:xfrm>
            <a:off x="6336792" y="0"/>
            <a:ext cx="5852160" cy="6858000"/>
          </a:xfrm>
          <a:prstGeom prst="rect">
            <a:avLst/>
          </a:prstGeom>
        </p:spPr>
      </p:pic>
      <p:sp>
        <p:nvSpPr>
          <p:cNvPr id="4" name="Shape 0"/>
          <p:cNvSpPr/>
          <p:nvPr/>
        </p:nvSpPr>
        <p:spPr>
          <a:xfrm>
            <a:off x="6336792" y="0"/>
            <a:ext cx="822960" cy="6858000"/>
          </a:xfrm>
          <a:prstGeom prst="rect">
            <a:avLst/>
          </a:prstGeom>
          <a:solidFill>
            <a:srgbClr val="0B0A12">
              <a:alpha val="60000"/>
            </a:srgbClr>
          </a:solidFill>
          <a:ln w="12700">
            <a:solidFill>
              <a:srgbClr val="0B0A12">
                <a:alpha val="0"/>
              </a:srgbClr>
            </a:solidFill>
            <a:prstDash val="solid"/>
          </a:ln>
        </p:spPr>
      </p:sp>
      <p:sp>
        <p:nvSpPr>
          <p:cNvPr id="5" name="Text 1"/>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050" spc="300" kern="0" dirty="0">
                <a:solidFill>
                  <a:srgbClr val="E8C878"/>
                </a:solidFill>
                <a:latin typeface="DM Mono" pitchFamily="34" charset="0"/>
                <a:ea typeface="DM Mono" pitchFamily="34" charset="-122"/>
                <a:cs typeface="DM Mono" pitchFamily="34" charset="-120"/>
              </a:rPr>
              <a:t>[YOUR AUDIT NAME] · MASTERCLASS</a:t>
            </a:r>
            <a:endParaRPr lang="en-US" sz="1050" dirty="0"/>
          </a:p>
        </p:txBody>
      </p:sp>
      <p:sp>
        <p:nvSpPr>
          <p:cNvPr id="6" name="Text 2"/>
          <p:cNvSpPr txBox="1"/>
          <p:nvPr/>
        </p:nvSpPr>
        <p:spPr>
          <a:xfrm>
            <a:off x="548640" y="1188720"/>
            <a:ext cx="5394960" cy="2926080"/>
          </a:xfrm>
          <a:prstGeom prst="rect">
            <a:avLst/>
          </a:prstGeom>
          <a:noFill/>
          <a:ln/>
        </p:spPr>
        <p:txBody>
          <a:bodyPr wrap="square" lIns="0" tIns="0" rIns="0" bIns="0" rtlCol="0" anchor="t">
            <a:normAutofit/>
          </a:bodyPr>
          <a:lstStyle/>
          <a:p>
            <a:pPr indent="0" marL="0">
              <a:buNone/>
            </a:pPr>
            <a:r>
              <a:rPr lang="en-US" sz="4000" b="1" dirty="0">
                <a:solidFill>
                  <a:srgbClr val="F1EEFB"/>
                </a:solidFill>
                <a:latin typeface="Outfit" pitchFamily="34" charset="0"/>
                <a:ea typeface="Outfit" pitchFamily="34" charset="-122"/>
                <a:cs typeface="Outfit" pitchFamily="34" charset="-120"/>
              </a:rPr>
              <a:t>[The result they want] from </a:t>
            </a:r>
            <a:pPr indent="0" marL="0">
              <a:buNone/>
            </a:pPr>
            <a:r>
              <a:rPr lang="en-US" sz="4000" b="1" i="1" dirty="0">
                <a:solidFill>
                  <a:srgbClr val="B79CF5"/>
                </a:solidFill>
                <a:latin typeface="Instrument Serif" pitchFamily="34" charset="0"/>
                <a:ea typeface="Instrument Serif" pitchFamily="34" charset="-122"/>
                <a:cs typeface="Instrument Serif" pitchFamily="34" charset="-120"/>
              </a:rPr>
              <a:t>one 60-minute [audit / reading],</a:t>
            </a:r>
            <a:pPr indent="0" marL="0">
              <a:buNone/>
            </a:pPr>
            <a:r>
              <a:rPr lang="en-US" sz="4000" b="1" dirty="0">
                <a:solidFill>
                  <a:srgbClr val="F1EEFB"/>
                </a:solidFill>
                <a:latin typeface="Outfit" pitchFamily="34" charset="0"/>
                <a:ea typeface="Outfit" pitchFamily="34" charset="-122"/>
                <a:cs typeface="Outfit" pitchFamily="34" charset="-120"/>
              </a:rPr>
              <a:t> without [the thing they hate doing]</a:t>
            </a:r>
            <a:endParaRPr lang="en-US" sz="4000" dirty="0"/>
          </a:p>
        </p:txBody>
      </p:sp>
      <p:sp>
        <p:nvSpPr>
          <p:cNvPr id="7" name="Text 3"/>
          <p:cNvSpPr txBox="1"/>
          <p:nvPr/>
        </p:nvSpPr>
        <p:spPr>
          <a:xfrm>
            <a:off x="548640" y="4297680"/>
            <a:ext cx="5212080" cy="1097280"/>
          </a:xfrm>
          <a:prstGeom prst="rect">
            <a:avLst/>
          </a:prstGeom>
          <a:noFill/>
          <a:ln/>
        </p:spPr>
        <p:txBody>
          <a:bodyPr wrap="square" lIns="0" tIns="0" rIns="0" bIns="0" rtlCol="0" anchor="t">
            <a:normAutofit/>
          </a:bodyPr>
          <a:lstStyle/>
          <a:p>
            <a:pPr indent="0" marL="0">
              <a:buNone/>
            </a:pPr>
            <a:r>
              <a:rPr lang="en-US" sz="1500" dirty="0">
                <a:solidFill>
                  <a:srgbClr val="C9C3DD"/>
                </a:solidFill>
                <a:latin typeface="Outfit" pitchFamily="34" charset="0"/>
                <a:ea typeface="Outfit" pitchFamily="34" charset="-122"/>
                <a:cs typeface="Outfit" pitchFamily="34" charset="-120"/>
              </a:rPr>
              <a:t>[One sentence: what they will know how to do by the end of this video, and what it fits with in their life. Example: "You learn how to [outcome], in a way that fits [their energy / their schedule / their gifts], so [bigger result] without [the cost they fear]."]</a:t>
            </a:r>
            <a:endParaRPr lang="en-US" sz="1500" dirty="0"/>
          </a:p>
        </p:txBody>
      </p:sp>
      <p:sp>
        <p:nvSpPr>
          <p:cNvPr id="8" name="Shape 4"/>
          <p:cNvSpPr/>
          <p:nvPr/>
        </p:nvSpPr>
        <p:spPr>
          <a:xfrm>
            <a:off x="548640" y="5486400"/>
            <a:ext cx="5394960" cy="594360"/>
          </a:xfrm>
          <a:prstGeom prst="roundRect">
            <a:avLst>
              <a:gd name="adj" fmla="val 27692"/>
            </a:avLst>
          </a:prstGeom>
          <a:solidFill>
            <a:srgbClr val="7C5CF0"/>
          </a:solidFill>
          <a:ln w="9525">
            <a:solidFill>
              <a:srgbClr val="2A2540"/>
            </a:solidFill>
            <a:prstDash val="solid"/>
          </a:ln>
        </p:spPr>
      </p:sp>
      <p:sp>
        <p:nvSpPr>
          <p:cNvPr id="9" name="Text 5"/>
          <p:cNvSpPr txBox="1"/>
          <p:nvPr/>
        </p:nvSpPr>
        <p:spPr>
          <a:xfrm>
            <a:off x="548640" y="5486400"/>
            <a:ext cx="5394960" cy="594360"/>
          </a:xfrm>
          <a:prstGeom prst="rect">
            <a:avLst/>
          </a:prstGeom>
          <a:noFill/>
          <a:ln/>
        </p:spPr>
        <p:txBody>
          <a:bodyPr wrap="square" lIns="0" tIns="0" rIns="0" bIns="0" rtlCol="0" anchor="ctr"/>
          <a:lstStyle/>
          <a:p>
            <a:pPr algn="ctr" indent="0" marL="0">
              <a:buNone/>
            </a:pPr>
            <a:r>
              <a:rPr lang="en-US" sz="1000" spc="100" kern="0" dirty="0">
                <a:solidFill>
                  <a:srgbClr val="FFFFFF"/>
                </a:solidFill>
                <a:latin typeface="DM Mono" pitchFamily="34" charset="0"/>
                <a:ea typeface="DM Mono" pitchFamily="34" charset="-122"/>
                <a:cs typeface="DM Mono" pitchFamily="34" charset="-120"/>
              </a:rPr>
              <a:t>[THREE WORDS]  ·  [THREE WORDS]  ·  [THREE WORDS]</a:t>
            </a:r>
            <a:endParaRPr lang="en-US" sz="1000" dirty="0"/>
          </a:p>
        </p:txBody>
      </p:sp>
      <p:sp>
        <p:nvSpPr>
          <p:cNvPr id="10" name="Text 6"/>
          <p:cNvSpPr txBox="1"/>
          <p:nvPr/>
        </p:nvSpPr>
        <p:spPr>
          <a:xfrm>
            <a:off x="548640" y="6172200"/>
            <a:ext cx="5394960" cy="274320"/>
          </a:xfrm>
          <a:prstGeom prst="rect">
            <a:avLst/>
          </a:prstGeom>
          <a:noFill/>
          <a:ln/>
        </p:spPr>
        <p:txBody>
          <a:bodyPr wrap="square" lIns="0" tIns="0" rIns="0" bIns="0" rtlCol="0" anchor="ctr"/>
          <a:lstStyle/>
          <a:p>
            <a:pPr indent="0" marL="0">
              <a:buNone/>
            </a:pPr>
            <a:r>
              <a:rPr lang="en-US" sz="950" dirty="0">
                <a:solidFill>
                  <a:srgbClr val="8B85A3"/>
                </a:solidFill>
                <a:latin typeface="DM Mono" pitchFamily="34" charset="0"/>
                <a:ea typeface="DM Mono" pitchFamily="34" charset="-122"/>
                <a:cs typeface="DM Mono" pitchFamily="34" charset="-120"/>
              </a:rPr>
              <a:t>with [Your Name]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AUDIENCE AND OUTCOME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Who this is for</a:t>
            </a:r>
            <a:endParaRPr lang="en-US" sz="3000" dirty="0"/>
          </a:p>
        </p:txBody>
      </p:sp>
      <p:sp>
        <p:nvSpPr>
          <p:cNvPr id="5" name="Shape 2"/>
          <p:cNvSpPr/>
          <p:nvPr/>
        </p:nvSpPr>
        <p:spPr>
          <a:xfrm>
            <a:off x="548640" y="1783080"/>
            <a:ext cx="3563112" cy="1874520"/>
          </a:xfrm>
          <a:prstGeom prst="roundRect">
            <a:avLst>
              <a:gd name="adj" fmla="val 8780"/>
            </a:avLst>
          </a:prstGeom>
          <a:solidFill>
            <a:srgbClr val="15121F"/>
          </a:solidFill>
          <a:ln w="9525">
            <a:solidFill>
              <a:srgbClr val="2A2540"/>
            </a:solidFill>
            <a:prstDash val="solid"/>
          </a:ln>
        </p:spPr>
      </p:sp>
      <p:sp>
        <p:nvSpPr>
          <p:cNvPr id="6" name="Text 3"/>
          <p:cNvSpPr txBox="1"/>
          <p:nvPr/>
        </p:nvSpPr>
        <p:spPr>
          <a:xfrm>
            <a:off x="77724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777240" y="23500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[Type of person 1]</a:t>
            </a:r>
            <a:endParaRPr lang="en-US" sz="1500" dirty="0"/>
          </a:p>
        </p:txBody>
      </p:sp>
      <p:sp>
        <p:nvSpPr>
          <p:cNvPr id="8" name="Text 5"/>
          <p:cNvSpPr txBox="1"/>
          <p:nvPr/>
        </p:nvSpPr>
        <p:spPr>
          <a:xfrm>
            <a:off x="777240" y="283464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[Where they are and what they want. One line.]</a:t>
            </a:r>
            <a:endParaRPr lang="en-US" sz="1300" dirty="0"/>
          </a:p>
        </p:txBody>
      </p:sp>
      <p:sp>
        <p:nvSpPr>
          <p:cNvPr id="9" name="Shape 6"/>
          <p:cNvSpPr/>
          <p:nvPr/>
        </p:nvSpPr>
        <p:spPr>
          <a:xfrm>
            <a:off x="4312920" y="1783080"/>
            <a:ext cx="3563112" cy="1874520"/>
          </a:xfrm>
          <a:prstGeom prst="roundRect">
            <a:avLst>
              <a:gd name="adj" fmla="val 8780"/>
            </a:avLst>
          </a:prstGeom>
          <a:solidFill>
            <a:srgbClr val="15121F"/>
          </a:solidFill>
          <a:ln w="9525">
            <a:solidFill>
              <a:srgbClr val="2A2540"/>
            </a:solidFill>
            <a:prstDash val="solid"/>
          </a:ln>
        </p:spPr>
      </p:sp>
      <p:sp>
        <p:nvSpPr>
          <p:cNvPr id="10" name="Text 7"/>
          <p:cNvSpPr txBox="1"/>
          <p:nvPr/>
        </p:nvSpPr>
        <p:spPr>
          <a:xfrm>
            <a:off x="454152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4541520" y="23500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[Type of person 2]</a:t>
            </a:r>
            <a:endParaRPr lang="en-US" sz="1500" dirty="0"/>
          </a:p>
        </p:txBody>
      </p:sp>
      <p:sp>
        <p:nvSpPr>
          <p:cNvPr id="12" name="Text 9"/>
          <p:cNvSpPr txBox="1"/>
          <p:nvPr/>
        </p:nvSpPr>
        <p:spPr>
          <a:xfrm>
            <a:off x="4541520" y="283464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[Where they are and what they want.]</a:t>
            </a:r>
            <a:endParaRPr lang="en-US" sz="1300" dirty="0"/>
          </a:p>
        </p:txBody>
      </p:sp>
      <p:sp>
        <p:nvSpPr>
          <p:cNvPr id="13" name="Shape 10"/>
          <p:cNvSpPr/>
          <p:nvPr/>
        </p:nvSpPr>
        <p:spPr>
          <a:xfrm>
            <a:off x="8077200" y="1783080"/>
            <a:ext cx="3563112" cy="1874520"/>
          </a:xfrm>
          <a:prstGeom prst="roundRect">
            <a:avLst>
              <a:gd name="adj" fmla="val 8780"/>
            </a:avLst>
          </a:prstGeom>
          <a:solidFill>
            <a:srgbClr val="15121F"/>
          </a:solidFill>
          <a:ln w="9525">
            <a:solidFill>
              <a:srgbClr val="2A2540"/>
            </a:solidFill>
            <a:prstDash val="solid"/>
          </a:ln>
        </p:spPr>
      </p:sp>
      <p:sp>
        <p:nvSpPr>
          <p:cNvPr id="14" name="Text 11"/>
          <p:cNvSpPr txBox="1"/>
          <p:nvPr/>
        </p:nvSpPr>
        <p:spPr>
          <a:xfrm>
            <a:off x="830580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8305800" y="23500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[Type of person 3]</a:t>
            </a:r>
            <a:endParaRPr lang="en-US" sz="1500" dirty="0"/>
          </a:p>
        </p:txBody>
      </p:sp>
      <p:sp>
        <p:nvSpPr>
          <p:cNvPr id="16" name="Text 13"/>
          <p:cNvSpPr txBox="1"/>
          <p:nvPr/>
        </p:nvSpPr>
        <p:spPr>
          <a:xfrm>
            <a:off x="8305800" y="283464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[Where they are and what they want.]</a:t>
            </a:r>
            <a:endParaRPr lang="en-US" sz="1300" dirty="0"/>
          </a:p>
        </p:txBody>
      </p:sp>
      <p:sp>
        <p:nvSpPr>
          <p:cNvPr id="17" name="Shape 14"/>
          <p:cNvSpPr/>
          <p:nvPr/>
        </p:nvSpPr>
        <p:spPr>
          <a:xfrm>
            <a:off x="548640" y="3858768"/>
            <a:ext cx="3563112" cy="1874520"/>
          </a:xfrm>
          <a:prstGeom prst="roundRect">
            <a:avLst>
              <a:gd name="adj" fmla="val 8780"/>
            </a:avLst>
          </a:prstGeom>
          <a:solidFill>
            <a:srgbClr val="15121F"/>
          </a:solidFill>
          <a:ln w="9525">
            <a:solidFill>
              <a:srgbClr val="2A2540"/>
            </a:solidFill>
            <a:prstDash val="solid"/>
          </a:ln>
        </p:spPr>
      </p:sp>
      <p:sp>
        <p:nvSpPr>
          <p:cNvPr id="18" name="Text 15"/>
          <p:cNvSpPr txBox="1"/>
          <p:nvPr/>
        </p:nvSpPr>
        <p:spPr>
          <a:xfrm>
            <a:off x="777240" y="40233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777240" y="4425696"/>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[Type of person 4]</a:t>
            </a:r>
            <a:endParaRPr lang="en-US" sz="1500" dirty="0"/>
          </a:p>
        </p:txBody>
      </p:sp>
      <p:sp>
        <p:nvSpPr>
          <p:cNvPr id="20" name="Text 17"/>
          <p:cNvSpPr txBox="1"/>
          <p:nvPr/>
        </p:nvSpPr>
        <p:spPr>
          <a:xfrm>
            <a:off x="777240" y="4910328"/>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[Where they are and what they want.]</a:t>
            </a:r>
            <a:endParaRPr lang="en-US" sz="1300" dirty="0"/>
          </a:p>
        </p:txBody>
      </p:sp>
      <p:sp>
        <p:nvSpPr>
          <p:cNvPr id="21" name="Shape 18"/>
          <p:cNvSpPr/>
          <p:nvPr/>
        </p:nvSpPr>
        <p:spPr>
          <a:xfrm>
            <a:off x="4312920" y="3858768"/>
            <a:ext cx="3563112" cy="1874520"/>
          </a:xfrm>
          <a:prstGeom prst="roundRect">
            <a:avLst>
              <a:gd name="adj" fmla="val 8780"/>
            </a:avLst>
          </a:prstGeom>
          <a:solidFill>
            <a:srgbClr val="15121F"/>
          </a:solidFill>
          <a:ln w="9525">
            <a:solidFill>
              <a:srgbClr val="2A2540"/>
            </a:solidFill>
            <a:prstDash val="solid"/>
          </a:ln>
        </p:spPr>
      </p:sp>
      <p:sp>
        <p:nvSpPr>
          <p:cNvPr id="22" name="Text 19"/>
          <p:cNvSpPr txBox="1"/>
          <p:nvPr/>
        </p:nvSpPr>
        <p:spPr>
          <a:xfrm>
            <a:off x="4541520" y="40233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05</a:t>
            </a:r>
            <a:endParaRPr lang="en-US" sz="2200" dirty="0"/>
          </a:p>
        </p:txBody>
      </p:sp>
      <p:sp>
        <p:nvSpPr>
          <p:cNvPr id="23" name="Text 20"/>
          <p:cNvSpPr txBox="1"/>
          <p:nvPr/>
        </p:nvSpPr>
        <p:spPr>
          <a:xfrm>
            <a:off x="4541520" y="4425696"/>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[Type of person 5]</a:t>
            </a:r>
            <a:endParaRPr lang="en-US" sz="1500" dirty="0"/>
          </a:p>
        </p:txBody>
      </p:sp>
      <p:sp>
        <p:nvSpPr>
          <p:cNvPr id="24" name="Text 21"/>
          <p:cNvSpPr txBox="1"/>
          <p:nvPr/>
        </p:nvSpPr>
        <p:spPr>
          <a:xfrm>
            <a:off x="4541520" y="4910328"/>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[Where they are and what they want.]</a:t>
            </a:r>
            <a:endParaRPr lang="en-US" sz="1300" dirty="0"/>
          </a:p>
        </p:txBody>
      </p:sp>
      <p:sp>
        <p:nvSpPr>
          <p:cNvPr id="25" name="Shape 22"/>
          <p:cNvSpPr/>
          <p:nvPr/>
        </p:nvSpPr>
        <p:spPr>
          <a:xfrm>
            <a:off x="8077200" y="3858768"/>
            <a:ext cx="3563112" cy="1874520"/>
          </a:xfrm>
          <a:prstGeom prst="roundRect">
            <a:avLst>
              <a:gd name="adj" fmla="val 8780"/>
            </a:avLst>
          </a:prstGeom>
          <a:solidFill>
            <a:srgbClr val="15121F"/>
          </a:solidFill>
          <a:ln w="9525">
            <a:solidFill>
              <a:srgbClr val="2A2540"/>
            </a:solidFill>
            <a:prstDash val="solid"/>
          </a:ln>
        </p:spPr>
      </p:sp>
      <p:sp>
        <p:nvSpPr>
          <p:cNvPr id="26" name="Text 23"/>
          <p:cNvSpPr txBox="1"/>
          <p:nvPr/>
        </p:nvSpPr>
        <p:spPr>
          <a:xfrm>
            <a:off x="8305800" y="40233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06</a:t>
            </a:r>
            <a:endParaRPr lang="en-US" sz="2200" dirty="0"/>
          </a:p>
        </p:txBody>
      </p:sp>
      <p:sp>
        <p:nvSpPr>
          <p:cNvPr id="27" name="Text 24"/>
          <p:cNvSpPr txBox="1"/>
          <p:nvPr/>
        </p:nvSpPr>
        <p:spPr>
          <a:xfrm>
            <a:off x="8305800" y="4425696"/>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One rule for everyone</a:t>
            </a:r>
            <a:endParaRPr lang="en-US" sz="1500" dirty="0"/>
          </a:p>
        </p:txBody>
      </p:sp>
      <p:sp>
        <p:nvSpPr>
          <p:cNvPr id="28" name="Text 25"/>
          <p:cNvSpPr txBox="1"/>
          <p:nvPr/>
        </p:nvSpPr>
        <p:spPr>
          <a:xfrm>
            <a:off x="8305800" y="4910328"/>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one thing that is true of every person this is for.]</a:t>
            </a:r>
            <a:endParaRPr lang="en-US" sz="1300" dirty="0"/>
          </a:p>
        </p:txBody>
      </p:sp>
      <p:sp>
        <p:nvSpPr>
          <p:cNvPr id="29" name="Text 26"/>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30" name="Text 2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AUDIENCE AND OUTCOME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Where you might be right now</a:t>
            </a:r>
            <a:endParaRPr lang="en-US" sz="3000" dirty="0"/>
          </a:p>
        </p:txBody>
      </p:sp>
      <p:sp>
        <p:nvSpPr>
          <p:cNvPr id="5" name="Shape 2"/>
          <p:cNvSpPr/>
          <p:nvPr/>
        </p:nvSpPr>
        <p:spPr>
          <a:xfrm>
            <a:off x="548640" y="1783080"/>
            <a:ext cx="11091672" cy="656539"/>
          </a:xfrm>
          <a:prstGeom prst="roundRect">
            <a:avLst>
              <a:gd name="adj" fmla="val 25070"/>
            </a:avLst>
          </a:prstGeom>
          <a:solidFill>
            <a:srgbClr val="15121F"/>
          </a:solidFill>
          <a:ln w="9525">
            <a:solidFill>
              <a:srgbClr val="2A2540"/>
            </a:solidFill>
            <a:prstDash val="solid"/>
          </a:ln>
        </p:spPr>
      </p:sp>
      <p:sp>
        <p:nvSpPr>
          <p:cNvPr id="6" name="Text 3"/>
          <p:cNvSpPr txBox="1"/>
          <p:nvPr/>
        </p:nvSpPr>
        <p:spPr>
          <a:xfrm>
            <a:off x="822960" y="188275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1645920" y="1892808"/>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[Situation 1, three words]</a:t>
            </a:r>
            <a:endParaRPr lang="en-US" sz="1500" dirty="0"/>
          </a:p>
        </p:txBody>
      </p:sp>
      <p:sp>
        <p:nvSpPr>
          <p:cNvPr id="8" name="Text 5"/>
          <p:cNvSpPr txBox="1"/>
          <p:nvPr/>
        </p:nvSpPr>
        <p:spPr>
          <a:xfrm>
            <a:off x="5029200" y="1892808"/>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it looks like day to day, in their words.]</a:t>
            </a:r>
            <a:endParaRPr lang="en-US" sz="1350" dirty="0"/>
          </a:p>
        </p:txBody>
      </p:sp>
      <p:sp>
        <p:nvSpPr>
          <p:cNvPr id="9" name="Shape 6"/>
          <p:cNvSpPr/>
          <p:nvPr/>
        </p:nvSpPr>
        <p:spPr>
          <a:xfrm>
            <a:off x="548640" y="2567635"/>
            <a:ext cx="11091672" cy="656539"/>
          </a:xfrm>
          <a:prstGeom prst="roundRect">
            <a:avLst>
              <a:gd name="adj" fmla="val 25070"/>
            </a:avLst>
          </a:prstGeom>
          <a:solidFill>
            <a:srgbClr val="15121F"/>
          </a:solidFill>
          <a:ln w="9525">
            <a:solidFill>
              <a:srgbClr val="2A2540"/>
            </a:solidFill>
            <a:prstDash val="solid"/>
          </a:ln>
        </p:spPr>
      </p:sp>
      <p:sp>
        <p:nvSpPr>
          <p:cNvPr id="10" name="Text 7"/>
          <p:cNvSpPr txBox="1"/>
          <p:nvPr/>
        </p:nvSpPr>
        <p:spPr>
          <a:xfrm>
            <a:off x="822960" y="2667305"/>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1645920" y="2677363"/>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[Situation 2]</a:t>
            </a:r>
            <a:endParaRPr lang="en-US" sz="1500" dirty="0"/>
          </a:p>
        </p:txBody>
      </p:sp>
      <p:sp>
        <p:nvSpPr>
          <p:cNvPr id="12" name="Text 9"/>
          <p:cNvSpPr txBox="1"/>
          <p:nvPr/>
        </p:nvSpPr>
        <p:spPr>
          <a:xfrm>
            <a:off x="5029200" y="2677363"/>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it looks like day to day.]</a:t>
            </a:r>
            <a:endParaRPr lang="en-US" sz="1350" dirty="0"/>
          </a:p>
        </p:txBody>
      </p:sp>
      <p:sp>
        <p:nvSpPr>
          <p:cNvPr id="13" name="Shape 10"/>
          <p:cNvSpPr/>
          <p:nvPr/>
        </p:nvSpPr>
        <p:spPr>
          <a:xfrm>
            <a:off x="548640" y="3352190"/>
            <a:ext cx="11091672" cy="656539"/>
          </a:xfrm>
          <a:prstGeom prst="roundRect">
            <a:avLst>
              <a:gd name="adj" fmla="val 25070"/>
            </a:avLst>
          </a:prstGeom>
          <a:solidFill>
            <a:srgbClr val="15121F"/>
          </a:solidFill>
          <a:ln w="9525">
            <a:solidFill>
              <a:srgbClr val="2A2540"/>
            </a:solidFill>
            <a:prstDash val="solid"/>
          </a:ln>
        </p:spPr>
      </p:sp>
      <p:sp>
        <p:nvSpPr>
          <p:cNvPr id="14" name="Text 11"/>
          <p:cNvSpPr txBox="1"/>
          <p:nvPr/>
        </p:nvSpPr>
        <p:spPr>
          <a:xfrm>
            <a:off x="822960" y="34518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1645920" y="3461918"/>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[Situation 3]</a:t>
            </a:r>
            <a:endParaRPr lang="en-US" sz="1500" dirty="0"/>
          </a:p>
        </p:txBody>
      </p:sp>
      <p:sp>
        <p:nvSpPr>
          <p:cNvPr id="16" name="Text 13"/>
          <p:cNvSpPr txBox="1"/>
          <p:nvPr/>
        </p:nvSpPr>
        <p:spPr>
          <a:xfrm>
            <a:off x="5029200" y="3461918"/>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it looks like day to day.]</a:t>
            </a:r>
            <a:endParaRPr lang="en-US" sz="1350" dirty="0"/>
          </a:p>
        </p:txBody>
      </p:sp>
      <p:sp>
        <p:nvSpPr>
          <p:cNvPr id="17" name="Shape 14"/>
          <p:cNvSpPr/>
          <p:nvPr/>
        </p:nvSpPr>
        <p:spPr>
          <a:xfrm>
            <a:off x="548640" y="4136746"/>
            <a:ext cx="11091672" cy="656539"/>
          </a:xfrm>
          <a:prstGeom prst="roundRect">
            <a:avLst>
              <a:gd name="adj" fmla="val 25070"/>
            </a:avLst>
          </a:prstGeom>
          <a:solidFill>
            <a:srgbClr val="15121F"/>
          </a:solidFill>
          <a:ln w="9525">
            <a:solidFill>
              <a:srgbClr val="2A2540"/>
            </a:solidFill>
            <a:prstDash val="solid"/>
          </a:ln>
        </p:spPr>
      </p:sp>
      <p:sp>
        <p:nvSpPr>
          <p:cNvPr id="18" name="Text 15"/>
          <p:cNvSpPr txBox="1"/>
          <p:nvPr/>
        </p:nvSpPr>
        <p:spPr>
          <a:xfrm>
            <a:off x="822960" y="4236415"/>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1645920" y="4246474"/>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[Situation 4]</a:t>
            </a:r>
            <a:endParaRPr lang="en-US" sz="1500" dirty="0"/>
          </a:p>
        </p:txBody>
      </p:sp>
      <p:sp>
        <p:nvSpPr>
          <p:cNvPr id="20" name="Text 17"/>
          <p:cNvSpPr txBox="1"/>
          <p:nvPr/>
        </p:nvSpPr>
        <p:spPr>
          <a:xfrm>
            <a:off x="5029200" y="4246474"/>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it looks like day to day.]</a:t>
            </a:r>
            <a:endParaRPr lang="en-US" sz="1350" dirty="0"/>
          </a:p>
        </p:txBody>
      </p:sp>
      <p:sp>
        <p:nvSpPr>
          <p:cNvPr id="21" name="Shape 18"/>
          <p:cNvSpPr/>
          <p:nvPr/>
        </p:nvSpPr>
        <p:spPr>
          <a:xfrm>
            <a:off x="548640" y="4921301"/>
            <a:ext cx="11091672" cy="656539"/>
          </a:xfrm>
          <a:prstGeom prst="roundRect">
            <a:avLst>
              <a:gd name="adj" fmla="val 25070"/>
            </a:avLst>
          </a:prstGeom>
          <a:solidFill>
            <a:srgbClr val="15121F"/>
          </a:solidFill>
          <a:ln w="9525">
            <a:solidFill>
              <a:srgbClr val="2A2540"/>
            </a:solidFill>
            <a:prstDash val="solid"/>
          </a:ln>
        </p:spPr>
      </p:sp>
      <p:sp>
        <p:nvSpPr>
          <p:cNvPr id="22" name="Text 19"/>
          <p:cNvSpPr txBox="1"/>
          <p:nvPr/>
        </p:nvSpPr>
        <p:spPr>
          <a:xfrm>
            <a:off x="822960" y="502097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05</a:t>
            </a:r>
            <a:endParaRPr lang="en-US" sz="2200" dirty="0"/>
          </a:p>
        </p:txBody>
      </p:sp>
      <p:sp>
        <p:nvSpPr>
          <p:cNvPr id="23" name="Text 20"/>
          <p:cNvSpPr txBox="1"/>
          <p:nvPr/>
        </p:nvSpPr>
        <p:spPr>
          <a:xfrm>
            <a:off x="1645920" y="5031029"/>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[Situation 5]</a:t>
            </a:r>
            <a:endParaRPr lang="en-US" sz="1500" dirty="0"/>
          </a:p>
        </p:txBody>
      </p:sp>
      <p:sp>
        <p:nvSpPr>
          <p:cNvPr id="24" name="Text 21"/>
          <p:cNvSpPr txBox="1"/>
          <p:nvPr/>
        </p:nvSpPr>
        <p:spPr>
          <a:xfrm>
            <a:off x="5029200" y="5031029"/>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it looks like day to day.]</a:t>
            </a:r>
            <a:endParaRPr lang="en-US" sz="1350" dirty="0"/>
          </a:p>
        </p:txBody>
      </p:sp>
      <p:sp>
        <p:nvSpPr>
          <p:cNvPr id="25" name="Shape 22"/>
          <p:cNvSpPr/>
          <p:nvPr/>
        </p:nvSpPr>
        <p:spPr>
          <a:xfrm>
            <a:off x="548640" y="5715000"/>
            <a:ext cx="11091672" cy="566928"/>
          </a:xfrm>
          <a:prstGeom prst="roundRect">
            <a:avLst>
              <a:gd name="adj" fmla="val 29032"/>
            </a:avLst>
          </a:prstGeom>
          <a:solidFill>
            <a:srgbClr val="1C1829"/>
          </a:solidFill>
          <a:ln w="9525">
            <a:solidFill>
              <a:srgbClr val="2A2540"/>
            </a:solidFill>
            <a:prstDash val="solid"/>
          </a:ln>
        </p:spPr>
      </p:sp>
      <p:sp>
        <p:nvSpPr>
          <p:cNvPr id="26" name="Text 23"/>
          <p:cNvSpPr txBox="1"/>
          <p:nvPr/>
        </p:nvSpPr>
        <p:spPr>
          <a:xfrm>
            <a:off x="777240" y="5715000"/>
            <a:ext cx="10607040" cy="566928"/>
          </a:xfrm>
          <a:prstGeom prst="rect">
            <a:avLst/>
          </a:prstGeom>
          <a:noFill/>
          <a:ln/>
        </p:spPr>
        <p:txBody>
          <a:bodyPr wrap="square" lIns="0" tIns="0" rIns="0" bIns="0" rtlCol="0" anchor="ctr"/>
          <a:lstStyle/>
          <a:p>
            <a:pPr indent="0" marL="0">
              <a:buNone/>
            </a:pPr>
            <a:r>
              <a:rPr lang="en-US" sz="1400" dirty="0">
                <a:solidFill>
                  <a:srgbClr val="E8C878"/>
                </a:solidFill>
                <a:latin typeface="Outfit" pitchFamily="34" charset="0"/>
                <a:ea typeface="Outfit" pitchFamily="34" charset="-122"/>
                <a:cs typeface="Outfit" pitchFamily="34" charset="-120"/>
              </a:rPr>
              <a:t>✦  </a:t>
            </a:r>
            <a:pPr indent="0" marL="0">
              <a:buNone/>
            </a:pPr>
            <a:r>
              <a:rPr lang="en-US" sz="1400" dirty="0">
                <a:solidFill>
                  <a:srgbClr val="F1EEFB"/>
                </a:solidFill>
                <a:latin typeface="Outfit" pitchFamily="34" charset="0"/>
                <a:ea typeface="Outfit" pitchFamily="34" charset="-122"/>
                <a:cs typeface="Outfit" pitchFamily="34" charset="-120"/>
              </a:rPr>
              <a:t>Which one feels most like you right now? Comment the number below.</a:t>
            </a:r>
            <a:endParaRPr lang="en-US" sz="1400" dirty="0"/>
          </a:p>
        </p:txBody>
      </p:sp>
      <p:sp>
        <p:nvSpPr>
          <p:cNvPr id="27" name="Text 24"/>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8" name="Text 2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YOUR GUIDE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Who I am</a:t>
            </a:r>
            <a:endParaRPr lang="en-US" sz="3000" dirty="0"/>
          </a:p>
        </p:txBody>
      </p:sp>
      <p:pic>
        <p:nvPicPr>
          <p:cNvPr id="5" name="Image 0" descr="face.jpg">    </p:cNvPr>
          <p:cNvPicPr>
            <a:picLocks noChangeAspect="1"/>
          </p:cNvPicPr>
          <p:nvPr/>
        </p:nvPicPr>
        <p:blipFill>
          <a:blip r:embed="rId2"/>
          <a:stretch>
            <a:fillRect/>
          </a:stretch>
        </p:blipFill>
        <p:spPr>
          <a:xfrm>
            <a:off x="822960" y="1783080"/>
            <a:ext cx="2286000" cy="2286000"/>
          </a:xfrm>
          <a:prstGeom prst="ellipse">
            <a:avLst/>
          </a:prstGeom>
        </p:spPr>
      </p:pic>
      <p:sp>
        <p:nvSpPr>
          <p:cNvPr id="6" name="Text 2"/>
          <p:cNvSpPr txBox="1"/>
          <p:nvPr/>
        </p:nvSpPr>
        <p:spPr>
          <a:xfrm>
            <a:off x="548640" y="4251960"/>
            <a:ext cx="3108960" cy="2103120"/>
          </a:xfrm>
          <a:prstGeom prst="rect">
            <a:avLst/>
          </a:prstGeom>
          <a:noFill/>
          <a:ln/>
        </p:spPr>
        <p:txBody>
          <a:bodyPr wrap="square" lIns="0" tIns="0" rIns="0" bIns="0" rtlCol="0" anchor="t">
            <a:normAutofit/>
          </a:bodyPr>
          <a:lstStyle/>
          <a:p>
            <a:pPr indent="0" marL="0">
              <a:buNone/>
            </a:pPr>
            <a:r>
              <a:rPr lang="en-US" sz="1150" dirty="0">
                <a:solidFill>
                  <a:srgbClr val="C9C3DD"/>
                </a:solidFill>
                <a:latin typeface="Outfit" pitchFamily="34" charset="0"/>
                <a:ea typeface="Outfit" pitchFamily="34" charset="-122"/>
                <a:cs typeface="Outfit" pitchFamily="34" charset="-120"/>
              </a:rPr>
              <a:t>[Your name]. [Your background in one line.] [Your gift or training in one line.] [Where you are now and how you work, one line.] [The thing that makes you understand this person from the inside.]</a:t>
            </a:r>
            <a:endParaRPr lang="en-US" sz="1150" dirty="0"/>
          </a:p>
        </p:txBody>
      </p:sp>
      <p:sp>
        <p:nvSpPr>
          <p:cNvPr id="7" name="Shape 3"/>
          <p:cNvSpPr/>
          <p:nvPr/>
        </p:nvSpPr>
        <p:spPr>
          <a:xfrm>
            <a:off x="3931920" y="1783080"/>
            <a:ext cx="3749040" cy="1920240"/>
          </a:xfrm>
          <a:prstGeom prst="roundRect">
            <a:avLst>
              <a:gd name="adj" fmla="val 8571"/>
            </a:avLst>
          </a:prstGeom>
          <a:solidFill>
            <a:srgbClr val="15121F"/>
          </a:solidFill>
          <a:ln w="9525">
            <a:solidFill>
              <a:srgbClr val="2A2540"/>
            </a:solidFill>
            <a:prstDash val="solid"/>
          </a:ln>
        </p:spPr>
      </p:sp>
      <p:sp>
        <p:nvSpPr>
          <p:cNvPr id="8" name="Text 4"/>
          <p:cNvSpPr txBox="1"/>
          <p:nvPr/>
        </p:nvSpPr>
        <p:spPr>
          <a:xfrm>
            <a:off x="4206240" y="2011680"/>
            <a:ext cx="3200400" cy="914400"/>
          </a:xfrm>
          <a:prstGeom prst="rect">
            <a:avLst/>
          </a:prstGeom>
          <a:noFill/>
          <a:ln/>
        </p:spPr>
        <p:txBody>
          <a:bodyPr wrap="square" lIns="0" tIns="0" rIns="0" bIns="0" rtlCol="0" anchor="ctr">
            <a:normAutofit/>
          </a:bodyPr>
          <a:lstStyle/>
          <a:p>
            <a:pPr indent="0" marL="0">
              <a:buNone/>
            </a:pPr>
            <a:r>
              <a:rPr lang="en-US" sz="4000" b="1" dirty="0">
                <a:solidFill>
                  <a:srgbClr val="B79CF5"/>
                </a:solidFill>
                <a:latin typeface="Outfit" pitchFamily="34" charset="0"/>
                <a:ea typeface="Outfit" pitchFamily="34" charset="-122"/>
                <a:cs typeface="Outfit" pitchFamily="34" charset="-120"/>
              </a:rPr>
              <a:t>[Number]</a:t>
            </a:r>
            <a:endParaRPr lang="en-US" sz="4000" dirty="0"/>
          </a:p>
        </p:txBody>
      </p:sp>
      <p:sp>
        <p:nvSpPr>
          <p:cNvPr id="9" name="Text 5"/>
          <p:cNvSpPr txBox="1"/>
          <p:nvPr/>
        </p:nvSpPr>
        <p:spPr>
          <a:xfrm>
            <a:off x="4206240" y="2971800"/>
            <a:ext cx="3200400" cy="548640"/>
          </a:xfrm>
          <a:prstGeom prst="rect">
            <a:avLst/>
          </a:prstGeom>
          <a:noFill/>
          <a:ln/>
        </p:spPr>
        <p:txBody>
          <a:bodyPr wrap="square" lIns="0" tIns="0" rIns="0" bIns="0" rtlCol="0" anchor="t">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it counts, e.g. readings given, clients helped]</a:t>
            </a:r>
            <a:endParaRPr lang="en-US" sz="1350" dirty="0"/>
          </a:p>
        </p:txBody>
      </p:sp>
      <p:sp>
        <p:nvSpPr>
          <p:cNvPr id="10" name="Shape 6"/>
          <p:cNvSpPr/>
          <p:nvPr/>
        </p:nvSpPr>
        <p:spPr>
          <a:xfrm>
            <a:off x="7863840" y="1783080"/>
            <a:ext cx="3749040" cy="1920240"/>
          </a:xfrm>
          <a:prstGeom prst="roundRect">
            <a:avLst>
              <a:gd name="adj" fmla="val 8571"/>
            </a:avLst>
          </a:prstGeom>
          <a:solidFill>
            <a:srgbClr val="15121F"/>
          </a:solidFill>
          <a:ln w="9525">
            <a:solidFill>
              <a:srgbClr val="2A2540"/>
            </a:solidFill>
            <a:prstDash val="solid"/>
          </a:ln>
        </p:spPr>
      </p:sp>
      <p:sp>
        <p:nvSpPr>
          <p:cNvPr id="11" name="Text 7"/>
          <p:cNvSpPr txBox="1"/>
          <p:nvPr/>
        </p:nvSpPr>
        <p:spPr>
          <a:xfrm>
            <a:off x="8138160" y="2011680"/>
            <a:ext cx="3200400" cy="914400"/>
          </a:xfrm>
          <a:prstGeom prst="rect">
            <a:avLst/>
          </a:prstGeom>
          <a:noFill/>
          <a:ln/>
        </p:spPr>
        <p:txBody>
          <a:bodyPr wrap="square" lIns="0" tIns="0" rIns="0" bIns="0" rtlCol="0" anchor="ctr">
            <a:normAutofit/>
          </a:bodyPr>
          <a:lstStyle/>
          <a:p>
            <a:pPr indent="0" marL="0">
              <a:buNone/>
            </a:pPr>
            <a:r>
              <a:rPr lang="en-US" sz="4000" b="1" dirty="0">
                <a:solidFill>
                  <a:srgbClr val="E8C878"/>
                </a:solidFill>
                <a:latin typeface="Outfit" pitchFamily="34" charset="0"/>
                <a:ea typeface="Outfit" pitchFamily="34" charset="-122"/>
                <a:cs typeface="Outfit" pitchFamily="34" charset="-120"/>
              </a:rPr>
              <a:t>[Number]</a:t>
            </a:r>
            <a:endParaRPr lang="en-US" sz="4000" dirty="0"/>
          </a:p>
        </p:txBody>
      </p:sp>
      <p:sp>
        <p:nvSpPr>
          <p:cNvPr id="12" name="Text 8"/>
          <p:cNvSpPr txBox="1"/>
          <p:nvPr/>
        </p:nvSpPr>
        <p:spPr>
          <a:xfrm>
            <a:off x="8138160" y="2971800"/>
            <a:ext cx="3200400" cy="548640"/>
          </a:xfrm>
          <a:prstGeom prst="rect">
            <a:avLst/>
          </a:prstGeom>
          <a:noFill/>
          <a:ln/>
        </p:spPr>
        <p:txBody>
          <a:bodyPr wrap="square" lIns="0" tIns="0" rIns="0" bIns="0" rtlCol="0" anchor="t">
            <a:normAutofit/>
          </a:bodyPr>
          <a:lstStyle/>
          <a:p>
            <a:pPr indent="0" marL="0">
              <a:buNone/>
            </a:pPr>
            <a:r>
              <a:rPr lang="en-US" sz="1350" dirty="0">
                <a:solidFill>
                  <a:srgbClr val="C9C3DD"/>
                </a:solidFill>
                <a:latin typeface="Outfit" pitchFamily="34" charset="0"/>
                <a:ea typeface="Outfit" pitchFamily="34" charset="-122"/>
                <a:cs typeface="Outfit" pitchFamily="34" charset="-120"/>
              </a:rPr>
              <a:t>[a result, e.g. clients who booked again]</a:t>
            </a:r>
            <a:endParaRPr lang="en-US" sz="1350" dirty="0"/>
          </a:p>
        </p:txBody>
      </p:sp>
      <p:sp>
        <p:nvSpPr>
          <p:cNvPr id="13" name="Shape 9"/>
          <p:cNvSpPr/>
          <p:nvPr/>
        </p:nvSpPr>
        <p:spPr>
          <a:xfrm>
            <a:off x="3931920" y="3886200"/>
            <a:ext cx="3749040" cy="1920240"/>
          </a:xfrm>
          <a:prstGeom prst="roundRect">
            <a:avLst>
              <a:gd name="adj" fmla="val 8571"/>
            </a:avLst>
          </a:prstGeom>
          <a:solidFill>
            <a:srgbClr val="15121F"/>
          </a:solidFill>
          <a:ln w="9525">
            <a:solidFill>
              <a:srgbClr val="2A2540"/>
            </a:solidFill>
            <a:prstDash val="solid"/>
          </a:ln>
        </p:spPr>
      </p:sp>
      <p:sp>
        <p:nvSpPr>
          <p:cNvPr id="14" name="Text 10"/>
          <p:cNvSpPr txBox="1"/>
          <p:nvPr/>
        </p:nvSpPr>
        <p:spPr>
          <a:xfrm>
            <a:off x="4206240" y="4114800"/>
            <a:ext cx="3200400" cy="914400"/>
          </a:xfrm>
          <a:prstGeom prst="rect">
            <a:avLst/>
          </a:prstGeom>
          <a:noFill/>
          <a:ln/>
        </p:spPr>
        <p:txBody>
          <a:bodyPr wrap="square" lIns="0" tIns="0" rIns="0" bIns="0" rtlCol="0" anchor="ctr">
            <a:normAutofit/>
          </a:bodyPr>
          <a:lstStyle/>
          <a:p>
            <a:pPr indent="0" marL="0">
              <a:buNone/>
            </a:pPr>
            <a:r>
              <a:rPr lang="en-US" sz="4000" b="1" dirty="0">
                <a:solidFill>
                  <a:srgbClr val="7FE0B8"/>
                </a:solidFill>
                <a:latin typeface="Outfit" pitchFamily="34" charset="0"/>
                <a:ea typeface="Outfit" pitchFamily="34" charset="-122"/>
                <a:cs typeface="Outfit" pitchFamily="34" charset="-120"/>
              </a:rPr>
              <a:t>[Number]</a:t>
            </a:r>
            <a:endParaRPr lang="en-US" sz="4000" dirty="0"/>
          </a:p>
        </p:txBody>
      </p:sp>
      <p:sp>
        <p:nvSpPr>
          <p:cNvPr id="15" name="Text 11"/>
          <p:cNvSpPr txBox="1"/>
          <p:nvPr/>
        </p:nvSpPr>
        <p:spPr>
          <a:xfrm>
            <a:off x="4206240" y="5074920"/>
            <a:ext cx="3200400" cy="548640"/>
          </a:xfrm>
          <a:prstGeom prst="rect">
            <a:avLst/>
          </a:prstGeom>
          <a:noFill/>
          <a:ln/>
        </p:spPr>
        <p:txBody>
          <a:bodyPr wrap="square" lIns="0" tIns="0" rIns="0" bIns="0" rtlCol="0" anchor="t">
            <a:normAutofit/>
          </a:bodyPr>
          <a:lstStyle/>
          <a:p>
            <a:pPr indent="0" marL="0">
              <a:buNone/>
            </a:pPr>
            <a:r>
              <a:rPr lang="en-US" sz="1350" dirty="0">
                <a:solidFill>
                  <a:srgbClr val="C9C3DD"/>
                </a:solidFill>
                <a:latin typeface="Outfit" pitchFamily="34" charset="0"/>
                <a:ea typeface="Outfit" pitchFamily="34" charset="-122"/>
                <a:cs typeface="Outfit" pitchFamily="34" charset="-120"/>
              </a:rPr>
              <a:t>[a credential, e.g. years in practice]</a:t>
            </a:r>
            <a:endParaRPr lang="en-US" sz="1350" dirty="0"/>
          </a:p>
        </p:txBody>
      </p:sp>
      <p:sp>
        <p:nvSpPr>
          <p:cNvPr id="16" name="Shape 12"/>
          <p:cNvSpPr/>
          <p:nvPr/>
        </p:nvSpPr>
        <p:spPr>
          <a:xfrm>
            <a:off x="7863840" y="3886200"/>
            <a:ext cx="3749040" cy="1920240"/>
          </a:xfrm>
          <a:prstGeom prst="roundRect">
            <a:avLst>
              <a:gd name="adj" fmla="val 8571"/>
            </a:avLst>
          </a:prstGeom>
          <a:solidFill>
            <a:srgbClr val="15121F"/>
          </a:solidFill>
          <a:ln w="9525">
            <a:solidFill>
              <a:srgbClr val="2A2540"/>
            </a:solidFill>
            <a:prstDash val="solid"/>
          </a:ln>
        </p:spPr>
      </p:sp>
      <p:sp>
        <p:nvSpPr>
          <p:cNvPr id="17" name="Text 13"/>
          <p:cNvSpPr txBox="1"/>
          <p:nvPr/>
        </p:nvSpPr>
        <p:spPr>
          <a:xfrm>
            <a:off x="8138160" y="4114800"/>
            <a:ext cx="3200400" cy="914400"/>
          </a:xfrm>
          <a:prstGeom prst="rect">
            <a:avLst/>
          </a:prstGeom>
          <a:noFill/>
          <a:ln/>
        </p:spPr>
        <p:txBody>
          <a:bodyPr wrap="square" lIns="0" tIns="0" rIns="0" bIns="0" rtlCol="0" anchor="ctr">
            <a:normAutofit/>
          </a:bodyPr>
          <a:lstStyle/>
          <a:p>
            <a:pPr indent="0" marL="0">
              <a:buNone/>
            </a:pPr>
            <a:r>
              <a:rPr lang="en-US" sz="4000" b="1" dirty="0">
                <a:solidFill>
                  <a:srgbClr val="F08BB0"/>
                </a:solidFill>
                <a:latin typeface="Outfit" pitchFamily="34" charset="0"/>
                <a:ea typeface="Outfit" pitchFamily="34" charset="-122"/>
                <a:cs typeface="Outfit" pitchFamily="34" charset="-120"/>
              </a:rPr>
              <a:t>[Fact]</a:t>
            </a:r>
            <a:endParaRPr lang="en-US" sz="4000" dirty="0"/>
          </a:p>
        </p:txBody>
      </p:sp>
      <p:sp>
        <p:nvSpPr>
          <p:cNvPr id="18" name="Text 14"/>
          <p:cNvSpPr txBox="1"/>
          <p:nvPr/>
        </p:nvSpPr>
        <p:spPr>
          <a:xfrm>
            <a:off x="8138160" y="5074920"/>
            <a:ext cx="3200400" cy="548640"/>
          </a:xfrm>
          <a:prstGeom prst="rect">
            <a:avLst/>
          </a:prstGeom>
          <a:noFill/>
          <a:ln/>
        </p:spPr>
        <p:txBody>
          <a:bodyPr wrap="square" lIns="0" tIns="0" rIns="0" bIns="0" rtlCol="0" anchor="t">
            <a:normAutofit/>
          </a:bodyPr>
          <a:lstStyle/>
          <a:p>
            <a:pPr indent="0" marL="0">
              <a:buNone/>
            </a:pPr>
            <a:r>
              <a:rPr lang="en-US" sz="1350" dirty="0">
                <a:solidFill>
                  <a:srgbClr val="C9C3DD"/>
                </a:solidFill>
                <a:latin typeface="Outfit" pitchFamily="34" charset="0"/>
                <a:ea typeface="Outfit" pitchFamily="34" charset="-122"/>
                <a:cs typeface="Outfit" pitchFamily="34" charset="-120"/>
              </a:rPr>
              <a:t>[proof without a number, e.g. trained by, featured in]</a:t>
            </a:r>
            <a:endParaRPr lang="en-US" sz="1350" dirty="0"/>
          </a:p>
        </p:txBody>
      </p:sp>
      <p:sp>
        <p:nvSpPr>
          <p:cNvPr id="19" name="Text 15"/>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0" name="Text 1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AUDIENCE AND OUTCOME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What have you already tried?</a:t>
            </a:r>
            <a:endParaRPr lang="en-US" sz="3000" dirty="0"/>
          </a:p>
        </p:txBody>
      </p:sp>
      <p:sp>
        <p:nvSpPr>
          <p:cNvPr id="5" name="Shape 2"/>
          <p:cNvSpPr/>
          <p:nvPr/>
        </p:nvSpPr>
        <p:spPr>
          <a:xfrm>
            <a:off x="548640" y="1783080"/>
            <a:ext cx="2622042" cy="1691640"/>
          </a:xfrm>
          <a:prstGeom prst="roundRect">
            <a:avLst>
              <a:gd name="adj" fmla="val 9730"/>
            </a:avLst>
          </a:prstGeom>
          <a:solidFill>
            <a:srgbClr val="15121F"/>
          </a:solidFill>
          <a:ln w="9525">
            <a:solidFill>
              <a:srgbClr val="2A2540"/>
            </a:solidFill>
            <a:prstDash val="solid"/>
          </a:ln>
        </p:spPr>
      </p:sp>
      <p:sp>
        <p:nvSpPr>
          <p:cNvPr id="6" name="Text 3"/>
          <p:cNvSpPr txBox="1"/>
          <p:nvPr/>
        </p:nvSpPr>
        <p:spPr>
          <a:xfrm>
            <a:off x="77724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777240" y="2404872"/>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1]</a:t>
            </a:r>
            <a:endParaRPr lang="en-US" sz="1500" dirty="0"/>
          </a:p>
        </p:txBody>
      </p:sp>
      <p:sp>
        <p:nvSpPr>
          <p:cNvPr id="8" name="Shape 5"/>
          <p:cNvSpPr/>
          <p:nvPr/>
        </p:nvSpPr>
        <p:spPr>
          <a:xfrm>
            <a:off x="3371850" y="1783080"/>
            <a:ext cx="2622042" cy="1691640"/>
          </a:xfrm>
          <a:prstGeom prst="roundRect">
            <a:avLst>
              <a:gd name="adj" fmla="val 9730"/>
            </a:avLst>
          </a:prstGeom>
          <a:solidFill>
            <a:srgbClr val="15121F"/>
          </a:solidFill>
          <a:ln w="9525">
            <a:solidFill>
              <a:srgbClr val="2A2540"/>
            </a:solidFill>
            <a:prstDash val="solid"/>
          </a:ln>
        </p:spPr>
      </p:sp>
      <p:sp>
        <p:nvSpPr>
          <p:cNvPr id="9" name="Text 6"/>
          <p:cNvSpPr txBox="1"/>
          <p:nvPr/>
        </p:nvSpPr>
        <p:spPr>
          <a:xfrm>
            <a:off x="360045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0" name="Text 7"/>
          <p:cNvSpPr txBox="1"/>
          <p:nvPr/>
        </p:nvSpPr>
        <p:spPr>
          <a:xfrm>
            <a:off x="3600450" y="2404872"/>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2]</a:t>
            </a:r>
            <a:endParaRPr lang="en-US" sz="1500" dirty="0"/>
          </a:p>
        </p:txBody>
      </p:sp>
      <p:sp>
        <p:nvSpPr>
          <p:cNvPr id="11" name="Shape 8"/>
          <p:cNvSpPr/>
          <p:nvPr/>
        </p:nvSpPr>
        <p:spPr>
          <a:xfrm>
            <a:off x="6195060" y="1783080"/>
            <a:ext cx="2622042" cy="1691640"/>
          </a:xfrm>
          <a:prstGeom prst="roundRect">
            <a:avLst>
              <a:gd name="adj" fmla="val 9730"/>
            </a:avLst>
          </a:prstGeom>
          <a:solidFill>
            <a:srgbClr val="15121F"/>
          </a:solidFill>
          <a:ln w="9525">
            <a:solidFill>
              <a:srgbClr val="2A2540"/>
            </a:solidFill>
            <a:prstDash val="solid"/>
          </a:ln>
        </p:spPr>
      </p:sp>
      <p:sp>
        <p:nvSpPr>
          <p:cNvPr id="12" name="Text 9"/>
          <p:cNvSpPr txBox="1"/>
          <p:nvPr/>
        </p:nvSpPr>
        <p:spPr>
          <a:xfrm>
            <a:off x="642366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3" name="Text 10"/>
          <p:cNvSpPr txBox="1"/>
          <p:nvPr/>
        </p:nvSpPr>
        <p:spPr>
          <a:xfrm>
            <a:off x="6423660" y="2404872"/>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3]</a:t>
            </a:r>
            <a:endParaRPr lang="en-US" sz="1500" dirty="0"/>
          </a:p>
        </p:txBody>
      </p:sp>
      <p:sp>
        <p:nvSpPr>
          <p:cNvPr id="14" name="Shape 11"/>
          <p:cNvSpPr/>
          <p:nvPr/>
        </p:nvSpPr>
        <p:spPr>
          <a:xfrm>
            <a:off x="9018270" y="1783080"/>
            <a:ext cx="2622042" cy="1691640"/>
          </a:xfrm>
          <a:prstGeom prst="roundRect">
            <a:avLst>
              <a:gd name="adj" fmla="val 9730"/>
            </a:avLst>
          </a:prstGeom>
          <a:solidFill>
            <a:srgbClr val="15121F"/>
          </a:solidFill>
          <a:ln w="9525">
            <a:solidFill>
              <a:srgbClr val="2A2540"/>
            </a:solidFill>
            <a:prstDash val="solid"/>
          </a:ln>
        </p:spPr>
      </p:sp>
      <p:sp>
        <p:nvSpPr>
          <p:cNvPr id="15" name="Text 12"/>
          <p:cNvSpPr txBox="1"/>
          <p:nvPr/>
        </p:nvSpPr>
        <p:spPr>
          <a:xfrm>
            <a:off x="924687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6" name="Text 13"/>
          <p:cNvSpPr txBox="1"/>
          <p:nvPr/>
        </p:nvSpPr>
        <p:spPr>
          <a:xfrm>
            <a:off x="9246870" y="2404872"/>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4]</a:t>
            </a:r>
            <a:endParaRPr lang="en-US" sz="1500" dirty="0"/>
          </a:p>
        </p:txBody>
      </p:sp>
      <p:sp>
        <p:nvSpPr>
          <p:cNvPr id="17" name="Shape 14"/>
          <p:cNvSpPr/>
          <p:nvPr/>
        </p:nvSpPr>
        <p:spPr>
          <a:xfrm>
            <a:off x="548640" y="3675888"/>
            <a:ext cx="2622042" cy="1691640"/>
          </a:xfrm>
          <a:prstGeom prst="roundRect">
            <a:avLst>
              <a:gd name="adj" fmla="val 9730"/>
            </a:avLst>
          </a:prstGeom>
          <a:solidFill>
            <a:srgbClr val="15121F"/>
          </a:solidFill>
          <a:ln w="9525">
            <a:solidFill>
              <a:srgbClr val="2A2540"/>
            </a:solidFill>
            <a:prstDash val="solid"/>
          </a:ln>
        </p:spPr>
      </p:sp>
      <p:sp>
        <p:nvSpPr>
          <p:cNvPr id="18" name="Text 15"/>
          <p:cNvSpPr txBox="1"/>
          <p:nvPr/>
        </p:nvSpPr>
        <p:spPr>
          <a:xfrm>
            <a:off x="777240" y="384048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05</a:t>
            </a:r>
            <a:endParaRPr lang="en-US" sz="2200" dirty="0"/>
          </a:p>
        </p:txBody>
      </p:sp>
      <p:sp>
        <p:nvSpPr>
          <p:cNvPr id="19" name="Text 16"/>
          <p:cNvSpPr txBox="1"/>
          <p:nvPr/>
        </p:nvSpPr>
        <p:spPr>
          <a:xfrm>
            <a:off x="777240" y="4297680"/>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5]</a:t>
            </a:r>
            <a:endParaRPr lang="en-US" sz="1500" dirty="0"/>
          </a:p>
        </p:txBody>
      </p:sp>
      <p:sp>
        <p:nvSpPr>
          <p:cNvPr id="20" name="Shape 17"/>
          <p:cNvSpPr/>
          <p:nvPr/>
        </p:nvSpPr>
        <p:spPr>
          <a:xfrm>
            <a:off x="3371850" y="3675888"/>
            <a:ext cx="2622042" cy="1691640"/>
          </a:xfrm>
          <a:prstGeom prst="roundRect">
            <a:avLst>
              <a:gd name="adj" fmla="val 9730"/>
            </a:avLst>
          </a:prstGeom>
          <a:solidFill>
            <a:srgbClr val="15121F"/>
          </a:solidFill>
          <a:ln w="9525">
            <a:solidFill>
              <a:srgbClr val="2A2540"/>
            </a:solidFill>
            <a:prstDash val="solid"/>
          </a:ln>
        </p:spPr>
      </p:sp>
      <p:sp>
        <p:nvSpPr>
          <p:cNvPr id="21" name="Text 18"/>
          <p:cNvSpPr txBox="1"/>
          <p:nvPr/>
        </p:nvSpPr>
        <p:spPr>
          <a:xfrm>
            <a:off x="3600450" y="384048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06</a:t>
            </a:r>
            <a:endParaRPr lang="en-US" sz="2200" dirty="0"/>
          </a:p>
        </p:txBody>
      </p:sp>
      <p:sp>
        <p:nvSpPr>
          <p:cNvPr id="22" name="Text 19"/>
          <p:cNvSpPr txBox="1"/>
          <p:nvPr/>
        </p:nvSpPr>
        <p:spPr>
          <a:xfrm>
            <a:off x="3600450" y="4297680"/>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6]</a:t>
            </a:r>
            <a:endParaRPr lang="en-US" sz="1500" dirty="0"/>
          </a:p>
        </p:txBody>
      </p:sp>
      <p:sp>
        <p:nvSpPr>
          <p:cNvPr id="23" name="Shape 20"/>
          <p:cNvSpPr/>
          <p:nvPr/>
        </p:nvSpPr>
        <p:spPr>
          <a:xfrm>
            <a:off x="6195060" y="3675888"/>
            <a:ext cx="2622042" cy="1691640"/>
          </a:xfrm>
          <a:prstGeom prst="roundRect">
            <a:avLst>
              <a:gd name="adj" fmla="val 9730"/>
            </a:avLst>
          </a:prstGeom>
          <a:solidFill>
            <a:srgbClr val="15121F"/>
          </a:solidFill>
          <a:ln w="9525">
            <a:solidFill>
              <a:srgbClr val="2A2540"/>
            </a:solidFill>
            <a:prstDash val="solid"/>
          </a:ln>
        </p:spPr>
      </p:sp>
      <p:sp>
        <p:nvSpPr>
          <p:cNvPr id="24" name="Text 21"/>
          <p:cNvSpPr txBox="1"/>
          <p:nvPr/>
        </p:nvSpPr>
        <p:spPr>
          <a:xfrm>
            <a:off x="6423660" y="384048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07</a:t>
            </a:r>
            <a:endParaRPr lang="en-US" sz="2200" dirty="0"/>
          </a:p>
        </p:txBody>
      </p:sp>
      <p:sp>
        <p:nvSpPr>
          <p:cNvPr id="25" name="Text 22"/>
          <p:cNvSpPr txBox="1"/>
          <p:nvPr/>
        </p:nvSpPr>
        <p:spPr>
          <a:xfrm>
            <a:off x="6423660" y="4297680"/>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7]</a:t>
            </a:r>
            <a:endParaRPr lang="en-US" sz="1500" dirty="0"/>
          </a:p>
        </p:txBody>
      </p:sp>
      <p:sp>
        <p:nvSpPr>
          <p:cNvPr id="26" name="Shape 23"/>
          <p:cNvSpPr/>
          <p:nvPr/>
        </p:nvSpPr>
        <p:spPr>
          <a:xfrm>
            <a:off x="9018270" y="3675888"/>
            <a:ext cx="2622042" cy="1691640"/>
          </a:xfrm>
          <a:prstGeom prst="roundRect">
            <a:avLst>
              <a:gd name="adj" fmla="val 9730"/>
            </a:avLst>
          </a:prstGeom>
          <a:solidFill>
            <a:srgbClr val="15121F"/>
          </a:solidFill>
          <a:ln w="9525">
            <a:solidFill>
              <a:srgbClr val="2A2540"/>
            </a:solidFill>
            <a:prstDash val="solid"/>
          </a:ln>
        </p:spPr>
      </p:sp>
      <p:sp>
        <p:nvSpPr>
          <p:cNvPr id="27" name="Text 24"/>
          <p:cNvSpPr txBox="1"/>
          <p:nvPr/>
        </p:nvSpPr>
        <p:spPr>
          <a:xfrm>
            <a:off x="9246870" y="384048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08</a:t>
            </a:r>
            <a:endParaRPr lang="en-US" sz="2200" dirty="0"/>
          </a:p>
        </p:txBody>
      </p:sp>
      <p:sp>
        <p:nvSpPr>
          <p:cNvPr id="28" name="Text 25"/>
          <p:cNvSpPr txBox="1"/>
          <p:nvPr/>
        </p:nvSpPr>
        <p:spPr>
          <a:xfrm>
            <a:off x="9246870" y="4297680"/>
            <a:ext cx="2164842" cy="914400"/>
          </a:xfrm>
          <a:prstGeom prst="rect">
            <a:avLst/>
          </a:prstGeom>
          <a:noFill/>
          <a:ln/>
        </p:spPr>
        <p:txBody>
          <a:bodyPr wrap="square" lIns="0" tIns="0" rIns="0" bIns="0" rtlCol="0" anchor="t">
            <a:normAutofit/>
          </a:bodyPr>
          <a:lstStyle/>
          <a:p>
            <a:pPr indent="0" marL="0">
              <a:buNone/>
            </a:pPr>
            <a:r>
              <a:rPr lang="en-US" sz="1500" dirty="0">
                <a:solidFill>
                  <a:srgbClr val="F1EEFB"/>
                </a:solidFill>
                <a:latin typeface="Outfit" pitchFamily="34" charset="0"/>
                <a:ea typeface="Outfit" pitchFamily="34" charset="-122"/>
                <a:cs typeface="Outfit" pitchFamily="34" charset="-120"/>
              </a:rPr>
              <a:t>[Thing they tried 8]</a:t>
            </a:r>
            <a:endParaRPr lang="en-US" sz="1500" dirty="0"/>
          </a:p>
        </p:txBody>
      </p:sp>
      <p:sp>
        <p:nvSpPr>
          <p:cNvPr id="29" name="Shape 26"/>
          <p:cNvSpPr/>
          <p:nvPr/>
        </p:nvSpPr>
        <p:spPr>
          <a:xfrm>
            <a:off x="548640" y="5715000"/>
            <a:ext cx="11091672" cy="566928"/>
          </a:xfrm>
          <a:prstGeom prst="roundRect">
            <a:avLst>
              <a:gd name="adj" fmla="val 29032"/>
            </a:avLst>
          </a:prstGeom>
          <a:solidFill>
            <a:srgbClr val="1C1829"/>
          </a:solidFill>
          <a:ln w="9525">
            <a:solidFill>
              <a:srgbClr val="2A2540"/>
            </a:solidFill>
            <a:prstDash val="solid"/>
          </a:ln>
        </p:spPr>
      </p:sp>
      <p:sp>
        <p:nvSpPr>
          <p:cNvPr id="30" name="Text 27"/>
          <p:cNvSpPr txBox="1"/>
          <p:nvPr/>
        </p:nvSpPr>
        <p:spPr>
          <a:xfrm>
            <a:off x="777240" y="5715000"/>
            <a:ext cx="10607040" cy="566928"/>
          </a:xfrm>
          <a:prstGeom prst="rect">
            <a:avLst/>
          </a:prstGeom>
          <a:noFill/>
          <a:ln/>
        </p:spPr>
        <p:txBody>
          <a:bodyPr wrap="square" lIns="0" tIns="0" rIns="0" bIns="0" rtlCol="0" anchor="ctr"/>
          <a:lstStyle/>
          <a:p>
            <a:pPr indent="0" marL="0">
              <a:buNone/>
            </a:pPr>
            <a:r>
              <a:rPr lang="en-US" sz="1400" dirty="0">
                <a:solidFill>
                  <a:srgbClr val="E8C878"/>
                </a:solidFill>
                <a:latin typeface="Outfit" pitchFamily="34" charset="0"/>
                <a:ea typeface="Outfit" pitchFamily="34" charset="-122"/>
                <a:cs typeface="Outfit" pitchFamily="34" charset="-120"/>
              </a:rPr>
              <a:t>✦  </a:t>
            </a:r>
            <a:pPr indent="0" marL="0">
              <a:buNone/>
            </a:pPr>
            <a:r>
              <a:rPr lang="en-US" sz="1400" dirty="0">
                <a:solidFill>
                  <a:srgbClr val="F1EEFB"/>
                </a:solidFill>
                <a:latin typeface="Outfit" pitchFamily="34" charset="0"/>
                <a:ea typeface="Outfit" pitchFamily="34" charset="-122"/>
                <a:cs typeface="Outfit" pitchFamily="34" charset="-120"/>
              </a:rPr>
              <a:t>Which ones have you tried? Tell me in the comments.</a:t>
            </a:r>
            <a:endParaRPr lang="en-US" sz="1400" dirty="0"/>
          </a:p>
        </p:txBody>
      </p:sp>
      <p:sp>
        <p:nvSpPr>
          <p:cNvPr id="31" name="Text 28"/>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32" name="Text 29"/>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AUDIENCE AND OUTCOME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What you truly want</a:t>
            </a:r>
            <a:endParaRPr lang="en-US" sz="3000" dirty="0"/>
          </a:p>
        </p:txBody>
      </p:sp>
      <p:sp>
        <p:nvSpPr>
          <p:cNvPr id="5" name="Text 2"/>
          <p:cNvSpPr txBox="1"/>
          <p:nvPr/>
        </p:nvSpPr>
        <p:spPr>
          <a:xfrm>
            <a:off x="548640" y="1600200"/>
            <a:ext cx="11064240" cy="1188720"/>
          </a:xfrm>
          <a:prstGeom prst="rect">
            <a:avLst/>
          </a:prstGeom>
          <a:noFill/>
          <a:ln/>
        </p:spPr>
        <p:txBody>
          <a:bodyPr wrap="square" lIns="0" tIns="0" rIns="0" bIns="0" rtlCol="0" anchor="t">
            <a:normAutofit/>
          </a:bodyPr>
          <a:lstStyle/>
          <a:p>
            <a:pPr indent="0" marL="0">
              <a:buNone/>
            </a:pPr>
            <a:r>
              <a:rPr lang="en-US" sz="2400" i="1" dirty="0">
                <a:solidFill>
                  <a:srgbClr val="B79CF5"/>
                </a:solidFill>
                <a:latin typeface="Instrument Serif" pitchFamily="34" charset="0"/>
                <a:ea typeface="Instrument Serif" pitchFamily="34" charset="-122"/>
                <a:cs typeface="Instrument Serif" pitchFamily="34" charset="-120"/>
              </a:rPr>
              <a:t>[One long sentence, in their words, about what they really want underneath the surface want. How it would feel, not just what it would be.]</a:t>
            </a:r>
            <a:endParaRPr lang="en-US" sz="2400" dirty="0"/>
          </a:p>
        </p:txBody>
      </p:sp>
      <p:sp>
        <p:nvSpPr>
          <p:cNvPr id="6" name="Shape 3"/>
          <p:cNvSpPr/>
          <p:nvPr/>
        </p:nvSpPr>
        <p:spPr>
          <a:xfrm>
            <a:off x="548640" y="3017520"/>
            <a:ext cx="2622042" cy="2377440"/>
          </a:xfrm>
          <a:prstGeom prst="roundRect">
            <a:avLst>
              <a:gd name="adj" fmla="val 6923"/>
            </a:avLst>
          </a:prstGeom>
          <a:solidFill>
            <a:srgbClr val="15121F"/>
          </a:solidFill>
          <a:ln w="9525">
            <a:solidFill>
              <a:srgbClr val="2A2540"/>
            </a:solidFill>
            <a:prstDash val="solid"/>
          </a:ln>
        </p:spPr>
      </p:sp>
      <p:sp>
        <p:nvSpPr>
          <p:cNvPr id="7" name="Text 4"/>
          <p:cNvSpPr txBox="1"/>
          <p:nvPr/>
        </p:nvSpPr>
        <p:spPr>
          <a:xfrm>
            <a:off x="777240" y="31821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8" name="Text 5"/>
          <p:cNvSpPr txBox="1"/>
          <p:nvPr/>
        </p:nvSpPr>
        <p:spPr>
          <a:xfrm>
            <a:off x="777240" y="358444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[Outcome 1]</a:t>
            </a:r>
            <a:endParaRPr lang="en-US" sz="1500" dirty="0"/>
          </a:p>
        </p:txBody>
      </p:sp>
      <p:sp>
        <p:nvSpPr>
          <p:cNvPr id="9" name="Text 6"/>
          <p:cNvSpPr txBox="1"/>
          <p:nvPr/>
        </p:nvSpPr>
        <p:spPr>
          <a:xfrm>
            <a:off x="777240" y="4069080"/>
            <a:ext cx="2164842" cy="11887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[Instead of what they have now.]</a:t>
            </a:r>
            <a:endParaRPr lang="en-US" sz="1300" dirty="0"/>
          </a:p>
        </p:txBody>
      </p:sp>
      <p:sp>
        <p:nvSpPr>
          <p:cNvPr id="10" name="Shape 7"/>
          <p:cNvSpPr/>
          <p:nvPr/>
        </p:nvSpPr>
        <p:spPr>
          <a:xfrm>
            <a:off x="3371850" y="3017520"/>
            <a:ext cx="2622042" cy="2377440"/>
          </a:xfrm>
          <a:prstGeom prst="roundRect">
            <a:avLst>
              <a:gd name="adj" fmla="val 6923"/>
            </a:avLst>
          </a:prstGeom>
          <a:solidFill>
            <a:srgbClr val="15121F"/>
          </a:solidFill>
          <a:ln w="9525">
            <a:solidFill>
              <a:srgbClr val="2A2540"/>
            </a:solidFill>
            <a:prstDash val="solid"/>
          </a:ln>
        </p:spPr>
      </p:sp>
      <p:sp>
        <p:nvSpPr>
          <p:cNvPr id="11" name="Text 8"/>
          <p:cNvSpPr txBox="1"/>
          <p:nvPr/>
        </p:nvSpPr>
        <p:spPr>
          <a:xfrm>
            <a:off x="3600450" y="31821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2" name="Text 9"/>
          <p:cNvSpPr txBox="1"/>
          <p:nvPr/>
        </p:nvSpPr>
        <p:spPr>
          <a:xfrm>
            <a:off x="3600450" y="358444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[Outcome 2]</a:t>
            </a:r>
            <a:endParaRPr lang="en-US" sz="1500" dirty="0"/>
          </a:p>
        </p:txBody>
      </p:sp>
      <p:sp>
        <p:nvSpPr>
          <p:cNvPr id="13" name="Text 10"/>
          <p:cNvSpPr txBox="1"/>
          <p:nvPr/>
        </p:nvSpPr>
        <p:spPr>
          <a:xfrm>
            <a:off x="3600450" y="4069080"/>
            <a:ext cx="2164842" cy="11887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[Instead of what they have now.]</a:t>
            </a:r>
            <a:endParaRPr lang="en-US" sz="1300" dirty="0"/>
          </a:p>
        </p:txBody>
      </p:sp>
      <p:sp>
        <p:nvSpPr>
          <p:cNvPr id="14" name="Shape 11"/>
          <p:cNvSpPr/>
          <p:nvPr/>
        </p:nvSpPr>
        <p:spPr>
          <a:xfrm>
            <a:off x="6195060" y="3017520"/>
            <a:ext cx="2622042" cy="2377440"/>
          </a:xfrm>
          <a:prstGeom prst="roundRect">
            <a:avLst>
              <a:gd name="adj" fmla="val 6923"/>
            </a:avLst>
          </a:prstGeom>
          <a:solidFill>
            <a:srgbClr val="15121F"/>
          </a:solidFill>
          <a:ln w="9525">
            <a:solidFill>
              <a:srgbClr val="2A2540"/>
            </a:solidFill>
            <a:prstDash val="solid"/>
          </a:ln>
        </p:spPr>
      </p:sp>
      <p:sp>
        <p:nvSpPr>
          <p:cNvPr id="15" name="Text 12"/>
          <p:cNvSpPr txBox="1"/>
          <p:nvPr/>
        </p:nvSpPr>
        <p:spPr>
          <a:xfrm>
            <a:off x="6423660" y="31821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6" name="Text 13"/>
          <p:cNvSpPr txBox="1"/>
          <p:nvPr/>
        </p:nvSpPr>
        <p:spPr>
          <a:xfrm>
            <a:off x="6423660" y="358444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[Outcome 3]</a:t>
            </a:r>
            <a:endParaRPr lang="en-US" sz="1500" dirty="0"/>
          </a:p>
        </p:txBody>
      </p:sp>
      <p:sp>
        <p:nvSpPr>
          <p:cNvPr id="17" name="Text 14"/>
          <p:cNvSpPr txBox="1"/>
          <p:nvPr/>
        </p:nvSpPr>
        <p:spPr>
          <a:xfrm>
            <a:off x="6423660" y="4069080"/>
            <a:ext cx="2164842" cy="11887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[Instead of what they have now.]</a:t>
            </a:r>
            <a:endParaRPr lang="en-US" sz="1300" dirty="0"/>
          </a:p>
        </p:txBody>
      </p:sp>
      <p:sp>
        <p:nvSpPr>
          <p:cNvPr id="18" name="Shape 15"/>
          <p:cNvSpPr/>
          <p:nvPr/>
        </p:nvSpPr>
        <p:spPr>
          <a:xfrm>
            <a:off x="9018270" y="3017520"/>
            <a:ext cx="2622042" cy="2377440"/>
          </a:xfrm>
          <a:prstGeom prst="roundRect">
            <a:avLst>
              <a:gd name="adj" fmla="val 6923"/>
            </a:avLst>
          </a:prstGeom>
          <a:solidFill>
            <a:srgbClr val="15121F"/>
          </a:solidFill>
          <a:ln w="9525">
            <a:solidFill>
              <a:srgbClr val="2A2540"/>
            </a:solidFill>
            <a:prstDash val="solid"/>
          </a:ln>
        </p:spPr>
      </p:sp>
      <p:sp>
        <p:nvSpPr>
          <p:cNvPr id="19" name="Text 16"/>
          <p:cNvSpPr txBox="1"/>
          <p:nvPr/>
        </p:nvSpPr>
        <p:spPr>
          <a:xfrm>
            <a:off x="9246870" y="31821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20" name="Text 17"/>
          <p:cNvSpPr txBox="1"/>
          <p:nvPr/>
        </p:nvSpPr>
        <p:spPr>
          <a:xfrm>
            <a:off x="9246870" y="358444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[Outcome 4]</a:t>
            </a:r>
            <a:endParaRPr lang="en-US" sz="1500" dirty="0"/>
          </a:p>
        </p:txBody>
      </p:sp>
      <p:sp>
        <p:nvSpPr>
          <p:cNvPr id="21" name="Text 18"/>
          <p:cNvSpPr txBox="1"/>
          <p:nvPr/>
        </p:nvSpPr>
        <p:spPr>
          <a:xfrm>
            <a:off x="9246870" y="4069080"/>
            <a:ext cx="2164842" cy="11887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[Instead of what they have now.]</a:t>
            </a:r>
            <a:endParaRPr lang="en-US" sz="1300" dirty="0"/>
          </a:p>
        </p:txBody>
      </p:sp>
      <p:sp>
        <p:nvSpPr>
          <p:cNvPr id="22" name="Text 19"/>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3" name="Text 2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TODAY</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What we'll cover</a:t>
            </a:r>
            <a:endParaRPr lang="en-US" sz="3000" dirty="0"/>
          </a:p>
        </p:txBody>
      </p:sp>
      <p:sp>
        <p:nvSpPr>
          <p:cNvPr id="5" name="Shape 2"/>
          <p:cNvSpPr/>
          <p:nvPr/>
        </p:nvSpPr>
        <p:spPr>
          <a:xfrm>
            <a:off x="548640" y="1783080"/>
            <a:ext cx="11091672" cy="525780"/>
          </a:xfrm>
          <a:prstGeom prst="roundRect">
            <a:avLst>
              <a:gd name="adj" fmla="val 31304"/>
            </a:avLst>
          </a:prstGeom>
          <a:solidFill>
            <a:srgbClr val="15121F"/>
          </a:solidFill>
          <a:ln w="9525">
            <a:solidFill>
              <a:srgbClr val="2A2540"/>
            </a:solidFill>
            <a:prstDash val="solid"/>
          </a:ln>
        </p:spPr>
      </p:sp>
      <p:sp>
        <p:nvSpPr>
          <p:cNvPr id="6" name="Text 3"/>
          <p:cNvSpPr txBox="1"/>
          <p:nvPr/>
        </p:nvSpPr>
        <p:spPr>
          <a:xfrm>
            <a:off x="822960" y="181737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1645920" y="1892808"/>
            <a:ext cx="3291840" cy="306324"/>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The real problem</a:t>
            </a:r>
            <a:endParaRPr lang="en-US" sz="1500" dirty="0"/>
          </a:p>
        </p:txBody>
      </p:sp>
      <p:sp>
        <p:nvSpPr>
          <p:cNvPr id="8" name="Text 5"/>
          <p:cNvSpPr txBox="1"/>
          <p:nvPr/>
        </p:nvSpPr>
        <p:spPr>
          <a:xfrm>
            <a:off x="5029200" y="1892808"/>
            <a:ext cx="6336792" cy="306324"/>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[Why the things they tried keep failing, one line.]</a:t>
            </a:r>
            <a:endParaRPr lang="en-US" sz="1350" dirty="0"/>
          </a:p>
        </p:txBody>
      </p:sp>
      <p:sp>
        <p:nvSpPr>
          <p:cNvPr id="9" name="Shape 6"/>
          <p:cNvSpPr/>
          <p:nvPr/>
        </p:nvSpPr>
        <p:spPr>
          <a:xfrm>
            <a:off x="548640" y="2436876"/>
            <a:ext cx="11091672" cy="525780"/>
          </a:xfrm>
          <a:prstGeom prst="roundRect">
            <a:avLst>
              <a:gd name="adj" fmla="val 31304"/>
            </a:avLst>
          </a:prstGeom>
          <a:solidFill>
            <a:srgbClr val="15121F"/>
          </a:solidFill>
          <a:ln w="9525">
            <a:solidFill>
              <a:srgbClr val="2A2540"/>
            </a:solidFill>
            <a:prstDash val="solid"/>
          </a:ln>
        </p:spPr>
      </p:sp>
      <p:sp>
        <p:nvSpPr>
          <p:cNvPr id="10" name="Text 7"/>
          <p:cNvSpPr txBox="1"/>
          <p:nvPr/>
        </p:nvSpPr>
        <p:spPr>
          <a:xfrm>
            <a:off x="822960" y="2471166"/>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1645920" y="2546604"/>
            <a:ext cx="3291840" cy="306324"/>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Who you become</a:t>
            </a:r>
            <a:endParaRPr lang="en-US" sz="1500" dirty="0"/>
          </a:p>
        </p:txBody>
      </p:sp>
      <p:sp>
        <p:nvSpPr>
          <p:cNvPr id="12" name="Text 9"/>
          <p:cNvSpPr txBox="1"/>
          <p:nvPr/>
        </p:nvSpPr>
        <p:spPr>
          <a:xfrm>
            <a:off x="5029200" y="2546604"/>
            <a:ext cx="6336792" cy="306324"/>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[The identity shift, one line.]</a:t>
            </a:r>
            <a:endParaRPr lang="en-US" sz="1350" dirty="0"/>
          </a:p>
        </p:txBody>
      </p:sp>
      <p:sp>
        <p:nvSpPr>
          <p:cNvPr id="13" name="Shape 10"/>
          <p:cNvSpPr/>
          <p:nvPr/>
        </p:nvSpPr>
        <p:spPr>
          <a:xfrm>
            <a:off x="548640" y="3090672"/>
            <a:ext cx="11091672" cy="525780"/>
          </a:xfrm>
          <a:prstGeom prst="roundRect">
            <a:avLst>
              <a:gd name="adj" fmla="val 31304"/>
            </a:avLst>
          </a:prstGeom>
          <a:solidFill>
            <a:srgbClr val="15121F"/>
          </a:solidFill>
          <a:ln w="9525">
            <a:solidFill>
              <a:srgbClr val="2A2540"/>
            </a:solidFill>
            <a:prstDash val="solid"/>
          </a:ln>
        </p:spPr>
      </p:sp>
      <p:sp>
        <p:nvSpPr>
          <p:cNvPr id="14" name="Text 11"/>
          <p:cNvSpPr txBox="1"/>
          <p:nvPr/>
        </p:nvSpPr>
        <p:spPr>
          <a:xfrm>
            <a:off x="822960" y="312496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1645920" y="3200400"/>
            <a:ext cx="3291840" cy="306324"/>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1 · [Name]</a:t>
            </a:r>
            <a:endParaRPr lang="en-US" sz="1500" dirty="0"/>
          </a:p>
        </p:txBody>
      </p:sp>
      <p:sp>
        <p:nvSpPr>
          <p:cNvPr id="16" name="Text 13"/>
          <p:cNvSpPr txBox="1"/>
          <p:nvPr/>
        </p:nvSpPr>
        <p:spPr>
          <a:xfrm>
            <a:off x="5029200" y="3200400"/>
            <a:ext cx="6336792" cy="306324"/>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step one gives them.]</a:t>
            </a:r>
            <a:endParaRPr lang="en-US" sz="1350" dirty="0"/>
          </a:p>
        </p:txBody>
      </p:sp>
      <p:sp>
        <p:nvSpPr>
          <p:cNvPr id="17" name="Shape 14"/>
          <p:cNvSpPr/>
          <p:nvPr/>
        </p:nvSpPr>
        <p:spPr>
          <a:xfrm>
            <a:off x="548640" y="3744468"/>
            <a:ext cx="11091672" cy="525780"/>
          </a:xfrm>
          <a:prstGeom prst="roundRect">
            <a:avLst>
              <a:gd name="adj" fmla="val 31304"/>
            </a:avLst>
          </a:prstGeom>
          <a:solidFill>
            <a:srgbClr val="15121F"/>
          </a:solidFill>
          <a:ln w="9525">
            <a:solidFill>
              <a:srgbClr val="2A2540"/>
            </a:solidFill>
            <a:prstDash val="solid"/>
          </a:ln>
        </p:spPr>
      </p:sp>
      <p:sp>
        <p:nvSpPr>
          <p:cNvPr id="18" name="Text 15"/>
          <p:cNvSpPr txBox="1"/>
          <p:nvPr/>
        </p:nvSpPr>
        <p:spPr>
          <a:xfrm>
            <a:off x="822960" y="3778758"/>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1645920" y="3854196"/>
            <a:ext cx="3291840" cy="306324"/>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2 · [Name]</a:t>
            </a:r>
            <a:endParaRPr lang="en-US" sz="1500" dirty="0"/>
          </a:p>
        </p:txBody>
      </p:sp>
      <p:sp>
        <p:nvSpPr>
          <p:cNvPr id="20" name="Text 17"/>
          <p:cNvSpPr txBox="1"/>
          <p:nvPr/>
        </p:nvSpPr>
        <p:spPr>
          <a:xfrm>
            <a:off x="5029200" y="3854196"/>
            <a:ext cx="6336792" cy="306324"/>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step two gives them.]</a:t>
            </a:r>
            <a:endParaRPr lang="en-US" sz="1350" dirty="0"/>
          </a:p>
        </p:txBody>
      </p:sp>
      <p:sp>
        <p:nvSpPr>
          <p:cNvPr id="21" name="Shape 18"/>
          <p:cNvSpPr/>
          <p:nvPr/>
        </p:nvSpPr>
        <p:spPr>
          <a:xfrm>
            <a:off x="548640" y="4398264"/>
            <a:ext cx="11091672" cy="525780"/>
          </a:xfrm>
          <a:prstGeom prst="roundRect">
            <a:avLst>
              <a:gd name="adj" fmla="val 31304"/>
            </a:avLst>
          </a:prstGeom>
          <a:solidFill>
            <a:srgbClr val="15121F"/>
          </a:solidFill>
          <a:ln w="9525">
            <a:solidFill>
              <a:srgbClr val="2A2540"/>
            </a:solidFill>
            <a:prstDash val="solid"/>
          </a:ln>
        </p:spPr>
      </p:sp>
      <p:sp>
        <p:nvSpPr>
          <p:cNvPr id="22" name="Text 19"/>
          <p:cNvSpPr txBox="1"/>
          <p:nvPr/>
        </p:nvSpPr>
        <p:spPr>
          <a:xfrm>
            <a:off x="822960" y="4432554"/>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05</a:t>
            </a:r>
            <a:endParaRPr lang="en-US" sz="2200" dirty="0"/>
          </a:p>
        </p:txBody>
      </p:sp>
      <p:sp>
        <p:nvSpPr>
          <p:cNvPr id="23" name="Text 20"/>
          <p:cNvSpPr txBox="1"/>
          <p:nvPr/>
        </p:nvSpPr>
        <p:spPr>
          <a:xfrm>
            <a:off x="1645920" y="4507992"/>
            <a:ext cx="3291840" cy="306324"/>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3 · [Name]</a:t>
            </a:r>
            <a:endParaRPr lang="en-US" sz="1500" dirty="0"/>
          </a:p>
        </p:txBody>
      </p:sp>
      <p:sp>
        <p:nvSpPr>
          <p:cNvPr id="24" name="Text 21"/>
          <p:cNvSpPr txBox="1"/>
          <p:nvPr/>
        </p:nvSpPr>
        <p:spPr>
          <a:xfrm>
            <a:off x="5029200" y="4507992"/>
            <a:ext cx="6336792" cy="306324"/>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step three gives them.]</a:t>
            </a:r>
            <a:endParaRPr lang="en-US" sz="1350" dirty="0"/>
          </a:p>
        </p:txBody>
      </p:sp>
      <p:sp>
        <p:nvSpPr>
          <p:cNvPr id="25" name="Shape 22"/>
          <p:cNvSpPr/>
          <p:nvPr/>
        </p:nvSpPr>
        <p:spPr>
          <a:xfrm>
            <a:off x="548640" y="5052060"/>
            <a:ext cx="11091672" cy="525780"/>
          </a:xfrm>
          <a:prstGeom prst="roundRect">
            <a:avLst>
              <a:gd name="adj" fmla="val 31304"/>
            </a:avLst>
          </a:prstGeom>
          <a:solidFill>
            <a:srgbClr val="15121F"/>
          </a:solidFill>
          <a:ln w="9525">
            <a:solidFill>
              <a:srgbClr val="2A2540"/>
            </a:solidFill>
            <a:prstDash val="solid"/>
          </a:ln>
        </p:spPr>
      </p:sp>
      <p:sp>
        <p:nvSpPr>
          <p:cNvPr id="26" name="Text 23"/>
          <p:cNvSpPr txBox="1"/>
          <p:nvPr/>
        </p:nvSpPr>
        <p:spPr>
          <a:xfrm>
            <a:off x="822960" y="508635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06</a:t>
            </a:r>
            <a:endParaRPr lang="en-US" sz="2200" dirty="0"/>
          </a:p>
        </p:txBody>
      </p:sp>
      <p:sp>
        <p:nvSpPr>
          <p:cNvPr id="27" name="Text 24"/>
          <p:cNvSpPr txBox="1"/>
          <p:nvPr/>
        </p:nvSpPr>
        <p:spPr>
          <a:xfrm>
            <a:off x="1645920" y="5161788"/>
            <a:ext cx="3291840" cy="306324"/>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Your next step</a:t>
            </a:r>
            <a:endParaRPr lang="en-US" sz="1500" dirty="0"/>
          </a:p>
        </p:txBody>
      </p:sp>
      <p:sp>
        <p:nvSpPr>
          <p:cNvPr id="28" name="Text 25"/>
          <p:cNvSpPr txBox="1"/>
          <p:nvPr/>
        </p:nvSpPr>
        <p:spPr>
          <a:xfrm>
            <a:off x="5029200" y="5161788"/>
            <a:ext cx="6336792" cy="306324"/>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[Do it alone, or book the audit and do it with you.]</a:t>
            </a:r>
            <a:endParaRPr lang="en-US" sz="1350" dirty="0"/>
          </a:p>
        </p:txBody>
      </p:sp>
      <p:sp>
        <p:nvSpPr>
          <p:cNvPr id="29" name="Text 26"/>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30" name="Text 2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hoto.jpg">    </p:cNvPr>
          <p:cNvPicPr>
            <a:picLocks noChangeAspect="1"/>
          </p:cNvPicPr>
          <p:nvPr/>
        </p:nvPicPr>
        <p:blipFill>
          <a:blip r:embed="rId2"/>
          <a:stretch>
            <a:fillRect/>
          </a:stretch>
        </p:blipFill>
        <p:spPr>
          <a:xfrm>
            <a:off x="6336792" y="0"/>
            <a:ext cx="5852160" cy="6858000"/>
          </a:xfrm>
          <a:prstGeom prst="rect">
            <a:avLst/>
          </a:prstGeom>
        </p:spPr>
      </p:pic>
      <p:sp>
        <p:nvSpPr>
          <p:cNvPr id="4" name="Shape 0"/>
          <p:cNvSpPr/>
          <p:nvPr/>
        </p:nvSpPr>
        <p:spPr>
          <a:xfrm>
            <a:off x="6336792" y="0"/>
            <a:ext cx="822960" cy="6858000"/>
          </a:xfrm>
          <a:prstGeom prst="rect">
            <a:avLst/>
          </a:prstGeom>
          <a:solidFill>
            <a:srgbClr val="0B0A12">
              <a:alpha val="60000"/>
            </a:srgbClr>
          </a:solidFill>
          <a:ln w="12700">
            <a:solidFill>
              <a:srgbClr val="0B0A12">
                <a:alpha val="0"/>
              </a:srgbClr>
            </a:solidFill>
            <a:prstDash val="solid"/>
          </a:ln>
        </p:spPr>
      </p:sp>
      <p:sp>
        <p:nvSpPr>
          <p:cNvPr id="5" name="Text 1"/>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050" spc="300" kern="0" dirty="0">
                <a:solidFill>
                  <a:srgbClr val="E8C878"/>
                </a:solidFill>
                <a:latin typeface="DM Mono" pitchFamily="34" charset="0"/>
                <a:ea typeface="DM Mono" pitchFamily="34" charset="-122"/>
                <a:cs typeface="DM Mono" pitchFamily="34" charset="-120"/>
              </a:rPr>
              <a:t>MY STORY</a:t>
            </a:r>
            <a:endParaRPr lang="en-US" sz="1050" dirty="0"/>
          </a:p>
        </p:txBody>
      </p:sp>
      <p:sp>
        <p:nvSpPr>
          <p:cNvPr id="6" name="Text 2"/>
          <p:cNvSpPr txBox="1"/>
          <p:nvPr/>
        </p:nvSpPr>
        <p:spPr>
          <a:xfrm>
            <a:off x="548640" y="960120"/>
            <a:ext cx="5394960" cy="1188720"/>
          </a:xfrm>
          <a:prstGeom prst="rect">
            <a:avLst/>
          </a:prstGeom>
          <a:noFill/>
          <a:ln/>
        </p:spPr>
        <p:txBody>
          <a:bodyPr wrap="square" lIns="0" tIns="0" rIns="0" bIns="0" rtlCol="0" anchor="ctr">
            <a:normAutofit/>
          </a:bodyPr>
          <a:lstStyle/>
          <a:p>
            <a:pPr indent="0" marL="0">
              <a:buNone/>
            </a:pPr>
            <a:r>
              <a:rPr lang="en-US" sz="3400" b="1" dirty="0">
                <a:solidFill>
                  <a:srgbClr val="F1EEFB"/>
                </a:solidFill>
                <a:latin typeface="Outfit" pitchFamily="34" charset="0"/>
                <a:ea typeface="Outfit" pitchFamily="34" charset="-122"/>
                <a:cs typeface="Outfit" pitchFamily="34" charset="-120"/>
              </a:rPr>
              <a:t>Why this work matters to me</a:t>
            </a:r>
            <a:endParaRPr lang="en-US" sz="3400" dirty="0"/>
          </a:p>
        </p:txBody>
      </p:sp>
      <p:sp>
        <p:nvSpPr>
          <p:cNvPr id="7" name="Text 3"/>
          <p:cNvSpPr txBox="1"/>
          <p:nvPr/>
        </p:nvSpPr>
        <p:spPr>
          <a:xfrm>
            <a:off x="548640" y="2286000"/>
            <a:ext cx="5212080" cy="3108960"/>
          </a:xfrm>
          <a:prstGeom prst="rect">
            <a:avLst/>
          </a:prstGeom>
          <a:noFill/>
          <a:ln/>
        </p:spPr>
        <p:txBody>
          <a:bodyPr wrap="square" lIns="0" tIns="0" rIns="0" bIns="0" rtlCol="0" anchor="t">
            <a:normAutofit/>
          </a:bodyPr>
          <a:lstStyle/>
          <a:p>
            <a:pPr indent="0" marL="0">
              <a:buNone/>
            </a:pPr>
            <a:r>
              <a:rPr lang="en-US" sz="1500" dirty="0">
                <a:solidFill>
                  <a:srgbClr val="C9C3DD"/>
                </a:solidFill>
                <a:latin typeface="Outfit" pitchFamily="34" charset="0"/>
                <a:ea typeface="Outfit" pitchFamily="34" charset="-122"/>
                <a:cs typeface="Outfit" pitchFamily="34" charset="-120"/>
              </a:rPr>
              <a:t>[Three or four sentences. Where you were. What it felt like. The moment you knew something had to change. Use a specific scene: a place, a number, a conversation.]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hoto.jpg">    </p:cNvPr>
          <p:cNvPicPr>
            <a:picLocks noChangeAspect="1"/>
          </p:cNvPicPr>
          <p:nvPr/>
        </p:nvPicPr>
        <p:blipFill>
          <a:blip r:embed="rId2"/>
          <a:stretch>
            <a:fillRect/>
          </a:stretch>
        </p:blipFill>
        <p:spPr>
          <a:xfrm>
            <a:off x="6336792" y="0"/>
            <a:ext cx="5852160" cy="6858000"/>
          </a:xfrm>
          <a:prstGeom prst="rect">
            <a:avLst/>
          </a:prstGeom>
        </p:spPr>
      </p:pic>
      <p:sp>
        <p:nvSpPr>
          <p:cNvPr id="4" name="Shape 0"/>
          <p:cNvSpPr/>
          <p:nvPr/>
        </p:nvSpPr>
        <p:spPr>
          <a:xfrm>
            <a:off x="6336792" y="0"/>
            <a:ext cx="822960" cy="6858000"/>
          </a:xfrm>
          <a:prstGeom prst="rect">
            <a:avLst/>
          </a:prstGeom>
          <a:solidFill>
            <a:srgbClr val="0B0A12">
              <a:alpha val="60000"/>
            </a:srgbClr>
          </a:solidFill>
          <a:ln w="12700">
            <a:solidFill>
              <a:srgbClr val="0B0A12">
                <a:alpha val="0"/>
              </a:srgbClr>
            </a:solidFill>
            <a:prstDash val="solid"/>
          </a:ln>
        </p:spPr>
      </p:sp>
      <p:sp>
        <p:nvSpPr>
          <p:cNvPr id="5" name="Text 1"/>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050" spc="300" kern="0" dirty="0">
                <a:solidFill>
                  <a:srgbClr val="E8C878"/>
                </a:solidFill>
                <a:latin typeface="DM Mono" pitchFamily="34" charset="0"/>
                <a:ea typeface="DM Mono" pitchFamily="34" charset="-122"/>
                <a:cs typeface="DM Mono" pitchFamily="34" charset="-120"/>
              </a:rPr>
              <a:t>THE TURNING POINT</a:t>
            </a:r>
            <a:endParaRPr lang="en-US" sz="1050" dirty="0"/>
          </a:p>
        </p:txBody>
      </p:sp>
      <p:sp>
        <p:nvSpPr>
          <p:cNvPr id="6" name="Text 2"/>
          <p:cNvSpPr txBox="1"/>
          <p:nvPr/>
        </p:nvSpPr>
        <p:spPr>
          <a:xfrm>
            <a:off x="548640" y="960120"/>
            <a:ext cx="5394960" cy="1188720"/>
          </a:xfrm>
          <a:prstGeom prst="rect">
            <a:avLst/>
          </a:prstGeom>
          <a:noFill/>
          <a:ln/>
        </p:spPr>
        <p:txBody>
          <a:bodyPr wrap="square" lIns="0" tIns="0" rIns="0" bIns="0" rtlCol="0" anchor="ctr">
            <a:normAutofit/>
          </a:bodyPr>
          <a:lstStyle/>
          <a:p>
            <a:pPr indent="0" marL="0">
              <a:buNone/>
            </a:pPr>
            <a:r>
              <a:rPr lang="en-US" sz="3400" b="1" dirty="0">
                <a:solidFill>
                  <a:srgbClr val="F1EEFB"/>
                </a:solidFill>
                <a:latin typeface="Outfit" pitchFamily="34" charset="0"/>
                <a:ea typeface="Outfit" pitchFamily="34" charset="-122"/>
                <a:cs typeface="Outfit" pitchFamily="34" charset="-120"/>
              </a:rPr>
              <a:t>What changed everything for me</a:t>
            </a:r>
            <a:endParaRPr lang="en-US" sz="3400" dirty="0"/>
          </a:p>
        </p:txBody>
      </p:sp>
      <p:sp>
        <p:nvSpPr>
          <p:cNvPr id="7" name="Text 3"/>
          <p:cNvSpPr txBox="1"/>
          <p:nvPr/>
        </p:nvSpPr>
        <p:spPr>
          <a:xfrm>
            <a:off x="548640" y="2286000"/>
            <a:ext cx="5212080" cy="3108960"/>
          </a:xfrm>
          <a:prstGeom prst="rect">
            <a:avLst/>
          </a:prstGeom>
          <a:noFill/>
          <a:ln/>
        </p:spPr>
        <p:txBody>
          <a:bodyPr wrap="square" lIns="0" tIns="0" rIns="0" bIns="0" rtlCol="0" anchor="t">
            <a:normAutofit/>
          </a:bodyPr>
          <a:lstStyle/>
          <a:p>
            <a:pPr indent="0" marL="0">
              <a:buNone/>
            </a:pPr>
            <a:r>
              <a:rPr lang="en-US" sz="1500" dirty="0">
                <a:solidFill>
                  <a:srgbClr val="C9C3DD"/>
                </a:solidFill>
                <a:latin typeface="Outfit" pitchFamily="34" charset="0"/>
                <a:ea typeface="Outfit" pitchFamily="34" charset="-122"/>
                <a:cs typeface="Outfit" pitchFamily="34" charset="-120"/>
              </a:rPr>
              <a:t>[Three or four sentences. The thing you discovered or were taught. What you did first. What happened next. How this became the way you work with people now.]</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THE REAL PROBLEM</a:t>
            </a:r>
            <a:endParaRPr lang="en-US" sz="1050" dirty="0"/>
          </a:p>
        </p:txBody>
      </p:sp>
      <p:sp>
        <p:nvSpPr>
          <p:cNvPr id="4" name="Text 1"/>
          <p:cNvSpPr txBox="1"/>
          <p:nvPr/>
        </p:nvSpPr>
        <p:spPr>
          <a:xfrm>
            <a:off x="548640" y="777240"/>
            <a:ext cx="11064240" cy="1005840"/>
          </a:xfrm>
          <a:prstGeom prst="rect">
            <a:avLst/>
          </a:prstGeom>
          <a:noFill/>
          <a:ln/>
        </p:spPr>
        <p:txBody>
          <a:bodyPr wrap="square" lIns="0" tIns="0" rIns="0" bIns="0" rtlCol="0" anchor="t">
            <a:normAutofit/>
          </a:bodyPr>
          <a:lstStyle/>
          <a:p>
            <a:pPr indent="0" marL="0">
              <a:buNone/>
            </a:pPr>
            <a:r>
              <a:rPr lang="en-US" sz="2600" i="1" dirty="0">
                <a:solidFill>
                  <a:srgbClr val="E8C878"/>
                </a:solidFill>
                <a:latin typeface="Instrument Serif" pitchFamily="34" charset="0"/>
                <a:ea typeface="Instrument Serif" pitchFamily="34" charset="-122"/>
                <a:cs typeface="Instrument Serif" pitchFamily="34" charset="-120"/>
              </a:rPr>
              <a:t>"[The sentence your person keeps saying to themselves, word for word.]"</a:t>
            </a:r>
            <a:endParaRPr lang="en-US" sz="2600" dirty="0"/>
          </a:p>
        </p:txBody>
      </p:sp>
      <p:sp>
        <p:nvSpPr>
          <p:cNvPr id="5" name="Shape 2"/>
          <p:cNvSpPr/>
          <p:nvPr/>
        </p:nvSpPr>
        <p:spPr>
          <a:xfrm>
            <a:off x="548640" y="2103120"/>
            <a:ext cx="11091672" cy="3291840"/>
          </a:xfrm>
          <a:prstGeom prst="roundRect">
            <a:avLst>
              <a:gd name="adj" fmla="val 5000"/>
            </a:avLst>
          </a:prstGeom>
          <a:solidFill>
            <a:srgbClr val="15121F"/>
          </a:solidFill>
          <a:ln w="9525">
            <a:solidFill>
              <a:srgbClr val="2A2540"/>
            </a:solidFill>
            <a:prstDash val="solid"/>
          </a:ln>
        </p:spPr>
      </p:sp>
      <p:sp>
        <p:nvSpPr>
          <p:cNvPr id="6" name="Text 3"/>
          <p:cNvSpPr txBox="1"/>
          <p:nvPr/>
        </p:nvSpPr>
        <p:spPr>
          <a:xfrm>
            <a:off x="868680" y="2286000"/>
            <a:ext cx="54864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WHAT IS ACTUALLY GOING ON</a:t>
            </a:r>
            <a:endParaRPr lang="en-US" sz="1050" dirty="0"/>
          </a:p>
        </p:txBody>
      </p:sp>
      <p:sp>
        <p:nvSpPr>
          <p:cNvPr id="7" name="Text 4"/>
          <p:cNvSpPr txBox="1"/>
          <p:nvPr/>
        </p:nvSpPr>
        <p:spPr>
          <a:xfrm>
            <a:off x="868680" y="2651760"/>
            <a:ext cx="10424160" cy="822960"/>
          </a:xfrm>
          <a:prstGeom prst="rect">
            <a:avLst/>
          </a:prstGeom>
          <a:noFill/>
          <a:ln/>
        </p:spPr>
        <p:txBody>
          <a:bodyPr wrap="square" lIns="0" tIns="0" rIns="0" bIns="0" rtlCol="0" anchor="t">
            <a:normAutofit/>
          </a:bodyPr>
          <a:lstStyle/>
          <a:p>
            <a:pPr indent="0" marL="0">
              <a:buNone/>
            </a:pPr>
            <a:r>
              <a:rPr lang="en-US" sz="2400" b="1" dirty="0">
                <a:solidFill>
                  <a:srgbClr val="F1EEFB"/>
                </a:solidFill>
                <a:latin typeface="Outfit" pitchFamily="34" charset="0"/>
                <a:ea typeface="Outfit" pitchFamily="34" charset="-122"/>
                <a:cs typeface="Outfit" pitchFamily="34" charset="-120"/>
              </a:rPr>
              <a:t>[The real problem in one line. Not the symptom they named, the cause underneath it.]</a:t>
            </a:r>
            <a:endParaRPr lang="en-US" sz="2400" dirty="0"/>
          </a:p>
        </p:txBody>
      </p:sp>
      <p:sp>
        <p:nvSpPr>
          <p:cNvPr id="8" name="Text 5"/>
          <p:cNvSpPr txBox="1"/>
          <p:nvPr/>
        </p:nvSpPr>
        <p:spPr>
          <a:xfrm>
            <a:off x="868680" y="3566160"/>
            <a:ext cx="10424160" cy="1645920"/>
          </a:xfrm>
          <a:prstGeom prst="rect">
            <a:avLst/>
          </a:prstGeom>
          <a:noFill/>
          <a:ln/>
        </p:spPr>
        <p:txBody>
          <a:bodyPr wrap="square" lIns="0" tIns="0" rIns="0" bIns="0" rtlCol="0" anchor="t">
            <a:normAutofit/>
          </a:bodyPr>
          <a:lstStyle/>
          <a:p>
            <a:pPr indent="0" marL="0">
              <a:buNone/>
            </a:pPr>
            <a:r>
              <a:rPr lang="en-US" sz="1500" dirty="0">
                <a:solidFill>
                  <a:srgbClr val="C9C3DD"/>
                </a:solidFill>
                <a:latin typeface="Outfit" pitchFamily="34" charset="0"/>
                <a:ea typeface="Outfit" pitchFamily="34" charset="-122"/>
                <a:cs typeface="Outfit" pitchFamily="34" charset="-120"/>
              </a:rPr>
              <a:t>[Three sentences on why the symptom and the cause are different things, and why fixing the symptom never worked. This is the #1 thing you find blocking people, brain dump question 6.]</a:t>
            </a:r>
            <a:endParaRPr lang="en-US" sz="1500" dirty="0"/>
          </a:p>
        </p:txBody>
      </p:sp>
      <p:sp>
        <p:nvSpPr>
          <p:cNvPr id="9" name="Text 6"/>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10" name="Text 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THE REAL PROBLEM</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Why it keeps happening</a:t>
            </a:r>
            <a:endParaRPr lang="en-US" sz="3000" dirty="0"/>
          </a:p>
        </p:txBody>
      </p:sp>
      <p:sp>
        <p:nvSpPr>
          <p:cNvPr id="5" name="Shape 2"/>
          <p:cNvSpPr/>
          <p:nvPr/>
        </p:nvSpPr>
        <p:spPr>
          <a:xfrm>
            <a:off x="548640" y="1783080"/>
            <a:ext cx="2622042" cy="3291840"/>
          </a:xfrm>
          <a:prstGeom prst="roundRect">
            <a:avLst>
              <a:gd name="adj" fmla="val 6277"/>
            </a:avLst>
          </a:prstGeom>
          <a:solidFill>
            <a:srgbClr val="15121F"/>
          </a:solidFill>
          <a:ln w="9525">
            <a:solidFill>
              <a:srgbClr val="2A2540"/>
            </a:solidFill>
            <a:prstDash val="solid"/>
          </a:ln>
        </p:spPr>
      </p:sp>
      <p:sp>
        <p:nvSpPr>
          <p:cNvPr id="6" name="Text 3"/>
          <p:cNvSpPr txBox="1"/>
          <p:nvPr/>
        </p:nvSpPr>
        <p:spPr>
          <a:xfrm>
            <a:off x="77724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77724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[Reason 1]</a:t>
            </a:r>
            <a:endParaRPr lang="en-US" sz="1500" dirty="0"/>
          </a:p>
        </p:txBody>
      </p:sp>
      <p:sp>
        <p:nvSpPr>
          <p:cNvPr id="8" name="Text 5"/>
          <p:cNvSpPr txBox="1"/>
          <p:nvPr/>
        </p:nvSpPr>
        <p:spPr>
          <a:xfrm>
            <a:off x="77724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or two lines. The pattern you see on every call.]</a:t>
            </a:r>
            <a:endParaRPr lang="en-US" sz="1300" dirty="0"/>
          </a:p>
        </p:txBody>
      </p:sp>
      <p:sp>
        <p:nvSpPr>
          <p:cNvPr id="9" name="Shape 6"/>
          <p:cNvSpPr/>
          <p:nvPr/>
        </p:nvSpPr>
        <p:spPr>
          <a:xfrm>
            <a:off x="3371850" y="1783080"/>
            <a:ext cx="2622042" cy="3291840"/>
          </a:xfrm>
          <a:prstGeom prst="roundRect">
            <a:avLst>
              <a:gd name="adj" fmla="val 6277"/>
            </a:avLst>
          </a:prstGeom>
          <a:solidFill>
            <a:srgbClr val="15121F"/>
          </a:solidFill>
          <a:ln w="9525">
            <a:solidFill>
              <a:srgbClr val="2A2540"/>
            </a:solidFill>
            <a:prstDash val="solid"/>
          </a:ln>
        </p:spPr>
      </p:sp>
      <p:sp>
        <p:nvSpPr>
          <p:cNvPr id="10" name="Text 7"/>
          <p:cNvSpPr txBox="1"/>
          <p:nvPr/>
        </p:nvSpPr>
        <p:spPr>
          <a:xfrm>
            <a:off x="360045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360045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[Reason 2]</a:t>
            </a:r>
            <a:endParaRPr lang="en-US" sz="1500" dirty="0"/>
          </a:p>
        </p:txBody>
      </p:sp>
      <p:sp>
        <p:nvSpPr>
          <p:cNvPr id="12" name="Text 9"/>
          <p:cNvSpPr txBox="1"/>
          <p:nvPr/>
        </p:nvSpPr>
        <p:spPr>
          <a:xfrm>
            <a:off x="360045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or two lines.]</a:t>
            </a:r>
            <a:endParaRPr lang="en-US" sz="1300" dirty="0"/>
          </a:p>
        </p:txBody>
      </p:sp>
      <p:sp>
        <p:nvSpPr>
          <p:cNvPr id="13" name="Shape 10"/>
          <p:cNvSpPr/>
          <p:nvPr/>
        </p:nvSpPr>
        <p:spPr>
          <a:xfrm>
            <a:off x="6195060" y="1783080"/>
            <a:ext cx="2622042" cy="3291840"/>
          </a:xfrm>
          <a:prstGeom prst="roundRect">
            <a:avLst>
              <a:gd name="adj" fmla="val 6277"/>
            </a:avLst>
          </a:prstGeom>
          <a:solidFill>
            <a:srgbClr val="15121F"/>
          </a:solidFill>
          <a:ln w="9525">
            <a:solidFill>
              <a:srgbClr val="2A2540"/>
            </a:solidFill>
            <a:prstDash val="solid"/>
          </a:ln>
        </p:spPr>
      </p:sp>
      <p:sp>
        <p:nvSpPr>
          <p:cNvPr id="14" name="Text 11"/>
          <p:cNvSpPr txBox="1"/>
          <p:nvPr/>
        </p:nvSpPr>
        <p:spPr>
          <a:xfrm>
            <a:off x="642366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642366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[Reason 3]</a:t>
            </a:r>
            <a:endParaRPr lang="en-US" sz="1500" dirty="0"/>
          </a:p>
        </p:txBody>
      </p:sp>
      <p:sp>
        <p:nvSpPr>
          <p:cNvPr id="16" name="Text 13"/>
          <p:cNvSpPr txBox="1"/>
          <p:nvPr/>
        </p:nvSpPr>
        <p:spPr>
          <a:xfrm>
            <a:off x="642366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or two lines.]</a:t>
            </a:r>
            <a:endParaRPr lang="en-US" sz="1300" dirty="0"/>
          </a:p>
        </p:txBody>
      </p:sp>
      <p:sp>
        <p:nvSpPr>
          <p:cNvPr id="17" name="Shape 14"/>
          <p:cNvSpPr/>
          <p:nvPr/>
        </p:nvSpPr>
        <p:spPr>
          <a:xfrm>
            <a:off x="9018270" y="1783080"/>
            <a:ext cx="2622042" cy="3291840"/>
          </a:xfrm>
          <a:prstGeom prst="roundRect">
            <a:avLst>
              <a:gd name="adj" fmla="val 6277"/>
            </a:avLst>
          </a:prstGeom>
          <a:solidFill>
            <a:srgbClr val="15121F"/>
          </a:solidFill>
          <a:ln w="9525">
            <a:solidFill>
              <a:srgbClr val="2A2540"/>
            </a:solidFill>
            <a:prstDash val="solid"/>
          </a:ln>
        </p:spPr>
      </p:sp>
      <p:sp>
        <p:nvSpPr>
          <p:cNvPr id="18" name="Text 15"/>
          <p:cNvSpPr txBox="1"/>
          <p:nvPr/>
        </p:nvSpPr>
        <p:spPr>
          <a:xfrm>
            <a:off x="924687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924687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[Reason 4]</a:t>
            </a:r>
            <a:endParaRPr lang="en-US" sz="1500" dirty="0"/>
          </a:p>
        </p:txBody>
      </p:sp>
      <p:sp>
        <p:nvSpPr>
          <p:cNvPr id="20" name="Text 17"/>
          <p:cNvSpPr txBox="1"/>
          <p:nvPr/>
        </p:nvSpPr>
        <p:spPr>
          <a:xfrm>
            <a:off x="924687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or two lines.]</a:t>
            </a:r>
            <a:endParaRPr lang="en-US" sz="1300" dirty="0"/>
          </a:p>
        </p:txBody>
      </p:sp>
      <p:sp>
        <p:nvSpPr>
          <p:cNvPr id="21" name="Text 18"/>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2" name="Text 19"/>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OLD BELIEFS</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Six beliefs that keep you stuck</a:t>
            </a:r>
            <a:endParaRPr lang="en-US" sz="3000" dirty="0"/>
          </a:p>
        </p:txBody>
      </p:sp>
      <p:sp>
        <p:nvSpPr>
          <p:cNvPr id="5" name="Shape 2"/>
          <p:cNvSpPr/>
          <p:nvPr/>
        </p:nvSpPr>
        <p:spPr>
          <a:xfrm>
            <a:off x="548640" y="1783080"/>
            <a:ext cx="3563112" cy="1874520"/>
          </a:xfrm>
          <a:prstGeom prst="roundRect">
            <a:avLst>
              <a:gd name="adj" fmla="val 8780"/>
            </a:avLst>
          </a:prstGeom>
          <a:solidFill>
            <a:srgbClr val="15121F"/>
          </a:solidFill>
          <a:ln w="9525">
            <a:solidFill>
              <a:srgbClr val="2A2540"/>
            </a:solidFill>
            <a:prstDash val="solid"/>
          </a:ln>
        </p:spPr>
      </p:sp>
      <p:sp>
        <p:nvSpPr>
          <p:cNvPr id="6" name="Text 3"/>
          <p:cNvSpPr txBox="1"/>
          <p:nvPr/>
        </p:nvSpPr>
        <p:spPr>
          <a:xfrm>
            <a:off x="77724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777240" y="23500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"[Old belief 1]"</a:t>
            </a:r>
            <a:endParaRPr lang="en-US" sz="1500" dirty="0"/>
          </a:p>
        </p:txBody>
      </p:sp>
      <p:sp>
        <p:nvSpPr>
          <p:cNvPr id="8" name="Text 5"/>
          <p:cNvSpPr txBox="1"/>
          <p:nvPr/>
        </p:nvSpPr>
        <p:spPr>
          <a:xfrm>
            <a:off x="777240" y="283464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reframe, one line.]</a:t>
            </a:r>
            <a:endParaRPr lang="en-US" sz="1300" dirty="0"/>
          </a:p>
        </p:txBody>
      </p:sp>
      <p:sp>
        <p:nvSpPr>
          <p:cNvPr id="9" name="Shape 6"/>
          <p:cNvSpPr/>
          <p:nvPr/>
        </p:nvSpPr>
        <p:spPr>
          <a:xfrm>
            <a:off x="4312920" y="1783080"/>
            <a:ext cx="3563112" cy="1874520"/>
          </a:xfrm>
          <a:prstGeom prst="roundRect">
            <a:avLst>
              <a:gd name="adj" fmla="val 8780"/>
            </a:avLst>
          </a:prstGeom>
          <a:solidFill>
            <a:srgbClr val="15121F"/>
          </a:solidFill>
          <a:ln w="9525">
            <a:solidFill>
              <a:srgbClr val="2A2540"/>
            </a:solidFill>
            <a:prstDash val="solid"/>
          </a:ln>
        </p:spPr>
      </p:sp>
      <p:sp>
        <p:nvSpPr>
          <p:cNvPr id="10" name="Text 7"/>
          <p:cNvSpPr txBox="1"/>
          <p:nvPr/>
        </p:nvSpPr>
        <p:spPr>
          <a:xfrm>
            <a:off x="454152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4541520" y="23500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"[Old belief 2]"</a:t>
            </a:r>
            <a:endParaRPr lang="en-US" sz="1500" dirty="0"/>
          </a:p>
        </p:txBody>
      </p:sp>
      <p:sp>
        <p:nvSpPr>
          <p:cNvPr id="12" name="Text 9"/>
          <p:cNvSpPr txBox="1"/>
          <p:nvPr/>
        </p:nvSpPr>
        <p:spPr>
          <a:xfrm>
            <a:off x="4541520" y="283464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reframe.]</a:t>
            </a:r>
            <a:endParaRPr lang="en-US" sz="1300" dirty="0"/>
          </a:p>
        </p:txBody>
      </p:sp>
      <p:sp>
        <p:nvSpPr>
          <p:cNvPr id="13" name="Shape 10"/>
          <p:cNvSpPr/>
          <p:nvPr/>
        </p:nvSpPr>
        <p:spPr>
          <a:xfrm>
            <a:off x="8077200" y="1783080"/>
            <a:ext cx="3563112" cy="1874520"/>
          </a:xfrm>
          <a:prstGeom prst="roundRect">
            <a:avLst>
              <a:gd name="adj" fmla="val 8780"/>
            </a:avLst>
          </a:prstGeom>
          <a:solidFill>
            <a:srgbClr val="15121F"/>
          </a:solidFill>
          <a:ln w="9525">
            <a:solidFill>
              <a:srgbClr val="2A2540"/>
            </a:solidFill>
            <a:prstDash val="solid"/>
          </a:ln>
        </p:spPr>
      </p:sp>
      <p:sp>
        <p:nvSpPr>
          <p:cNvPr id="14" name="Text 11"/>
          <p:cNvSpPr txBox="1"/>
          <p:nvPr/>
        </p:nvSpPr>
        <p:spPr>
          <a:xfrm>
            <a:off x="830580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8305800" y="23500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"[Old belief 3]"</a:t>
            </a:r>
            <a:endParaRPr lang="en-US" sz="1500" dirty="0"/>
          </a:p>
        </p:txBody>
      </p:sp>
      <p:sp>
        <p:nvSpPr>
          <p:cNvPr id="16" name="Text 13"/>
          <p:cNvSpPr txBox="1"/>
          <p:nvPr/>
        </p:nvSpPr>
        <p:spPr>
          <a:xfrm>
            <a:off x="8305800" y="283464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reframe.]</a:t>
            </a:r>
            <a:endParaRPr lang="en-US" sz="1300" dirty="0"/>
          </a:p>
        </p:txBody>
      </p:sp>
      <p:sp>
        <p:nvSpPr>
          <p:cNvPr id="17" name="Shape 14"/>
          <p:cNvSpPr/>
          <p:nvPr/>
        </p:nvSpPr>
        <p:spPr>
          <a:xfrm>
            <a:off x="548640" y="3858768"/>
            <a:ext cx="3563112" cy="1874520"/>
          </a:xfrm>
          <a:prstGeom prst="roundRect">
            <a:avLst>
              <a:gd name="adj" fmla="val 8780"/>
            </a:avLst>
          </a:prstGeom>
          <a:solidFill>
            <a:srgbClr val="15121F"/>
          </a:solidFill>
          <a:ln w="9525">
            <a:solidFill>
              <a:srgbClr val="2A2540"/>
            </a:solidFill>
            <a:prstDash val="solid"/>
          </a:ln>
        </p:spPr>
      </p:sp>
      <p:sp>
        <p:nvSpPr>
          <p:cNvPr id="18" name="Text 15"/>
          <p:cNvSpPr txBox="1"/>
          <p:nvPr/>
        </p:nvSpPr>
        <p:spPr>
          <a:xfrm>
            <a:off x="777240" y="40233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777240" y="4425696"/>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"[Old belief 4]"</a:t>
            </a:r>
            <a:endParaRPr lang="en-US" sz="1500" dirty="0"/>
          </a:p>
        </p:txBody>
      </p:sp>
      <p:sp>
        <p:nvSpPr>
          <p:cNvPr id="20" name="Text 17"/>
          <p:cNvSpPr txBox="1"/>
          <p:nvPr/>
        </p:nvSpPr>
        <p:spPr>
          <a:xfrm>
            <a:off x="777240" y="4910328"/>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reframe.]</a:t>
            </a:r>
            <a:endParaRPr lang="en-US" sz="1300" dirty="0"/>
          </a:p>
        </p:txBody>
      </p:sp>
      <p:sp>
        <p:nvSpPr>
          <p:cNvPr id="21" name="Shape 18"/>
          <p:cNvSpPr/>
          <p:nvPr/>
        </p:nvSpPr>
        <p:spPr>
          <a:xfrm>
            <a:off x="4312920" y="3858768"/>
            <a:ext cx="3563112" cy="1874520"/>
          </a:xfrm>
          <a:prstGeom prst="roundRect">
            <a:avLst>
              <a:gd name="adj" fmla="val 8780"/>
            </a:avLst>
          </a:prstGeom>
          <a:solidFill>
            <a:srgbClr val="15121F"/>
          </a:solidFill>
          <a:ln w="9525">
            <a:solidFill>
              <a:srgbClr val="2A2540"/>
            </a:solidFill>
            <a:prstDash val="solid"/>
          </a:ln>
        </p:spPr>
      </p:sp>
      <p:sp>
        <p:nvSpPr>
          <p:cNvPr id="22" name="Text 19"/>
          <p:cNvSpPr txBox="1"/>
          <p:nvPr/>
        </p:nvSpPr>
        <p:spPr>
          <a:xfrm>
            <a:off x="4541520" y="40233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05</a:t>
            </a:r>
            <a:endParaRPr lang="en-US" sz="2200" dirty="0"/>
          </a:p>
        </p:txBody>
      </p:sp>
      <p:sp>
        <p:nvSpPr>
          <p:cNvPr id="23" name="Text 20"/>
          <p:cNvSpPr txBox="1"/>
          <p:nvPr/>
        </p:nvSpPr>
        <p:spPr>
          <a:xfrm>
            <a:off x="4541520" y="4425696"/>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"[Old belief 5]"</a:t>
            </a:r>
            <a:endParaRPr lang="en-US" sz="1500" dirty="0"/>
          </a:p>
        </p:txBody>
      </p:sp>
      <p:sp>
        <p:nvSpPr>
          <p:cNvPr id="24" name="Text 21"/>
          <p:cNvSpPr txBox="1"/>
          <p:nvPr/>
        </p:nvSpPr>
        <p:spPr>
          <a:xfrm>
            <a:off x="4541520" y="4910328"/>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reframe.]</a:t>
            </a:r>
            <a:endParaRPr lang="en-US" sz="1300" dirty="0"/>
          </a:p>
        </p:txBody>
      </p:sp>
      <p:sp>
        <p:nvSpPr>
          <p:cNvPr id="25" name="Shape 22"/>
          <p:cNvSpPr/>
          <p:nvPr/>
        </p:nvSpPr>
        <p:spPr>
          <a:xfrm>
            <a:off x="8077200" y="3858768"/>
            <a:ext cx="3563112" cy="1874520"/>
          </a:xfrm>
          <a:prstGeom prst="roundRect">
            <a:avLst>
              <a:gd name="adj" fmla="val 8780"/>
            </a:avLst>
          </a:prstGeom>
          <a:solidFill>
            <a:srgbClr val="15121F"/>
          </a:solidFill>
          <a:ln w="9525">
            <a:solidFill>
              <a:srgbClr val="2A2540"/>
            </a:solidFill>
            <a:prstDash val="solid"/>
          </a:ln>
        </p:spPr>
      </p:sp>
      <p:sp>
        <p:nvSpPr>
          <p:cNvPr id="26" name="Text 23"/>
          <p:cNvSpPr txBox="1"/>
          <p:nvPr/>
        </p:nvSpPr>
        <p:spPr>
          <a:xfrm>
            <a:off x="8305800" y="40233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06</a:t>
            </a:r>
            <a:endParaRPr lang="en-US" sz="2200" dirty="0"/>
          </a:p>
        </p:txBody>
      </p:sp>
      <p:sp>
        <p:nvSpPr>
          <p:cNvPr id="27" name="Text 24"/>
          <p:cNvSpPr txBox="1"/>
          <p:nvPr/>
        </p:nvSpPr>
        <p:spPr>
          <a:xfrm>
            <a:off x="8305800" y="4425696"/>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"[Old belief 6]"</a:t>
            </a:r>
            <a:endParaRPr lang="en-US" sz="1500" dirty="0"/>
          </a:p>
        </p:txBody>
      </p:sp>
      <p:sp>
        <p:nvSpPr>
          <p:cNvPr id="28" name="Text 25"/>
          <p:cNvSpPr txBox="1"/>
          <p:nvPr/>
        </p:nvSpPr>
        <p:spPr>
          <a:xfrm>
            <a:off x="8305800" y="4910328"/>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reframe.]</a:t>
            </a:r>
            <a:endParaRPr lang="en-US" sz="1300" dirty="0"/>
          </a:p>
        </p:txBody>
      </p:sp>
      <p:sp>
        <p:nvSpPr>
          <p:cNvPr id="29" name="Text 26"/>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30" name="Text 2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WHO YOU BECOME</a:t>
            </a:r>
            <a:endParaRPr lang="en-US" sz="1050" dirty="0"/>
          </a:p>
        </p:txBody>
      </p:sp>
      <p:sp>
        <p:nvSpPr>
          <p:cNvPr id="4" name="Text 1"/>
          <p:cNvSpPr txBox="1"/>
          <p:nvPr/>
        </p:nvSpPr>
        <p:spPr>
          <a:xfrm>
            <a:off x="548640" y="777240"/>
            <a:ext cx="11064240" cy="914400"/>
          </a:xfrm>
          <a:prstGeom prst="rect">
            <a:avLst/>
          </a:prstGeom>
          <a:noFill/>
          <a:ln/>
        </p:spPr>
        <p:txBody>
          <a:bodyPr wrap="square" lIns="0" tIns="0" rIns="0" bIns="0" rtlCol="0" anchor="ctr">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On the other side of this, you become </a:t>
            </a:r>
            <a:pPr indent="0" marL="0">
              <a:buNone/>
            </a:pPr>
            <a:r>
              <a:rPr lang="en-US" sz="3000" b="1" i="1" dirty="0">
                <a:solidFill>
                  <a:srgbClr val="B79CF5"/>
                </a:solidFill>
                <a:latin typeface="Instrument Serif" pitchFamily="34" charset="0"/>
                <a:ea typeface="Instrument Serif" pitchFamily="34" charset="-122"/>
                <a:cs typeface="Instrument Serif" pitchFamily="34" charset="-120"/>
              </a:rPr>
              <a:t>[the identity, three or four words]</a:t>
            </a:r>
            <a:endParaRPr lang="en-US" sz="3000" dirty="0"/>
          </a:p>
        </p:txBody>
      </p:sp>
      <p:sp>
        <p:nvSpPr>
          <p:cNvPr id="5" name="Shape 2"/>
          <p:cNvSpPr/>
          <p:nvPr/>
        </p:nvSpPr>
        <p:spPr>
          <a:xfrm>
            <a:off x="548640" y="2011680"/>
            <a:ext cx="2622042" cy="3200400"/>
          </a:xfrm>
          <a:prstGeom prst="roundRect">
            <a:avLst>
              <a:gd name="adj" fmla="val 6277"/>
            </a:avLst>
          </a:prstGeom>
          <a:solidFill>
            <a:srgbClr val="15121F"/>
          </a:solidFill>
          <a:ln w="9525">
            <a:solidFill>
              <a:srgbClr val="2A2540"/>
            </a:solidFill>
            <a:prstDash val="solid"/>
          </a:ln>
        </p:spPr>
      </p:sp>
      <p:sp>
        <p:nvSpPr>
          <p:cNvPr id="6" name="Text 3"/>
          <p:cNvSpPr txBox="1"/>
          <p:nvPr/>
        </p:nvSpPr>
        <p:spPr>
          <a:xfrm>
            <a:off x="777240" y="21762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777240" y="25786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[Shift 1]</a:t>
            </a:r>
            <a:endParaRPr lang="en-US" sz="1500" dirty="0"/>
          </a:p>
        </p:txBody>
      </p:sp>
      <p:sp>
        <p:nvSpPr>
          <p:cNvPr id="8" name="Text 5"/>
          <p:cNvSpPr txBox="1"/>
          <p:nvPr/>
        </p:nvSpPr>
        <p:spPr>
          <a:xfrm>
            <a:off x="777240" y="3063240"/>
            <a:ext cx="2164842" cy="20116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[From this → to this.]</a:t>
            </a:r>
            <a:endParaRPr lang="en-US" sz="1300" dirty="0"/>
          </a:p>
        </p:txBody>
      </p:sp>
      <p:sp>
        <p:nvSpPr>
          <p:cNvPr id="9" name="Shape 6"/>
          <p:cNvSpPr/>
          <p:nvPr/>
        </p:nvSpPr>
        <p:spPr>
          <a:xfrm>
            <a:off x="3371850" y="2011680"/>
            <a:ext cx="2622042" cy="3200400"/>
          </a:xfrm>
          <a:prstGeom prst="roundRect">
            <a:avLst>
              <a:gd name="adj" fmla="val 6277"/>
            </a:avLst>
          </a:prstGeom>
          <a:solidFill>
            <a:srgbClr val="15121F"/>
          </a:solidFill>
          <a:ln w="9525">
            <a:solidFill>
              <a:srgbClr val="2A2540"/>
            </a:solidFill>
            <a:prstDash val="solid"/>
          </a:ln>
        </p:spPr>
      </p:sp>
      <p:sp>
        <p:nvSpPr>
          <p:cNvPr id="10" name="Text 7"/>
          <p:cNvSpPr txBox="1"/>
          <p:nvPr/>
        </p:nvSpPr>
        <p:spPr>
          <a:xfrm>
            <a:off x="3600450" y="21762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3600450" y="25786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[Shift 2]</a:t>
            </a:r>
            <a:endParaRPr lang="en-US" sz="1500" dirty="0"/>
          </a:p>
        </p:txBody>
      </p:sp>
      <p:sp>
        <p:nvSpPr>
          <p:cNvPr id="12" name="Text 9"/>
          <p:cNvSpPr txBox="1"/>
          <p:nvPr/>
        </p:nvSpPr>
        <p:spPr>
          <a:xfrm>
            <a:off x="3600450" y="3063240"/>
            <a:ext cx="2164842" cy="20116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[From this → to this.]</a:t>
            </a:r>
            <a:endParaRPr lang="en-US" sz="1300" dirty="0"/>
          </a:p>
        </p:txBody>
      </p:sp>
      <p:sp>
        <p:nvSpPr>
          <p:cNvPr id="13" name="Shape 10"/>
          <p:cNvSpPr/>
          <p:nvPr/>
        </p:nvSpPr>
        <p:spPr>
          <a:xfrm>
            <a:off x="6195060" y="2011680"/>
            <a:ext cx="2622042" cy="3200400"/>
          </a:xfrm>
          <a:prstGeom prst="roundRect">
            <a:avLst>
              <a:gd name="adj" fmla="val 6277"/>
            </a:avLst>
          </a:prstGeom>
          <a:solidFill>
            <a:srgbClr val="15121F"/>
          </a:solidFill>
          <a:ln w="9525">
            <a:solidFill>
              <a:srgbClr val="2A2540"/>
            </a:solidFill>
            <a:prstDash val="solid"/>
          </a:ln>
        </p:spPr>
      </p:sp>
      <p:sp>
        <p:nvSpPr>
          <p:cNvPr id="14" name="Text 11"/>
          <p:cNvSpPr txBox="1"/>
          <p:nvPr/>
        </p:nvSpPr>
        <p:spPr>
          <a:xfrm>
            <a:off x="6423660" y="21762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6423660" y="25786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[Shift 3]</a:t>
            </a:r>
            <a:endParaRPr lang="en-US" sz="1500" dirty="0"/>
          </a:p>
        </p:txBody>
      </p:sp>
      <p:sp>
        <p:nvSpPr>
          <p:cNvPr id="16" name="Text 13"/>
          <p:cNvSpPr txBox="1"/>
          <p:nvPr/>
        </p:nvSpPr>
        <p:spPr>
          <a:xfrm>
            <a:off x="6423660" y="3063240"/>
            <a:ext cx="2164842" cy="20116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[From this → to this.]</a:t>
            </a:r>
            <a:endParaRPr lang="en-US" sz="1300" dirty="0"/>
          </a:p>
        </p:txBody>
      </p:sp>
      <p:sp>
        <p:nvSpPr>
          <p:cNvPr id="17" name="Shape 14"/>
          <p:cNvSpPr/>
          <p:nvPr/>
        </p:nvSpPr>
        <p:spPr>
          <a:xfrm>
            <a:off x="9018270" y="2011680"/>
            <a:ext cx="2622042" cy="3200400"/>
          </a:xfrm>
          <a:prstGeom prst="roundRect">
            <a:avLst>
              <a:gd name="adj" fmla="val 6277"/>
            </a:avLst>
          </a:prstGeom>
          <a:solidFill>
            <a:srgbClr val="15121F"/>
          </a:solidFill>
          <a:ln w="9525">
            <a:solidFill>
              <a:srgbClr val="2A2540"/>
            </a:solidFill>
            <a:prstDash val="solid"/>
          </a:ln>
        </p:spPr>
      </p:sp>
      <p:sp>
        <p:nvSpPr>
          <p:cNvPr id="18" name="Text 15"/>
          <p:cNvSpPr txBox="1"/>
          <p:nvPr/>
        </p:nvSpPr>
        <p:spPr>
          <a:xfrm>
            <a:off x="9246870" y="21762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9246870" y="25786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[Shift 4]</a:t>
            </a:r>
            <a:endParaRPr lang="en-US" sz="1500" dirty="0"/>
          </a:p>
        </p:txBody>
      </p:sp>
      <p:sp>
        <p:nvSpPr>
          <p:cNvPr id="20" name="Text 17"/>
          <p:cNvSpPr txBox="1"/>
          <p:nvPr/>
        </p:nvSpPr>
        <p:spPr>
          <a:xfrm>
            <a:off x="9246870" y="3063240"/>
            <a:ext cx="2164842" cy="20116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[From this → to this.]</a:t>
            </a:r>
            <a:endParaRPr lang="en-US" sz="1300" dirty="0"/>
          </a:p>
        </p:txBody>
      </p:sp>
      <p:sp>
        <p:nvSpPr>
          <p:cNvPr id="21" name="Text 18"/>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2" name="Text 19"/>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THE ANSWER</a:t>
            </a:r>
            <a:endParaRPr lang="en-US" sz="1050" dirty="0"/>
          </a:p>
        </p:txBody>
      </p:sp>
      <p:sp>
        <p:nvSpPr>
          <p:cNvPr id="4" name="Text 1"/>
          <p:cNvSpPr txBox="1"/>
          <p:nvPr/>
        </p:nvSpPr>
        <p:spPr>
          <a:xfrm>
            <a:off x="548640" y="777240"/>
            <a:ext cx="11064240" cy="822960"/>
          </a:xfrm>
          <a:prstGeom prst="rect">
            <a:avLst/>
          </a:prstGeom>
          <a:noFill/>
          <a:ln/>
        </p:spPr>
        <p:txBody>
          <a:bodyPr wrap="square" lIns="0" tIns="0" rIns="0" bIns="0" rtlCol="0" anchor="ctr"/>
          <a:lstStyle/>
          <a:p>
            <a:pPr indent="0" marL="0">
              <a:buNone/>
            </a:pPr>
            <a:r>
              <a:rPr lang="en-US" sz="4000" b="1" dirty="0">
                <a:solidFill>
                  <a:srgbClr val="F1EEFB"/>
                </a:solidFill>
                <a:latin typeface="Outfit" pitchFamily="34" charset="0"/>
                <a:ea typeface="Outfit" pitchFamily="34" charset="-122"/>
                <a:cs typeface="Outfit" pitchFamily="34" charset="-120"/>
              </a:rPr>
              <a:t>The </a:t>
            </a:r>
            <a:pPr indent="0" marL="0">
              <a:buNone/>
            </a:pPr>
            <a:r>
              <a:rPr lang="en-US" sz="4000" b="1" i="1" dirty="0">
                <a:solidFill>
                  <a:srgbClr val="B79CF5"/>
                </a:solidFill>
                <a:latin typeface="Instrument Serif" pitchFamily="34" charset="0"/>
                <a:ea typeface="Instrument Serif" pitchFamily="34" charset="-122"/>
                <a:cs typeface="Instrument Serif" pitchFamily="34" charset="-120"/>
              </a:rPr>
              <a:t>[Name of your method or audit]</a:t>
            </a:r>
            <a:endParaRPr lang="en-US" sz="4000" dirty="0"/>
          </a:p>
        </p:txBody>
      </p:sp>
      <p:sp>
        <p:nvSpPr>
          <p:cNvPr id="5" name="Text 2"/>
          <p:cNvSpPr txBox="1"/>
          <p:nvPr/>
        </p:nvSpPr>
        <p:spPr>
          <a:xfrm>
            <a:off x="548640" y="1645920"/>
            <a:ext cx="11064240" cy="548640"/>
          </a:xfrm>
          <a:prstGeom prst="rect">
            <a:avLst/>
          </a:prstGeom>
          <a:noFill/>
          <a:ln/>
        </p:spPr>
        <p:txBody>
          <a:bodyPr wrap="square" lIns="0" tIns="0" rIns="0" bIns="0" rtlCol="0" anchor="t">
            <a:normAutofit/>
          </a:bodyPr>
          <a:lstStyle/>
          <a:p>
            <a:pPr indent="0" marL="0">
              <a:buNone/>
            </a:pPr>
            <a:r>
              <a:rPr lang="en-US" sz="1700" dirty="0">
                <a:solidFill>
                  <a:srgbClr val="F1EEFB"/>
                </a:solidFill>
                <a:latin typeface="Outfit" pitchFamily="34" charset="0"/>
                <a:ea typeface="Outfit" pitchFamily="34" charset="-122"/>
                <a:cs typeface="Outfit" pitchFamily="34" charset="-120"/>
              </a:rPr>
              <a:t>[One sentence: what it is and what it does for them.]</a:t>
            </a:r>
            <a:endParaRPr lang="en-US" sz="1700" dirty="0"/>
          </a:p>
        </p:txBody>
      </p:sp>
      <p:sp>
        <p:nvSpPr>
          <p:cNvPr id="6" name="Shape 3"/>
          <p:cNvSpPr/>
          <p:nvPr/>
        </p:nvSpPr>
        <p:spPr>
          <a:xfrm>
            <a:off x="548640" y="2468880"/>
            <a:ext cx="3563112" cy="2743200"/>
          </a:xfrm>
          <a:prstGeom prst="roundRect">
            <a:avLst>
              <a:gd name="adj" fmla="val 6000"/>
            </a:avLst>
          </a:prstGeom>
          <a:solidFill>
            <a:srgbClr val="15121F"/>
          </a:solidFill>
          <a:ln w="9525">
            <a:solidFill>
              <a:srgbClr val="2A2540"/>
            </a:solidFill>
            <a:prstDash val="solid"/>
          </a:ln>
        </p:spPr>
      </p:sp>
      <p:sp>
        <p:nvSpPr>
          <p:cNvPr id="7" name="Text 4"/>
          <p:cNvSpPr txBox="1"/>
          <p:nvPr/>
        </p:nvSpPr>
        <p:spPr>
          <a:xfrm>
            <a:off x="777240" y="26334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8" name="Text 5"/>
          <p:cNvSpPr txBox="1"/>
          <p:nvPr/>
        </p:nvSpPr>
        <p:spPr>
          <a:xfrm>
            <a:off x="777240" y="30358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1 name]</a:t>
            </a:r>
            <a:endParaRPr lang="en-US" sz="1500" dirty="0"/>
          </a:p>
        </p:txBody>
      </p:sp>
      <p:sp>
        <p:nvSpPr>
          <p:cNvPr id="9" name="Text 6"/>
          <p:cNvSpPr txBox="1"/>
          <p:nvPr/>
        </p:nvSpPr>
        <p:spPr>
          <a:xfrm>
            <a:off x="777240" y="3520440"/>
            <a:ext cx="3105912" cy="15544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do and what it gives them.]</a:t>
            </a:r>
            <a:endParaRPr lang="en-US" sz="1300" dirty="0"/>
          </a:p>
        </p:txBody>
      </p:sp>
      <p:sp>
        <p:nvSpPr>
          <p:cNvPr id="10" name="Shape 7"/>
          <p:cNvSpPr/>
          <p:nvPr/>
        </p:nvSpPr>
        <p:spPr>
          <a:xfrm>
            <a:off x="4312920" y="2468880"/>
            <a:ext cx="3563112" cy="2743200"/>
          </a:xfrm>
          <a:prstGeom prst="roundRect">
            <a:avLst>
              <a:gd name="adj" fmla="val 6000"/>
            </a:avLst>
          </a:prstGeom>
          <a:solidFill>
            <a:srgbClr val="15121F"/>
          </a:solidFill>
          <a:ln w="9525">
            <a:solidFill>
              <a:srgbClr val="2A2540"/>
            </a:solidFill>
            <a:prstDash val="solid"/>
          </a:ln>
        </p:spPr>
      </p:sp>
      <p:sp>
        <p:nvSpPr>
          <p:cNvPr id="11" name="Text 8"/>
          <p:cNvSpPr txBox="1"/>
          <p:nvPr/>
        </p:nvSpPr>
        <p:spPr>
          <a:xfrm>
            <a:off x="4541520" y="26334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2" name="Text 9"/>
          <p:cNvSpPr txBox="1"/>
          <p:nvPr/>
        </p:nvSpPr>
        <p:spPr>
          <a:xfrm>
            <a:off x="4541520" y="30358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2 name]</a:t>
            </a:r>
            <a:endParaRPr lang="en-US" sz="1500" dirty="0"/>
          </a:p>
        </p:txBody>
      </p:sp>
      <p:sp>
        <p:nvSpPr>
          <p:cNvPr id="13" name="Text 10"/>
          <p:cNvSpPr txBox="1"/>
          <p:nvPr/>
        </p:nvSpPr>
        <p:spPr>
          <a:xfrm>
            <a:off x="4541520" y="3520440"/>
            <a:ext cx="3105912" cy="15544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do and what it gives them.]</a:t>
            </a:r>
            <a:endParaRPr lang="en-US" sz="1300" dirty="0"/>
          </a:p>
        </p:txBody>
      </p:sp>
      <p:sp>
        <p:nvSpPr>
          <p:cNvPr id="14" name="Shape 11"/>
          <p:cNvSpPr/>
          <p:nvPr/>
        </p:nvSpPr>
        <p:spPr>
          <a:xfrm>
            <a:off x="8077200" y="2468880"/>
            <a:ext cx="3563112" cy="2743200"/>
          </a:xfrm>
          <a:prstGeom prst="roundRect">
            <a:avLst>
              <a:gd name="adj" fmla="val 6000"/>
            </a:avLst>
          </a:prstGeom>
          <a:solidFill>
            <a:srgbClr val="15121F"/>
          </a:solidFill>
          <a:ln w="9525">
            <a:solidFill>
              <a:srgbClr val="2A2540"/>
            </a:solidFill>
            <a:prstDash val="solid"/>
          </a:ln>
        </p:spPr>
      </p:sp>
      <p:sp>
        <p:nvSpPr>
          <p:cNvPr id="15" name="Text 12"/>
          <p:cNvSpPr txBox="1"/>
          <p:nvPr/>
        </p:nvSpPr>
        <p:spPr>
          <a:xfrm>
            <a:off x="8305800" y="26334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6" name="Text 13"/>
          <p:cNvSpPr txBox="1"/>
          <p:nvPr/>
        </p:nvSpPr>
        <p:spPr>
          <a:xfrm>
            <a:off x="8305800" y="303580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3 name]</a:t>
            </a:r>
            <a:endParaRPr lang="en-US" sz="1500" dirty="0"/>
          </a:p>
        </p:txBody>
      </p:sp>
      <p:sp>
        <p:nvSpPr>
          <p:cNvPr id="17" name="Text 14"/>
          <p:cNvSpPr txBox="1"/>
          <p:nvPr/>
        </p:nvSpPr>
        <p:spPr>
          <a:xfrm>
            <a:off x="8305800" y="3520440"/>
            <a:ext cx="3105912" cy="15544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do and what it gives them.]</a:t>
            </a:r>
            <a:endParaRPr lang="en-US" sz="1300" dirty="0"/>
          </a:p>
        </p:txBody>
      </p:sp>
      <p:sp>
        <p:nvSpPr>
          <p:cNvPr id="18" name="Text 15"/>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19" name="Text 1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WHY IT WORKS</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Four things this is built on</a:t>
            </a:r>
            <a:endParaRPr lang="en-US" sz="3000" dirty="0"/>
          </a:p>
        </p:txBody>
      </p:sp>
      <p:sp>
        <p:nvSpPr>
          <p:cNvPr id="5" name="Shape 2"/>
          <p:cNvSpPr/>
          <p:nvPr/>
        </p:nvSpPr>
        <p:spPr>
          <a:xfrm>
            <a:off x="548640" y="1783080"/>
            <a:ext cx="2622042" cy="3291840"/>
          </a:xfrm>
          <a:prstGeom prst="roundRect">
            <a:avLst>
              <a:gd name="adj" fmla="val 6277"/>
            </a:avLst>
          </a:prstGeom>
          <a:solidFill>
            <a:srgbClr val="15121F"/>
          </a:solidFill>
          <a:ln w="9525">
            <a:solidFill>
              <a:srgbClr val="2A2540"/>
            </a:solidFill>
            <a:prstDash val="solid"/>
          </a:ln>
        </p:spPr>
      </p:sp>
      <p:sp>
        <p:nvSpPr>
          <p:cNvPr id="6" name="Text 3"/>
          <p:cNvSpPr txBox="1"/>
          <p:nvPr/>
        </p:nvSpPr>
        <p:spPr>
          <a:xfrm>
            <a:off x="77724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77724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[Principle 1]</a:t>
            </a:r>
            <a:endParaRPr lang="en-US" sz="1500" dirty="0"/>
          </a:p>
        </p:txBody>
      </p:sp>
      <p:sp>
        <p:nvSpPr>
          <p:cNvPr id="8" name="Text 5"/>
          <p:cNvSpPr txBox="1"/>
          <p:nvPr/>
        </p:nvSpPr>
        <p:spPr>
          <a:xfrm>
            <a:off x="77724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[Why it matters, one or two lines.]</a:t>
            </a:r>
            <a:endParaRPr lang="en-US" sz="1300" dirty="0"/>
          </a:p>
        </p:txBody>
      </p:sp>
      <p:sp>
        <p:nvSpPr>
          <p:cNvPr id="9" name="Shape 6"/>
          <p:cNvSpPr/>
          <p:nvPr/>
        </p:nvSpPr>
        <p:spPr>
          <a:xfrm>
            <a:off x="3371850" y="1783080"/>
            <a:ext cx="2622042" cy="3291840"/>
          </a:xfrm>
          <a:prstGeom prst="roundRect">
            <a:avLst>
              <a:gd name="adj" fmla="val 6277"/>
            </a:avLst>
          </a:prstGeom>
          <a:solidFill>
            <a:srgbClr val="15121F"/>
          </a:solidFill>
          <a:ln w="9525">
            <a:solidFill>
              <a:srgbClr val="2A2540"/>
            </a:solidFill>
            <a:prstDash val="solid"/>
          </a:ln>
        </p:spPr>
      </p:sp>
      <p:sp>
        <p:nvSpPr>
          <p:cNvPr id="10" name="Text 7"/>
          <p:cNvSpPr txBox="1"/>
          <p:nvPr/>
        </p:nvSpPr>
        <p:spPr>
          <a:xfrm>
            <a:off x="360045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360045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[Principle 2]</a:t>
            </a:r>
            <a:endParaRPr lang="en-US" sz="1500" dirty="0"/>
          </a:p>
        </p:txBody>
      </p:sp>
      <p:sp>
        <p:nvSpPr>
          <p:cNvPr id="12" name="Text 9"/>
          <p:cNvSpPr txBox="1"/>
          <p:nvPr/>
        </p:nvSpPr>
        <p:spPr>
          <a:xfrm>
            <a:off x="360045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[Why it matters.]</a:t>
            </a:r>
            <a:endParaRPr lang="en-US" sz="1300" dirty="0"/>
          </a:p>
        </p:txBody>
      </p:sp>
      <p:sp>
        <p:nvSpPr>
          <p:cNvPr id="13" name="Shape 10"/>
          <p:cNvSpPr/>
          <p:nvPr/>
        </p:nvSpPr>
        <p:spPr>
          <a:xfrm>
            <a:off x="6195060" y="1783080"/>
            <a:ext cx="2622042" cy="3291840"/>
          </a:xfrm>
          <a:prstGeom prst="roundRect">
            <a:avLst>
              <a:gd name="adj" fmla="val 6277"/>
            </a:avLst>
          </a:prstGeom>
          <a:solidFill>
            <a:srgbClr val="15121F"/>
          </a:solidFill>
          <a:ln w="9525">
            <a:solidFill>
              <a:srgbClr val="2A2540"/>
            </a:solidFill>
            <a:prstDash val="solid"/>
          </a:ln>
        </p:spPr>
      </p:sp>
      <p:sp>
        <p:nvSpPr>
          <p:cNvPr id="14" name="Text 11"/>
          <p:cNvSpPr txBox="1"/>
          <p:nvPr/>
        </p:nvSpPr>
        <p:spPr>
          <a:xfrm>
            <a:off x="642366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642366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[Principle 3]</a:t>
            </a:r>
            <a:endParaRPr lang="en-US" sz="1500" dirty="0"/>
          </a:p>
        </p:txBody>
      </p:sp>
      <p:sp>
        <p:nvSpPr>
          <p:cNvPr id="16" name="Text 13"/>
          <p:cNvSpPr txBox="1"/>
          <p:nvPr/>
        </p:nvSpPr>
        <p:spPr>
          <a:xfrm>
            <a:off x="642366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[Why it matters.]</a:t>
            </a:r>
            <a:endParaRPr lang="en-US" sz="1300" dirty="0"/>
          </a:p>
        </p:txBody>
      </p:sp>
      <p:sp>
        <p:nvSpPr>
          <p:cNvPr id="17" name="Shape 14"/>
          <p:cNvSpPr/>
          <p:nvPr/>
        </p:nvSpPr>
        <p:spPr>
          <a:xfrm>
            <a:off x="9018270" y="1783080"/>
            <a:ext cx="2622042" cy="3291840"/>
          </a:xfrm>
          <a:prstGeom prst="roundRect">
            <a:avLst>
              <a:gd name="adj" fmla="val 6277"/>
            </a:avLst>
          </a:prstGeom>
          <a:solidFill>
            <a:srgbClr val="15121F"/>
          </a:solidFill>
          <a:ln w="9525">
            <a:solidFill>
              <a:srgbClr val="2A2540"/>
            </a:solidFill>
            <a:prstDash val="solid"/>
          </a:ln>
        </p:spPr>
      </p:sp>
      <p:sp>
        <p:nvSpPr>
          <p:cNvPr id="18" name="Text 15"/>
          <p:cNvSpPr txBox="1"/>
          <p:nvPr/>
        </p:nvSpPr>
        <p:spPr>
          <a:xfrm>
            <a:off x="9246870" y="194767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9246870" y="2350008"/>
            <a:ext cx="216484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[Principle 4]</a:t>
            </a:r>
            <a:endParaRPr lang="en-US" sz="1500" dirty="0"/>
          </a:p>
        </p:txBody>
      </p:sp>
      <p:sp>
        <p:nvSpPr>
          <p:cNvPr id="20" name="Text 17"/>
          <p:cNvSpPr txBox="1"/>
          <p:nvPr/>
        </p:nvSpPr>
        <p:spPr>
          <a:xfrm>
            <a:off x="9246870" y="2834640"/>
            <a:ext cx="2164842" cy="210312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[Why it matters.]</a:t>
            </a:r>
            <a:endParaRPr lang="en-US" sz="1300" dirty="0"/>
          </a:p>
        </p:txBody>
      </p:sp>
      <p:sp>
        <p:nvSpPr>
          <p:cNvPr id="21" name="Text 18"/>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2" name="Text 19"/>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hoto.jpg">    </p:cNvPr>
          <p:cNvPicPr>
            <a:picLocks noChangeAspect="1"/>
          </p:cNvPicPr>
          <p:nvPr/>
        </p:nvPicPr>
        <p:blipFill>
          <a:blip r:embed="rId2"/>
          <a:stretch>
            <a:fillRect/>
          </a:stretch>
        </p:blipFill>
        <p:spPr>
          <a:xfrm>
            <a:off x="6336792" y="0"/>
            <a:ext cx="5852160" cy="6858000"/>
          </a:xfrm>
          <a:prstGeom prst="rect">
            <a:avLst/>
          </a:prstGeom>
        </p:spPr>
      </p:pic>
      <p:sp>
        <p:nvSpPr>
          <p:cNvPr id="4" name="Shape 0"/>
          <p:cNvSpPr/>
          <p:nvPr/>
        </p:nvSpPr>
        <p:spPr>
          <a:xfrm>
            <a:off x="6336792" y="0"/>
            <a:ext cx="822960" cy="6858000"/>
          </a:xfrm>
          <a:prstGeom prst="rect">
            <a:avLst/>
          </a:prstGeom>
          <a:solidFill>
            <a:srgbClr val="0B0A12">
              <a:alpha val="60000"/>
            </a:srgbClr>
          </a:solidFill>
          <a:ln w="12700">
            <a:solidFill>
              <a:srgbClr val="0B0A12">
                <a:alpha val="0"/>
              </a:srgbClr>
            </a:solidFill>
            <a:prstDash val="solid"/>
          </a:ln>
        </p:spPr>
      </p:sp>
      <p:sp>
        <p:nvSpPr>
          <p:cNvPr id="5" name="Text 1"/>
          <p:cNvSpPr txBox="1"/>
          <p:nvPr/>
        </p:nvSpPr>
        <p:spPr>
          <a:xfrm>
            <a:off x="548640" y="822960"/>
            <a:ext cx="5120640" cy="2011680"/>
          </a:xfrm>
          <a:prstGeom prst="rect">
            <a:avLst/>
          </a:prstGeom>
          <a:noFill/>
          <a:ln/>
        </p:spPr>
        <p:txBody>
          <a:bodyPr wrap="square" lIns="0" tIns="0" rIns="0" bIns="0" rtlCol="0" anchor="ctr">
            <a:normAutofit/>
          </a:bodyPr>
          <a:lstStyle/>
          <a:p>
            <a:pPr indent="0" marL="0">
              <a:buNone/>
            </a:pPr>
            <a:r>
              <a:rPr lang="en-US" sz="12000" i="1" dirty="0">
                <a:solidFill>
                  <a:srgbClr val="B79CF5"/>
                </a:solidFill>
                <a:latin typeface="Instrument Serif" pitchFamily="34" charset="0"/>
                <a:ea typeface="Instrument Serif" pitchFamily="34" charset="-122"/>
                <a:cs typeface="Instrument Serif" pitchFamily="34" charset="-120"/>
              </a:rPr>
              <a:t>01</a:t>
            </a:r>
            <a:endParaRPr lang="en-US" sz="12000" dirty="0"/>
          </a:p>
        </p:txBody>
      </p:sp>
      <p:sp>
        <p:nvSpPr>
          <p:cNvPr id="6" name="Text 2"/>
          <p:cNvSpPr txBox="1"/>
          <p:nvPr/>
        </p:nvSpPr>
        <p:spPr>
          <a:xfrm>
            <a:off x="548640" y="2926080"/>
            <a:ext cx="5394960" cy="1005840"/>
          </a:xfrm>
          <a:prstGeom prst="rect">
            <a:avLst/>
          </a:prstGeom>
          <a:noFill/>
          <a:ln/>
        </p:spPr>
        <p:txBody>
          <a:bodyPr wrap="square" lIns="0" tIns="0" rIns="0" bIns="0" rtlCol="0" anchor="ctr">
            <a:normAutofit/>
          </a:bodyPr>
          <a:lstStyle/>
          <a:p>
            <a:pPr indent="0" marL="0">
              <a:buNone/>
            </a:pPr>
            <a:r>
              <a:rPr lang="en-US" sz="4800" b="1" dirty="0">
                <a:solidFill>
                  <a:srgbClr val="F1EEFB"/>
                </a:solidFill>
                <a:latin typeface="Outfit" pitchFamily="34" charset="0"/>
                <a:ea typeface="Outfit" pitchFamily="34" charset="-122"/>
                <a:cs typeface="Outfit" pitchFamily="34" charset="-120"/>
              </a:rPr>
              <a:t>[Step 1 name]</a:t>
            </a:r>
            <a:endParaRPr lang="en-US" sz="4800" dirty="0"/>
          </a:p>
        </p:txBody>
      </p:sp>
      <p:sp>
        <p:nvSpPr>
          <p:cNvPr id="7" name="Text 3"/>
          <p:cNvSpPr txBox="1"/>
          <p:nvPr/>
        </p:nvSpPr>
        <p:spPr>
          <a:xfrm>
            <a:off x="548640" y="4069080"/>
            <a:ext cx="5394960" cy="1097280"/>
          </a:xfrm>
          <a:prstGeom prst="rect">
            <a:avLst/>
          </a:prstGeom>
          <a:noFill/>
          <a:ln/>
        </p:spPr>
        <p:txBody>
          <a:bodyPr wrap="square" lIns="0" tIns="0" rIns="0" bIns="0" rtlCol="0" anchor="t">
            <a:normAutofit/>
          </a:bodyPr>
          <a:lstStyle/>
          <a:p>
            <a:pPr indent="0" marL="0">
              <a:buNone/>
            </a:pPr>
            <a:r>
              <a:rPr lang="en-US" sz="1200" spc="300" kern="0" dirty="0">
                <a:solidFill>
                  <a:srgbClr val="E8C878"/>
                </a:solidFill>
                <a:latin typeface="DM Mono" pitchFamily="34" charset="0"/>
                <a:ea typeface="DM Mono" pitchFamily="34" charset="-122"/>
                <a:cs typeface="DM Mono" pitchFamily="34" charset="-120"/>
              </a:rPr>
              <a:t>[ONE LINE: WHAT STEP ONE IS, IN PLAIN WORDS]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STEP 1</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[Step 1 in one sentence: the first thing to get right]</a:t>
            </a:r>
            <a:endParaRPr lang="en-US" sz="3000" dirty="0"/>
          </a:p>
        </p:txBody>
      </p:sp>
      <p:sp>
        <p:nvSpPr>
          <p:cNvPr id="5" name="Shape 2"/>
          <p:cNvSpPr/>
          <p:nvPr/>
        </p:nvSpPr>
        <p:spPr>
          <a:xfrm>
            <a:off x="548640" y="1737360"/>
            <a:ext cx="11091672" cy="731520"/>
          </a:xfrm>
          <a:prstGeom prst="roundRect">
            <a:avLst>
              <a:gd name="adj" fmla="val 22500"/>
            </a:avLst>
          </a:prstGeom>
          <a:solidFill>
            <a:srgbClr val="1C1829"/>
          </a:solidFill>
          <a:ln w="9525">
            <a:solidFill>
              <a:srgbClr val="2A2540"/>
            </a:solidFill>
            <a:prstDash val="solid"/>
          </a:ln>
        </p:spPr>
      </p:sp>
      <p:sp>
        <p:nvSpPr>
          <p:cNvPr id="6" name="Text 3"/>
          <p:cNvSpPr txBox="1"/>
          <p:nvPr/>
        </p:nvSpPr>
        <p:spPr>
          <a:xfrm>
            <a:off x="822960" y="1737360"/>
            <a:ext cx="10515600" cy="731520"/>
          </a:xfrm>
          <a:prstGeom prst="rect">
            <a:avLst/>
          </a:prstGeom>
          <a:noFill/>
          <a:ln/>
        </p:spPr>
        <p:txBody>
          <a:bodyPr wrap="square" lIns="0" tIns="0" rIns="0" bIns="0" rtlCol="0" anchor="ctr">
            <a:normAutofit/>
          </a:bodyPr>
          <a:lstStyle/>
          <a:p>
            <a:pPr indent="0" marL="0">
              <a:buNone/>
            </a:pPr>
            <a:r>
              <a:rPr lang="en-US" sz="1150" spc="200" kern="0" dirty="0">
                <a:solidFill>
                  <a:srgbClr val="E8C878"/>
                </a:solidFill>
                <a:latin typeface="DM Mono" pitchFamily="34" charset="0"/>
                <a:ea typeface="DM Mono" pitchFamily="34" charset="-122"/>
                <a:cs typeface="DM Mono" pitchFamily="34" charset="-120"/>
              </a:rPr>
              <a:t>[THE KEY IDEA OF STEP ONE, ONE LINE]</a:t>
            </a:r>
            <a:endParaRPr lang="en-US" sz="1150" dirty="0"/>
          </a:p>
        </p:txBody>
      </p:sp>
      <p:sp>
        <p:nvSpPr>
          <p:cNvPr id="7" name="Shape 4"/>
          <p:cNvSpPr/>
          <p:nvPr/>
        </p:nvSpPr>
        <p:spPr>
          <a:xfrm>
            <a:off x="548640" y="2697480"/>
            <a:ext cx="3639312" cy="2514600"/>
          </a:xfrm>
          <a:prstGeom prst="roundRect">
            <a:avLst>
              <a:gd name="adj" fmla="val 6545"/>
            </a:avLst>
          </a:prstGeom>
          <a:solidFill>
            <a:srgbClr val="15121F"/>
          </a:solidFill>
          <a:ln w="9525">
            <a:solidFill>
              <a:srgbClr val="2A2540"/>
            </a:solidFill>
            <a:prstDash val="solid"/>
          </a:ln>
        </p:spPr>
      </p:sp>
      <p:sp>
        <p:nvSpPr>
          <p:cNvPr id="8" name="Text 5"/>
          <p:cNvSpPr txBox="1"/>
          <p:nvPr/>
        </p:nvSpPr>
        <p:spPr>
          <a:xfrm>
            <a:off x="777240" y="2880360"/>
            <a:ext cx="32004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WHAT TO DO</a:t>
            </a:r>
            <a:endParaRPr lang="en-US" sz="1050" dirty="0"/>
          </a:p>
        </p:txBody>
      </p:sp>
      <p:sp>
        <p:nvSpPr>
          <p:cNvPr id="9" name="Text 6"/>
          <p:cNvSpPr txBox="1"/>
          <p:nvPr/>
        </p:nvSpPr>
        <p:spPr>
          <a:xfrm>
            <a:off x="77724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[What they do, in two or three sentences.]</a:t>
            </a:r>
            <a:endParaRPr lang="en-US" sz="1400" dirty="0"/>
          </a:p>
        </p:txBody>
      </p:sp>
      <p:sp>
        <p:nvSpPr>
          <p:cNvPr id="10" name="Shape 7"/>
          <p:cNvSpPr/>
          <p:nvPr/>
        </p:nvSpPr>
        <p:spPr>
          <a:xfrm>
            <a:off x="4274820" y="2697480"/>
            <a:ext cx="3639312" cy="2514600"/>
          </a:xfrm>
          <a:prstGeom prst="roundRect">
            <a:avLst>
              <a:gd name="adj" fmla="val 6545"/>
            </a:avLst>
          </a:prstGeom>
          <a:solidFill>
            <a:srgbClr val="15121F"/>
          </a:solidFill>
          <a:ln w="9525">
            <a:solidFill>
              <a:srgbClr val="2A2540"/>
            </a:solidFill>
            <a:prstDash val="solid"/>
          </a:ln>
        </p:spPr>
      </p:sp>
      <p:sp>
        <p:nvSpPr>
          <p:cNvPr id="11" name="Text 8"/>
          <p:cNvSpPr txBox="1"/>
          <p:nvPr/>
        </p:nvSpPr>
        <p:spPr>
          <a:xfrm>
            <a:off x="4503420" y="2880360"/>
            <a:ext cx="32004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HOW TO DO IT</a:t>
            </a:r>
            <a:endParaRPr lang="en-US" sz="1050" dirty="0"/>
          </a:p>
        </p:txBody>
      </p:sp>
      <p:sp>
        <p:nvSpPr>
          <p:cNvPr id="12" name="Text 9"/>
          <p:cNvSpPr txBox="1"/>
          <p:nvPr/>
        </p:nvSpPr>
        <p:spPr>
          <a:xfrm>
            <a:off x="450342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[How, with one concrete example.]</a:t>
            </a:r>
            <a:endParaRPr lang="en-US" sz="1400" dirty="0"/>
          </a:p>
        </p:txBody>
      </p:sp>
      <p:sp>
        <p:nvSpPr>
          <p:cNvPr id="13" name="Shape 10"/>
          <p:cNvSpPr/>
          <p:nvPr/>
        </p:nvSpPr>
        <p:spPr>
          <a:xfrm>
            <a:off x="8001000" y="2697480"/>
            <a:ext cx="3639312" cy="2514600"/>
          </a:xfrm>
          <a:prstGeom prst="roundRect">
            <a:avLst>
              <a:gd name="adj" fmla="val 6545"/>
            </a:avLst>
          </a:prstGeom>
          <a:solidFill>
            <a:srgbClr val="15121F"/>
          </a:solidFill>
          <a:ln w="9525">
            <a:solidFill>
              <a:srgbClr val="2A2540"/>
            </a:solidFill>
            <a:prstDash val="solid"/>
          </a:ln>
        </p:spPr>
      </p:sp>
      <p:sp>
        <p:nvSpPr>
          <p:cNvPr id="14" name="Text 11"/>
          <p:cNvSpPr txBox="1"/>
          <p:nvPr/>
        </p:nvSpPr>
        <p:spPr>
          <a:xfrm>
            <a:off x="8229600" y="2880360"/>
            <a:ext cx="3200400" cy="274320"/>
          </a:xfrm>
          <a:prstGeom prst="rect">
            <a:avLst/>
          </a:prstGeom>
          <a:noFill/>
          <a:ln/>
        </p:spPr>
        <p:txBody>
          <a:bodyPr wrap="square" lIns="0" tIns="0" rIns="0" bIns="0" rtlCol="0" anchor="ctr"/>
          <a:lstStyle/>
          <a:p>
            <a:pPr indent="0" marL="0">
              <a:buNone/>
            </a:pPr>
            <a:r>
              <a:rPr lang="en-US" sz="1050" spc="300" kern="0" dirty="0">
                <a:solidFill>
                  <a:srgbClr val="F08BB0"/>
                </a:solidFill>
                <a:latin typeface="DM Mono" pitchFamily="34" charset="0"/>
                <a:ea typeface="DM Mono" pitchFamily="34" charset="-122"/>
                <a:cs typeface="DM Mono" pitchFamily="34" charset="-120"/>
              </a:rPr>
              <a:t>THE MISTAKE TO AVOID</a:t>
            </a:r>
            <a:endParaRPr lang="en-US" sz="1050" dirty="0"/>
          </a:p>
        </p:txBody>
      </p:sp>
      <p:sp>
        <p:nvSpPr>
          <p:cNvPr id="15" name="Text 12"/>
          <p:cNvSpPr txBox="1"/>
          <p:nvPr/>
        </p:nvSpPr>
        <p:spPr>
          <a:xfrm>
            <a:off x="822960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[The mistake almost everyone makes here, and what it costs them.]</a:t>
            </a:r>
            <a:endParaRPr lang="en-US" sz="1400" dirty="0"/>
          </a:p>
        </p:txBody>
      </p:sp>
      <p:sp>
        <p:nvSpPr>
          <p:cNvPr id="16" name="Text 13"/>
          <p:cNvSpPr txBox="1"/>
          <p:nvPr/>
        </p:nvSpPr>
        <p:spPr>
          <a:xfrm>
            <a:off x="548640" y="5394960"/>
            <a:ext cx="11064240" cy="731520"/>
          </a:xfrm>
          <a:prstGeom prst="rect">
            <a:avLst/>
          </a:prstGeom>
          <a:noFill/>
          <a:ln/>
        </p:spPr>
        <p:txBody>
          <a:bodyPr wrap="square" lIns="0" tIns="0" rIns="0" bIns="0" rtlCol="0" anchor="ctr">
            <a:normAutofit/>
          </a:bodyP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[Why this step matters, one line they will remember.]</a:t>
            </a:r>
            <a:endParaRPr lang="en-US" sz="2200" dirty="0"/>
          </a:p>
        </p:txBody>
      </p:sp>
      <p:sp>
        <p:nvSpPr>
          <p:cNvPr id="17" name="Text 14"/>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18" name="Text 1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STEP 1 · EXAMPLE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Example: [who this is about]</a:t>
            </a:r>
            <a:endParaRPr lang="en-US" sz="3000" dirty="0"/>
          </a:p>
        </p:txBody>
      </p:sp>
      <p:sp>
        <p:nvSpPr>
          <p:cNvPr id="5" name="Shape 2"/>
          <p:cNvSpPr/>
          <p:nvPr/>
        </p:nvSpPr>
        <p:spPr>
          <a:xfrm>
            <a:off x="548640" y="1783080"/>
            <a:ext cx="2697480" cy="3383280"/>
          </a:xfrm>
          <a:prstGeom prst="roundRect">
            <a:avLst>
              <a:gd name="adj" fmla="val 6102"/>
            </a:avLst>
          </a:prstGeom>
          <a:solidFill>
            <a:srgbClr val="15121F"/>
          </a:solidFill>
          <a:ln w="9525">
            <a:solidFill>
              <a:srgbClr val="2A2540"/>
            </a:solidFill>
            <a:prstDash val="solid"/>
          </a:ln>
        </p:spPr>
      </p:sp>
      <p:sp>
        <p:nvSpPr>
          <p:cNvPr id="6" name="Text 3"/>
          <p:cNvSpPr txBox="1"/>
          <p:nvPr/>
        </p:nvSpPr>
        <p:spPr>
          <a:xfrm>
            <a:off x="3136392" y="3200400"/>
            <a:ext cx="365760" cy="457200"/>
          </a:xfrm>
          <a:prstGeom prst="rect">
            <a:avLst/>
          </a:prstGeom>
          <a:noFill/>
          <a:ln/>
        </p:spPr>
        <p:txBody>
          <a:bodyPr wrap="square" lIns="0" tIns="0" rIns="0" bIns="0" rtlCol="0" anchor="ctr"/>
          <a:lstStyle/>
          <a:p>
            <a:pPr algn="ctr" indent="0" marL="0">
              <a:buNone/>
            </a:pPr>
            <a:r>
              <a:rPr lang="en-US" sz="2000" dirty="0">
                <a:solidFill>
                  <a:srgbClr val="8B85A3"/>
                </a:solidFill>
              </a:rPr>
              <a:t>→</a:t>
            </a:r>
            <a:endParaRPr lang="en-US" sz="2000" dirty="0"/>
          </a:p>
        </p:txBody>
      </p:sp>
      <p:sp>
        <p:nvSpPr>
          <p:cNvPr id="7" name="Text 4"/>
          <p:cNvSpPr txBox="1"/>
          <p:nvPr/>
        </p:nvSpPr>
        <p:spPr>
          <a:xfrm>
            <a:off x="777240" y="1965960"/>
            <a:ext cx="22860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STAGE 1</a:t>
            </a:r>
            <a:endParaRPr lang="en-US" sz="1050" dirty="0"/>
          </a:p>
        </p:txBody>
      </p:sp>
      <p:sp>
        <p:nvSpPr>
          <p:cNvPr id="8" name="Text 5"/>
          <p:cNvSpPr txBox="1"/>
          <p:nvPr/>
        </p:nvSpPr>
        <p:spPr>
          <a:xfrm>
            <a:off x="777240" y="2286000"/>
            <a:ext cx="2286000" cy="822960"/>
          </a:xfrm>
          <a:prstGeom prst="rect">
            <a:avLst/>
          </a:prstGeom>
          <a:noFill/>
          <a:ln/>
        </p:spPr>
        <p:txBody>
          <a:bodyPr wrap="square" lIns="0" tIns="0" rIns="0" bIns="0" rtlCol="0" anchor="t">
            <a:normAutofit/>
          </a:bodyPr>
          <a:lstStyle/>
          <a:p>
            <a:pPr indent="0" marL="0">
              <a:buNone/>
            </a:pPr>
            <a:r>
              <a:rPr lang="en-US" sz="1800" b="1" dirty="0">
                <a:solidFill>
                  <a:srgbClr val="F1EEFB"/>
                </a:solidFill>
                <a:latin typeface="Outfit" pitchFamily="34" charset="0"/>
                <a:ea typeface="Outfit" pitchFamily="34" charset="-122"/>
                <a:cs typeface="Outfit" pitchFamily="34" charset="-120"/>
              </a:rPr>
              <a:t>[Before]</a:t>
            </a:r>
            <a:endParaRPr lang="en-US" sz="1800" dirty="0"/>
          </a:p>
        </p:txBody>
      </p:sp>
      <p:sp>
        <p:nvSpPr>
          <p:cNvPr id="9" name="Text 6"/>
          <p:cNvSpPr txBox="1"/>
          <p:nvPr/>
        </p:nvSpPr>
        <p:spPr>
          <a:xfrm>
            <a:off x="777240"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[Where they were, two lines.]</a:t>
            </a:r>
            <a:endParaRPr lang="en-US" sz="1300" dirty="0"/>
          </a:p>
        </p:txBody>
      </p:sp>
      <p:sp>
        <p:nvSpPr>
          <p:cNvPr id="10" name="Shape 7"/>
          <p:cNvSpPr/>
          <p:nvPr/>
        </p:nvSpPr>
        <p:spPr>
          <a:xfrm>
            <a:off x="3346704" y="1783080"/>
            <a:ext cx="2697480" cy="3383280"/>
          </a:xfrm>
          <a:prstGeom prst="roundRect">
            <a:avLst>
              <a:gd name="adj" fmla="val 6102"/>
            </a:avLst>
          </a:prstGeom>
          <a:solidFill>
            <a:srgbClr val="15121F"/>
          </a:solidFill>
          <a:ln w="9525">
            <a:solidFill>
              <a:srgbClr val="2A2540"/>
            </a:solidFill>
            <a:prstDash val="solid"/>
          </a:ln>
        </p:spPr>
      </p:sp>
      <p:sp>
        <p:nvSpPr>
          <p:cNvPr id="11" name="Text 8"/>
          <p:cNvSpPr txBox="1"/>
          <p:nvPr/>
        </p:nvSpPr>
        <p:spPr>
          <a:xfrm>
            <a:off x="5934456" y="3200400"/>
            <a:ext cx="365760" cy="457200"/>
          </a:xfrm>
          <a:prstGeom prst="rect">
            <a:avLst/>
          </a:prstGeom>
          <a:noFill/>
          <a:ln/>
        </p:spPr>
        <p:txBody>
          <a:bodyPr wrap="square" lIns="0" tIns="0" rIns="0" bIns="0" rtlCol="0" anchor="ctr"/>
          <a:lstStyle/>
          <a:p>
            <a:pPr algn="ctr" indent="0" marL="0">
              <a:buNone/>
            </a:pPr>
            <a:r>
              <a:rPr lang="en-US" sz="2000" dirty="0">
                <a:solidFill>
                  <a:srgbClr val="8B85A3"/>
                </a:solidFill>
              </a:rPr>
              <a:t>→</a:t>
            </a:r>
            <a:endParaRPr lang="en-US" sz="2000" dirty="0"/>
          </a:p>
        </p:txBody>
      </p:sp>
      <p:sp>
        <p:nvSpPr>
          <p:cNvPr id="12" name="Text 9"/>
          <p:cNvSpPr txBox="1"/>
          <p:nvPr/>
        </p:nvSpPr>
        <p:spPr>
          <a:xfrm>
            <a:off x="3575304" y="1965960"/>
            <a:ext cx="22860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STAGE 2</a:t>
            </a:r>
            <a:endParaRPr lang="en-US" sz="1050" dirty="0"/>
          </a:p>
        </p:txBody>
      </p:sp>
      <p:sp>
        <p:nvSpPr>
          <p:cNvPr id="13" name="Text 10"/>
          <p:cNvSpPr txBox="1"/>
          <p:nvPr/>
        </p:nvSpPr>
        <p:spPr>
          <a:xfrm>
            <a:off x="3575304" y="2286000"/>
            <a:ext cx="2286000" cy="822960"/>
          </a:xfrm>
          <a:prstGeom prst="rect">
            <a:avLst/>
          </a:prstGeom>
          <a:noFill/>
          <a:ln/>
        </p:spPr>
        <p:txBody>
          <a:bodyPr wrap="square" lIns="0" tIns="0" rIns="0" bIns="0" rtlCol="0" anchor="t">
            <a:normAutofit/>
          </a:bodyPr>
          <a:lstStyle/>
          <a:p>
            <a:pPr indent="0" marL="0">
              <a:buNone/>
            </a:pPr>
            <a:r>
              <a:rPr lang="en-US" sz="1800" b="1" dirty="0">
                <a:solidFill>
                  <a:srgbClr val="F1EEFB"/>
                </a:solidFill>
                <a:latin typeface="Outfit" pitchFamily="34" charset="0"/>
                <a:ea typeface="Outfit" pitchFamily="34" charset="-122"/>
                <a:cs typeface="Outfit" pitchFamily="34" charset="-120"/>
              </a:rPr>
              <a:t>[What we did]</a:t>
            </a:r>
            <a:endParaRPr lang="en-US" sz="1800" dirty="0"/>
          </a:p>
        </p:txBody>
      </p:sp>
      <p:sp>
        <p:nvSpPr>
          <p:cNvPr id="14" name="Text 11"/>
          <p:cNvSpPr txBox="1"/>
          <p:nvPr/>
        </p:nvSpPr>
        <p:spPr>
          <a:xfrm>
            <a:off x="3575304"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first move, two lines.]</a:t>
            </a:r>
            <a:endParaRPr lang="en-US" sz="1300" dirty="0"/>
          </a:p>
        </p:txBody>
      </p:sp>
      <p:sp>
        <p:nvSpPr>
          <p:cNvPr id="15" name="Shape 12"/>
          <p:cNvSpPr/>
          <p:nvPr/>
        </p:nvSpPr>
        <p:spPr>
          <a:xfrm>
            <a:off x="6144768" y="1783080"/>
            <a:ext cx="2697480" cy="3383280"/>
          </a:xfrm>
          <a:prstGeom prst="roundRect">
            <a:avLst>
              <a:gd name="adj" fmla="val 6102"/>
            </a:avLst>
          </a:prstGeom>
          <a:solidFill>
            <a:srgbClr val="15121F"/>
          </a:solidFill>
          <a:ln w="9525">
            <a:solidFill>
              <a:srgbClr val="2A2540"/>
            </a:solidFill>
            <a:prstDash val="solid"/>
          </a:ln>
        </p:spPr>
      </p:sp>
      <p:sp>
        <p:nvSpPr>
          <p:cNvPr id="16" name="Text 13"/>
          <p:cNvSpPr txBox="1"/>
          <p:nvPr/>
        </p:nvSpPr>
        <p:spPr>
          <a:xfrm>
            <a:off x="8732520" y="3200400"/>
            <a:ext cx="365760" cy="457200"/>
          </a:xfrm>
          <a:prstGeom prst="rect">
            <a:avLst/>
          </a:prstGeom>
          <a:noFill/>
          <a:ln/>
        </p:spPr>
        <p:txBody>
          <a:bodyPr wrap="square" lIns="0" tIns="0" rIns="0" bIns="0" rtlCol="0" anchor="ctr"/>
          <a:lstStyle/>
          <a:p>
            <a:pPr algn="ctr" indent="0" marL="0">
              <a:buNone/>
            </a:pPr>
            <a:r>
              <a:rPr lang="en-US" sz="2000" dirty="0">
                <a:solidFill>
                  <a:srgbClr val="8B85A3"/>
                </a:solidFill>
              </a:rPr>
              <a:t>→</a:t>
            </a:r>
            <a:endParaRPr lang="en-US" sz="2000" dirty="0"/>
          </a:p>
        </p:txBody>
      </p:sp>
      <p:sp>
        <p:nvSpPr>
          <p:cNvPr id="17" name="Text 14"/>
          <p:cNvSpPr txBox="1"/>
          <p:nvPr/>
        </p:nvSpPr>
        <p:spPr>
          <a:xfrm>
            <a:off x="6373368" y="1965960"/>
            <a:ext cx="22860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STAGE 3</a:t>
            </a:r>
            <a:endParaRPr lang="en-US" sz="1050" dirty="0"/>
          </a:p>
        </p:txBody>
      </p:sp>
      <p:sp>
        <p:nvSpPr>
          <p:cNvPr id="18" name="Text 15"/>
          <p:cNvSpPr txBox="1"/>
          <p:nvPr/>
        </p:nvSpPr>
        <p:spPr>
          <a:xfrm>
            <a:off x="6373368" y="2286000"/>
            <a:ext cx="2286000" cy="822960"/>
          </a:xfrm>
          <a:prstGeom prst="rect">
            <a:avLst/>
          </a:prstGeom>
          <a:noFill/>
          <a:ln/>
        </p:spPr>
        <p:txBody>
          <a:bodyPr wrap="square" lIns="0" tIns="0" rIns="0" bIns="0" rtlCol="0" anchor="t">
            <a:normAutofit/>
          </a:bodyPr>
          <a:lstStyle/>
          <a:p>
            <a:pPr indent="0" marL="0">
              <a:buNone/>
            </a:pPr>
            <a:r>
              <a:rPr lang="en-US" sz="1800" b="1" dirty="0">
                <a:solidFill>
                  <a:srgbClr val="F1EEFB"/>
                </a:solidFill>
                <a:latin typeface="Outfit" pitchFamily="34" charset="0"/>
                <a:ea typeface="Outfit" pitchFamily="34" charset="-122"/>
                <a:cs typeface="Outfit" pitchFamily="34" charset="-120"/>
              </a:rPr>
              <a:t>[What shifted]</a:t>
            </a:r>
            <a:endParaRPr lang="en-US" sz="1800" dirty="0"/>
          </a:p>
        </p:txBody>
      </p:sp>
      <p:sp>
        <p:nvSpPr>
          <p:cNvPr id="19" name="Text 16"/>
          <p:cNvSpPr txBox="1"/>
          <p:nvPr/>
        </p:nvSpPr>
        <p:spPr>
          <a:xfrm>
            <a:off x="6373368"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changed, two lines.]</a:t>
            </a:r>
            <a:endParaRPr lang="en-US" sz="1300" dirty="0"/>
          </a:p>
        </p:txBody>
      </p:sp>
      <p:sp>
        <p:nvSpPr>
          <p:cNvPr id="20" name="Shape 17"/>
          <p:cNvSpPr/>
          <p:nvPr/>
        </p:nvSpPr>
        <p:spPr>
          <a:xfrm>
            <a:off x="8942832" y="1783080"/>
            <a:ext cx="2697480" cy="3383280"/>
          </a:xfrm>
          <a:prstGeom prst="roundRect">
            <a:avLst>
              <a:gd name="adj" fmla="val 6102"/>
            </a:avLst>
          </a:prstGeom>
          <a:solidFill>
            <a:srgbClr val="1C1829"/>
          </a:solidFill>
          <a:ln w="9525">
            <a:solidFill>
              <a:srgbClr val="2A2540"/>
            </a:solidFill>
            <a:prstDash val="solid"/>
          </a:ln>
        </p:spPr>
      </p:sp>
      <p:sp>
        <p:nvSpPr>
          <p:cNvPr id="21" name="Text 18"/>
          <p:cNvSpPr txBox="1"/>
          <p:nvPr/>
        </p:nvSpPr>
        <p:spPr>
          <a:xfrm>
            <a:off x="9171432" y="1965960"/>
            <a:ext cx="2286000" cy="274320"/>
          </a:xfrm>
          <a:prstGeom prst="rect">
            <a:avLst/>
          </a:prstGeom>
          <a:noFill/>
          <a:ln/>
        </p:spPr>
        <p:txBody>
          <a:bodyPr wrap="square" lIns="0" tIns="0" rIns="0" bIns="0" rtlCol="0" anchor="ctr"/>
          <a:lstStyle/>
          <a:p>
            <a:pPr indent="0" marL="0">
              <a:buNone/>
            </a:pPr>
            <a:r>
              <a:rPr lang="en-US" sz="1050" spc="300" kern="0" dirty="0">
                <a:solidFill>
                  <a:srgbClr val="E8C878"/>
                </a:solidFill>
                <a:latin typeface="DM Mono" pitchFamily="34" charset="0"/>
                <a:ea typeface="DM Mono" pitchFamily="34" charset="-122"/>
                <a:cs typeface="DM Mono" pitchFamily="34" charset="-120"/>
              </a:rPr>
              <a:t>RESULT</a:t>
            </a:r>
            <a:endParaRPr lang="en-US" sz="1050" dirty="0"/>
          </a:p>
        </p:txBody>
      </p:sp>
      <p:sp>
        <p:nvSpPr>
          <p:cNvPr id="22" name="Text 19"/>
          <p:cNvSpPr txBox="1"/>
          <p:nvPr/>
        </p:nvSpPr>
        <p:spPr>
          <a:xfrm>
            <a:off x="9171432" y="2286000"/>
            <a:ext cx="2286000" cy="822960"/>
          </a:xfrm>
          <a:prstGeom prst="rect">
            <a:avLst/>
          </a:prstGeom>
          <a:noFill/>
          <a:ln/>
        </p:spPr>
        <p:txBody>
          <a:bodyPr wrap="square" lIns="0" tIns="0" rIns="0" bIns="0" rtlCol="0" anchor="t">
            <a:normAutofit/>
          </a:bodyPr>
          <a:lstStyle/>
          <a:p>
            <a:pPr indent="0" marL="0">
              <a:buNone/>
            </a:pPr>
            <a:r>
              <a:rPr lang="en-US" sz="2200" b="1" dirty="0">
                <a:solidFill>
                  <a:srgbClr val="E8C878"/>
                </a:solidFill>
                <a:latin typeface="Outfit" pitchFamily="34" charset="0"/>
                <a:ea typeface="Outfit" pitchFamily="34" charset="-122"/>
                <a:cs typeface="Outfit" pitchFamily="34" charset="-120"/>
              </a:rPr>
              <a:t>[The result]</a:t>
            </a:r>
            <a:endParaRPr lang="en-US" sz="2200" dirty="0"/>
          </a:p>
        </p:txBody>
      </p:sp>
      <p:sp>
        <p:nvSpPr>
          <p:cNvPr id="23" name="Text 20"/>
          <p:cNvSpPr txBox="1"/>
          <p:nvPr/>
        </p:nvSpPr>
        <p:spPr>
          <a:xfrm>
            <a:off x="9171432"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happened, two lines.]</a:t>
            </a:r>
            <a:endParaRPr lang="en-US" sz="1300" dirty="0"/>
          </a:p>
        </p:txBody>
      </p:sp>
      <p:sp>
        <p:nvSpPr>
          <p:cNvPr id="24" name="Text 21"/>
          <p:cNvSpPr txBox="1"/>
          <p:nvPr/>
        </p:nvSpPr>
        <p:spPr>
          <a:xfrm>
            <a:off x="548640" y="5394960"/>
            <a:ext cx="11064240" cy="731520"/>
          </a:xfrm>
          <a:prstGeom prst="rect">
            <a:avLst/>
          </a:prstGeom>
          <a:noFill/>
          <a:ln/>
        </p:spPr>
        <p:txBody>
          <a:bodyPr wrap="square" lIns="0" tIns="0" rIns="0" bIns="0" rtlCol="0" anchor="ctr">
            <a:normAutofit/>
          </a:bodyP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[One line on how this applies to the person watching.]</a:t>
            </a:r>
            <a:endParaRPr lang="en-US" sz="2200" dirty="0"/>
          </a:p>
        </p:txBody>
      </p:sp>
      <p:sp>
        <p:nvSpPr>
          <p:cNvPr id="25" name="Text 22"/>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6" name="Text 2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hoto.jpg">    </p:cNvPr>
          <p:cNvPicPr>
            <a:picLocks noChangeAspect="1"/>
          </p:cNvPicPr>
          <p:nvPr/>
        </p:nvPicPr>
        <p:blipFill>
          <a:blip r:embed="rId2"/>
          <a:stretch>
            <a:fillRect/>
          </a:stretch>
        </p:blipFill>
        <p:spPr>
          <a:xfrm>
            <a:off x="6336792" y="0"/>
            <a:ext cx="5852160" cy="6858000"/>
          </a:xfrm>
          <a:prstGeom prst="rect">
            <a:avLst/>
          </a:prstGeom>
        </p:spPr>
      </p:pic>
      <p:sp>
        <p:nvSpPr>
          <p:cNvPr id="4" name="Shape 0"/>
          <p:cNvSpPr/>
          <p:nvPr/>
        </p:nvSpPr>
        <p:spPr>
          <a:xfrm>
            <a:off x="6336792" y="0"/>
            <a:ext cx="822960" cy="6858000"/>
          </a:xfrm>
          <a:prstGeom prst="rect">
            <a:avLst/>
          </a:prstGeom>
          <a:solidFill>
            <a:srgbClr val="0B0A12">
              <a:alpha val="60000"/>
            </a:srgbClr>
          </a:solidFill>
          <a:ln w="12700">
            <a:solidFill>
              <a:srgbClr val="0B0A12">
                <a:alpha val="0"/>
              </a:srgbClr>
            </a:solidFill>
            <a:prstDash val="solid"/>
          </a:ln>
        </p:spPr>
      </p:sp>
      <p:sp>
        <p:nvSpPr>
          <p:cNvPr id="5" name="Text 1"/>
          <p:cNvSpPr txBox="1"/>
          <p:nvPr/>
        </p:nvSpPr>
        <p:spPr>
          <a:xfrm>
            <a:off x="548640" y="822960"/>
            <a:ext cx="5120640" cy="2011680"/>
          </a:xfrm>
          <a:prstGeom prst="rect">
            <a:avLst/>
          </a:prstGeom>
          <a:noFill/>
          <a:ln/>
        </p:spPr>
        <p:txBody>
          <a:bodyPr wrap="square" lIns="0" tIns="0" rIns="0" bIns="0" rtlCol="0" anchor="ctr">
            <a:normAutofit/>
          </a:bodyPr>
          <a:lstStyle/>
          <a:p>
            <a:pPr indent="0" marL="0">
              <a:buNone/>
            </a:pPr>
            <a:r>
              <a:rPr lang="en-US" sz="12000" i="1" dirty="0">
                <a:solidFill>
                  <a:srgbClr val="B79CF5"/>
                </a:solidFill>
                <a:latin typeface="Instrument Serif" pitchFamily="34" charset="0"/>
                <a:ea typeface="Instrument Serif" pitchFamily="34" charset="-122"/>
                <a:cs typeface="Instrument Serif" pitchFamily="34" charset="-120"/>
              </a:rPr>
              <a:t>02</a:t>
            </a:r>
            <a:endParaRPr lang="en-US" sz="12000" dirty="0"/>
          </a:p>
        </p:txBody>
      </p:sp>
      <p:sp>
        <p:nvSpPr>
          <p:cNvPr id="6" name="Text 2"/>
          <p:cNvSpPr txBox="1"/>
          <p:nvPr/>
        </p:nvSpPr>
        <p:spPr>
          <a:xfrm>
            <a:off x="548640" y="2926080"/>
            <a:ext cx="5394960" cy="1005840"/>
          </a:xfrm>
          <a:prstGeom prst="rect">
            <a:avLst/>
          </a:prstGeom>
          <a:noFill/>
          <a:ln/>
        </p:spPr>
        <p:txBody>
          <a:bodyPr wrap="square" lIns="0" tIns="0" rIns="0" bIns="0" rtlCol="0" anchor="ctr">
            <a:normAutofit/>
          </a:bodyPr>
          <a:lstStyle/>
          <a:p>
            <a:pPr indent="0" marL="0">
              <a:buNone/>
            </a:pPr>
            <a:r>
              <a:rPr lang="en-US" sz="4800" b="1" dirty="0">
                <a:solidFill>
                  <a:srgbClr val="F1EEFB"/>
                </a:solidFill>
                <a:latin typeface="Outfit" pitchFamily="34" charset="0"/>
                <a:ea typeface="Outfit" pitchFamily="34" charset="-122"/>
                <a:cs typeface="Outfit" pitchFamily="34" charset="-120"/>
              </a:rPr>
              <a:t>[Step 2 name]</a:t>
            </a:r>
            <a:endParaRPr lang="en-US" sz="4800" dirty="0"/>
          </a:p>
        </p:txBody>
      </p:sp>
      <p:sp>
        <p:nvSpPr>
          <p:cNvPr id="7" name="Text 3"/>
          <p:cNvSpPr txBox="1"/>
          <p:nvPr/>
        </p:nvSpPr>
        <p:spPr>
          <a:xfrm>
            <a:off x="548640" y="4069080"/>
            <a:ext cx="5394960" cy="1097280"/>
          </a:xfrm>
          <a:prstGeom prst="rect">
            <a:avLst/>
          </a:prstGeom>
          <a:noFill/>
          <a:ln/>
        </p:spPr>
        <p:txBody>
          <a:bodyPr wrap="square" lIns="0" tIns="0" rIns="0" bIns="0" rtlCol="0" anchor="t">
            <a:normAutofit/>
          </a:bodyPr>
          <a:lstStyle/>
          <a:p>
            <a:pPr indent="0" marL="0">
              <a:buNone/>
            </a:pPr>
            <a:r>
              <a:rPr lang="en-US" sz="1200" spc="300" kern="0" dirty="0">
                <a:solidFill>
                  <a:srgbClr val="E8C878"/>
                </a:solidFill>
                <a:latin typeface="DM Mono" pitchFamily="34" charset="0"/>
                <a:ea typeface="DM Mono" pitchFamily="34" charset="-122"/>
                <a:cs typeface="DM Mono" pitchFamily="34" charset="-120"/>
              </a:rPr>
              <a:t>[ONE LINE: WHAT STEP TWO IS, IN PLAIN WORDS]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STEP 2</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[Step 2 in one sentence: the second thing to get right]</a:t>
            </a:r>
            <a:endParaRPr lang="en-US" sz="3000" dirty="0"/>
          </a:p>
        </p:txBody>
      </p:sp>
      <p:sp>
        <p:nvSpPr>
          <p:cNvPr id="5" name="Shape 2"/>
          <p:cNvSpPr/>
          <p:nvPr/>
        </p:nvSpPr>
        <p:spPr>
          <a:xfrm>
            <a:off x="548640" y="1737360"/>
            <a:ext cx="11091672" cy="731520"/>
          </a:xfrm>
          <a:prstGeom prst="roundRect">
            <a:avLst>
              <a:gd name="adj" fmla="val 22500"/>
            </a:avLst>
          </a:prstGeom>
          <a:solidFill>
            <a:srgbClr val="1C1829"/>
          </a:solidFill>
          <a:ln w="9525">
            <a:solidFill>
              <a:srgbClr val="2A2540"/>
            </a:solidFill>
            <a:prstDash val="solid"/>
          </a:ln>
        </p:spPr>
      </p:sp>
      <p:sp>
        <p:nvSpPr>
          <p:cNvPr id="6" name="Text 3"/>
          <p:cNvSpPr txBox="1"/>
          <p:nvPr/>
        </p:nvSpPr>
        <p:spPr>
          <a:xfrm>
            <a:off x="822960" y="1737360"/>
            <a:ext cx="10515600" cy="731520"/>
          </a:xfrm>
          <a:prstGeom prst="rect">
            <a:avLst/>
          </a:prstGeom>
          <a:noFill/>
          <a:ln/>
        </p:spPr>
        <p:txBody>
          <a:bodyPr wrap="square" lIns="0" tIns="0" rIns="0" bIns="0" rtlCol="0" anchor="ctr">
            <a:normAutofit/>
          </a:bodyPr>
          <a:lstStyle/>
          <a:p>
            <a:pPr indent="0" marL="0">
              <a:buNone/>
            </a:pPr>
            <a:r>
              <a:rPr lang="en-US" sz="1150" spc="200" kern="0" dirty="0">
                <a:solidFill>
                  <a:srgbClr val="E8C878"/>
                </a:solidFill>
                <a:latin typeface="DM Mono" pitchFamily="34" charset="0"/>
                <a:ea typeface="DM Mono" pitchFamily="34" charset="-122"/>
                <a:cs typeface="DM Mono" pitchFamily="34" charset="-120"/>
              </a:rPr>
              <a:t>[THE KEY IDEA OF STEP TWO, ONE LINE]</a:t>
            </a:r>
            <a:endParaRPr lang="en-US" sz="1150" dirty="0"/>
          </a:p>
        </p:txBody>
      </p:sp>
      <p:sp>
        <p:nvSpPr>
          <p:cNvPr id="7" name="Shape 4"/>
          <p:cNvSpPr/>
          <p:nvPr/>
        </p:nvSpPr>
        <p:spPr>
          <a:xfrm>
            <a:off x="548640" y="2697480"/>
            <a:ext cx="3639312" cy="2514600"/>
          </a:xfrm>
          <a:prstGeom prst="roundRect">
            <a:avLst>
              <a:gd name="adj" fmla="val 6545"/>
            </a:avLst>
          </a:prstGeom>
          <a:solidFill>
            <a:srgbClr val="15121F"/>
          </a:solidFill>
          <a:ln w="9525">
            <a:solidFill>
              <a:srgbClr val="2A2540"/>
            </a:solidFill>
            <a:prstDash val="solid"/>
          </a:ln>
        </p:spPr>
      </p:sp>
      <p:sp>
        <p:nvSpPr>
          <p:cNvPr id="8" name="Text 5"/>
          <p:cNvSpPr txBox="1"/>
          <p:nvPr/>
        </p:nvSpPr>
        <p:spPr>
          <a:xfrm>
            <a:off x="777240" y="2880360"/>
            <a:ext cx="32004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WHAT TO DO</a:t>
            </a:r>
            <a:endParaRPr lang="en-US" sz="1050" dirty="0"/>
          </a:p>
        </p:txBody>
      </p:sp>
      <p:sp>
        <p:nvSpPr>
          <p:cNvPr id="9" name="Text 6"/>
          <p:cNvSpPr txBox="1"/>
          <p:nvPr/>
        </p:nvSpPr>
        <p:spPr>
          <a:xfrm>
            <a:off x="77724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[What they do, in two or three sentences.]</a:t>
            </a:r>
            <a:endParaRPr lang="en-US" sz="1400" dirty="0"/>
          </a:p>
        </p:txBody>
      </p:sp>
      <p:sp>
        <p:nvSpPr>
          <p:cNvPr id="10" name="Shape 7"/>
          <p:cNvSpPr/>
          <p:nvPr/>
        </p:nvSpPr>
        <p:spPr>
          <a:xfrm>
            <a:off x="4274820" y="2697480"/>
            <a:ext cx="3639312" cy="2514600"/>
          </a:xfrm>
          <a:prstGeom prst="roundRect">
            <a:avLst>
              <a:gd name="adj" fmla="val 6545"/>
            </a:avLst>
          </a:prstGeom>
          <a:solidFill>
            <a:srgbClr val="15121F"/>
          </a:solidFill>
          <a:ln w="9525">
            <a:solidFill>
              <a:srgbClr val="2A2540"/>
            </a:solidFill>
            <a:prstDash val="solid"/>
          </a:ln>
        </p:spPr>
      </p:sp>
      <p:sp>
        <p:nvSpPr>
          <p:cNvPr id="11" name="Text 8"/>
          <p:cNvSpPr txBox="1"/>
          <p:nvPr/>
        </p:nvSpPr>
        <p:spPr>
          <a:xfrm>
            <a:off x="4503420" y="2880360"/>
            <a:ext cx="32004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HOW TO DO IT</a:t>
            </a:r>
            <a:endParaRPr lang="en-US" sz="1050" dirty="0"/>
          </a:p>
        </p:txBody>
      </p:sp>
      <p:sp>
        <p:nvSpPr>
          <p:cNvPr id="12" name="Text 9"/>
          <p:cNvSpPr txBox="1"/>
          <p:nvPr/>
        </p:nvSpPr>
        <p:spPr>
          <a:xfrm>
            <a:off x="450342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[How, with one concrete example.]</a:t>
            </a:r>
            <a:endParaRPr lang="en-US" sz="1400" dirty="0"/>
          </a:p>
        </p:txBody>
      </p:sp>
      <p:sp>
        <p:nvSpPr>
          <p:cNvPr id="13" name="Shape 10"/>
          <p:cNvSpPr/>
          <p:nvPr/>
        </p:nvSpPr>
        <p:spPr>
          <a:xfrm>
            <a:off x="8001000" y="2697480"/>
            <a:ext cx="3639312" cy="2514600"/>
          </a:xfrm>
          <a:prstGeom prst="roundRect">
            <a:avLst>
              <a:gd name="adj" fmla="val 6545"/>
            </a:avLst>
          </a:prstGeom>
          <a:solidFill>
            <a:srgbClr val="15121F"/>
          </a:solidFill>
          <a:ln w="9525">
            <a:solidFill>
              <a:srgbClr val="2A2540"/>
            </a:solidFill>
            <a:prstDash val="solid"/>
          </a:ln>
        </p:spPr>
      </p:sp>
      <p:sp>
        <p:nvSpPr>
          <p:cNvPr id="14" name="Text 11"/>
          <p:cNvSpPr txBox="1"/>
          <p:nvPr/>
        </p:nvSpPr>
        <p:spPr>
          <a:xfrm>
            <a:off x="8229600" y="2880360"/>
            <a:ext cx="3200400" cy="274320"/>
          </a:xfrm>
          <a:prstGeom prst="rect">
            <a:avLst/>
          </a:prstGeom>
          <a:noFill/>
          <a:ln/>
        </p:spPr>
        <p:txBody>
          <a:bodyPr wrap="square" lIns="0" tIns="0" rIns="0" bIns="0" rtlCol="0" anchor="ctr"/>
          <a:lstStyle/>
          <a:p>
            <a:pPr indent="0" marL="0">
              <a:buNone/>
            </a:pPr>
            <a:r>
              <a:rPr lang="en-US" sz="1050" spc="300" kern="0" dirty="0">
                <a:solidFill>
                  <a:srgbClr val="F08BB0"/>
                </a:solidFill>
                <a:latin typeface="DM Mono" pitchFamily="34" charset="0"/>
                <a:ea typeface="DM Mono" pitchFamily="34" charset="-122"/>
                <a:cs typeface="DM Mono" pitchFamily="34" charset="-120"/>
              </a:rPr>
              <a:t>THE MISTAKE TO AVOID</a:t>
            </a:r>
            <a:endParaRPr lang="en-US" sz="1050" dirty="0"/>
          </a:p>
        </p:txBody>
      </p:sp>
      <p:sp>
        <p:nvSpPr>
          <p:cNvPr id="15" name="Text 12"/>
          <p:cNvSpPr txBox="1"/>
          <p:nvPr/>
        </p:nvSpPr>
        <p:spPr>
          <a:xfrm>
            <a:off x="822960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[The mistake almost everyone makes here.]</a:t>
            </a:r>
            <a:endParaRPr lang="en-US" sz="1400" dirty="0"/>
          </a:p>
        </p:txBody>
      </p:sp>
      <p:sp>
        <p:nvSpPr>
          <p:cNvPr id="16" name="Text 13"/>
          <p:cNvSpPr txBox="1"/>
          <p:nvPr/>
        </p:nvSpPr>
        <p:spPr>
          <a:xfrm>
            <a:off x="548640" y="5394960"/>
            <a:ext cx="11064240" cy="731520"/>
          </a:xfrm>
          <a:prstGeom prst="rect">
            <a:avLst/>
          </a:prstGeom>
          <a:noFill/>
          <a:ln/>
        </p:spPr>
        <p:txBody>
          <a:bodyPr wrap="square" lIns="0" tIns="0" rIns="0" bIns="0" rtlCol="0" anchor="ctr">
            <a:normAutofit/>
          </a:bodyP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[Why this step matters, one line.]</a:t>
            </a:r>
            <a:endParaRPr lang="en-US" sz="2200" dirty="0"/>
          </a:p>
        </p:txBody>
      </p:sp>
      <p:sp>
        <p:nvSpPr>
          <p:cNvPr id="17" name="Text 14"/>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18" name="Text 1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STEP 2 · EXAMPLE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Example: [who this is about]</a:t>
            </a:r>
            <a:endParaRPr lang="en-US" sz="3000" dirty="0"/>
          </a:p>
        </p:txBody>
      </p:sp>
      <p:sp>
        <p:nvSpPr>
          <p:cNvPr id="5" name="Shape 2"/>
          <p:cNvSpPr/>
          <p:nvPr/>
        </p:nvSpPr>
        <p:spPr>
          <a:xfrm>
            <a:off x="548640" y="1783080"/>
            <a:ext cx="2697480" cy="3383280"/>
          </a:xfrm>
          <a:prstGeom prst="roundRect">
            <a:avLst>
              <a:gd name="adj" fmla="val 6102"/>
            </a:avLst>
          </a:prstGeom>
          <a:solidFill>
            <a:srgbClr val="15121F"/>
          </a:solidFill>
          <a:ln w="9525">
            <a:solidFill>
              <a:srgbClr val="2A2540"/>
            </a:solidFill>
            <a:prstDash val="solid"/>
          </a:ln>
        </p:spPr>
      </p:sp>
      <p:sp>
        <p:nvSpPr>
          <p:cNvPr id="6" name="Text 3"/>
          <p:cNvSpPr txBox="1"/>
          <p:nvPr/>
        </p:nvSpPr>
        <p:spPr>
          <a:xfrm>
            <a:off x="3136392" y="3200400"/>
            <a:ext cx="365760" cy="457200"/>
          </a:xfrm>
          <a:prstGeom prst="rect">
            <a:avLst/>
          </a:prstGeom>
          <a:noFill/>
          <a:ln/>
        </p:spPr>
        <p:txBody>
          <a:bodyPr wrap="square" lIns="0" tIns="0" rIns="0" bIns="0" rtlCol="0" anchor="ctr"/>
          <a:lstStyle/>
          <a:p>
            <a:pPr algn="ctr" indent="0" marL="0">
              <a:buNone/>
            </a:pPr>
            <a:r>
              <a:rPr lang="en-US" sz="2000" dirty="0">
                <a:solidFill>
                  <a:srgbClr val="8B85A3"/>
                </a:solidFill>
              </a:rPr>
              <a:t>→</a:t>
            </a:r>
            <a:endParaRPr lang="en-US" sz="2000" dirty="0"/>
          </a:p>
        </p:txBody>
      </p:sp>
      <p:sp>
        <p:nvSpPr>
          <p:cNvPr id="7" name="Text 4"/>
          <p:cNvSpPr txBox="1"/>
          <p:nvPr/>
        </p:nvSpPr>
        <p:spPr>
          <a:xfrm>
            <a:off x="777240" y="1965960"/>
            <a:ext cx="22860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STAGE 1</a:t>
            </a:r>
            <a:endParaRPr lang="en-US" sz="1050" dirty="0"/>
          </a:p>
        </p:txBody>
      </p:sp>
      <p:sp>
        <p:nvSpPr>
          <p:cNvPr id="8" name="Text 5"/>
          <p:cNvSpPr txBox="1"/>
          <p:nvPr/>
        </p:nvSpPr>
        <p:spPr>
          <a:xfrm>
            <a:off x="777240" y="2286000"/>
            <a:ext cx="2286000" cy="822960"/>
          </a:xfrm>
          <a:prstGeom prst="rect">
            <a:avLst/>
          </a:prstGeom>
          <a:noFill/>
          <a:ln/>
        </p:spPr>
        <p:txBody>
          <a:bodyPr wrap="square" lIns="0" tIns="0" rIns="0" bIns="0" rtlCol="0" anchor="t">
            <a:normAutofit/>
          </a:bodyPr>
          <a:lstStyle/>
          <a:p>
            <a:pPr indent="0" marL="0">
              <a:buNone/>
            </a:pPr>
            <a:r>
              <a:rPr lang="en-US" sz="1800" b="1" dirty="0">
                <a:solidFill>
                  <a:srgbClr val="F1EEFB"/>
                </a:solidFill>
                <a:latin typeface="Outfit" pitchFamily="34" charset="0"/>
                <a:ea typeface="Outfit" pitchFamily="34" charset="-122"/>
                <a:cs typeface="Outfit" pitchFamily="34" charset="-120"/>
              </a:rPr>
              <a:t>[Before]</a:t>
            </a:r>
            <a:endParaRPr lang="en-US" sz="1800" dirty="0"/>
          </a:p>
        </p:txBody>
      </p:sp>
      <p:sp>
        <p:nvSpPr>
          <p:cNvPr id="9" name="Text 6"/>
          <p:cNvSpPr txBox="1"/>
          <p:nvPr/>
        </p:nvSpPr>
        <p:spPr>
          <a:xfrm>
            <a:off x="777240"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[Where they were.]</a:t>
            </a:r>
            <a:endParaRPr lang="en-US" sz="1300" dirty="0"/>
          </a:p>
        </p:txBody>
      </p:sp>
      <p:sp>
        <p:nvSpPr>
          <p:cNvPr id="10" name="Shape 7"/>
          <p:cNvSpPr/>
          <p:nvPr/>
        </p:nvSpPr>
        <p:spPr>
          <a:xfrm>
            <a:off x="3346704" y="1783080"/>
            <a:ext cx="2697480" cy="3383280"/>
          </a:xfrm>
          <a:prstGeom prst="roundRect">
            <a:avLst>
              <a:gd name="adj" fmla="val 6102"/>
            </a:avLst>
          </a:prstGeom>
          <a:solidFill>
            <a:srgbClr val="15121F"/>
          </a:solidFill>
          <a:ln w="9525">
            <a:solidFill>
              <a:srgbClr val="2A2540"/>
            </a:solidFill>
            <a:prstDash val="solid"/>
          </a:ln>
        </p:spPr>
      </p:sp>
      <p:sp>
        <p:nvSpPr>
          <p:cNvPr id="11" name="Text 8"/>
          <p:cNvSpPr txBox="1"/>
          <p:nvPr/>
        </p:nvSpPr>
        <p:spPr>
          <a:xfrm>
            <a:off x="5934456" y="3200400"/>
            <a:ext cx="365760" cy="457200"/>
          </a:xfrm>
          <a:prstGeom prst="rect">
            <a:avLst/>
          </a:prstGeom>
          <a:noFill/>
          <a:ln/>
        </p:spPr>
        <p:txBody>
          <a:bodyPr wrap="square" lIns="0" tIns="0" rIns="0" bIns="0" rtlCol="0" anchor="ctr"/>
          <a:lstStyle/>
          <a:p>
            <a:pPr algn="ctr" indent="0" marL="0">
              <a:buNone/>
            </a:pPr>
            <a:r>
              <a:rPr lang="en-US" sz="2000" dirty="0">
                <a:solidFill>
                  <a:srgbClr val="8B85A3"/>
                </a:solidFill>
              </a:rPr>
              <a:t>→</a:t>
            </a:r>
            <a:endParaRPr lang="en-US" sz="2000" dirty="0"/>
          </a:p>
        </p:txBody>
      </p:sp>
      <p:sp>
        <p:nvSpPr>
          <p:cNvPr id="12" name="Text 9"/>
          <p:cNvSpPr txBox="1"/>
          <p:nvPr/>
        </p:nvSpPr>
        <p:spPr>
          <a:xfrm>
            <a:off x="3575304" y="1965960"/>
            <a:ext cx="22860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STAGE 2</a:t>
            </a:r>
            <a:endParaRPr lang="en-US" sz="1050" dirty="0"/>
          </a:p>
        </p:txBody>
      </p:sp>
      <p:sp>
        <p:nvSpPr>
          <p:cNvPr id="13" name="Text 10"/>
          <p:cNvSpPr txBox="1"/>
          <p:nvPr/>
        </p:nvSpPr>
        <p:spPr>
          <a:xfrm>
            <a:off x="3575304" y="2286000"/>
            <a:ext cx="2286000" cy="822960"/>
          </a:xfrm>
          <a:prstGeom prst="rect">
            <a:avLst/>
          </a:prstGeom>
          <a:noFill/>
          <a:ln/>
        </p:spPr>
        <p:txBody>
          <a:bodyPr wrap="square" lIns="0" tIns="0" rIns="0" bIns="0" rtlCol="0" anchor="t">
            <a:normAutofit/>
          </a:bodyPr>
          <a:lstStyle/>
          <a:p>
            <a:pPr indent="0" marL="0">
              <a:buNone/>
            </a:pPr>
            <a:r>
              <a:rPr lang="en-US" sz="1800" b="1" dirty="0">
                <a:solidFill>
                  <a:srgbClr val="F1EEFB"/>
                </a:solidFill>
                <a:latin typeface="Outfit" pitchFamily="34" charset="0"/>
                <a:ea typeface="Outfit" pitchFamily="34" charset="-122"/>
                <a:cs typeface="Outfit" pitchFamily="34" charset="-120"/>
              </a:rPr>
              <a:t>[What we did]</a:t>
            </a:r>
            <a:endParaRPr lang="en-US" sz="1800" dirty="0"/>
          </a:p>
        </p:txBody>
      </p:sp>
      <p:sp>
        <p:nvSpPr>
          <p:cNvPr id="14" name="Text 11"/>
          <p:cNvSpPr txBox="1"/>
          <p:nvPr/>
        </p:nvSpPr>
        <p:spPr>
          <a:xfrm>
            <a:off x="3575304"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[The first move.]</a:t>
            </a:r>
            <a:endParaRPr lang="en-US" sz="1300" dirty="0"/>
          </a:p>
        </p:txBody>
      </p:sp>
      <p:sp>
        <p:nvSpPr>
          <p:cNvPr id="15" name="Shape 12"/>
          <p:cNvSpPr/>
          <p:nvPr/>
        </p:nvSpPr>
        <p:spPr>
          <a:xfrm>
            <a:off x="6144768" y="1783080"/>
            <a:ext cx="2697480" cy="3383280"/>
          </a:xfrm>
          <a:prstGeom prst="roundRect">
            <a:avLst>
              <a:gd name="adj" fmla="val 6102"/>
            </a:avLst>
          </a:prstGeom>
          <a:solidFill>
            <a:srgbClr val="15121F"/>
          </a:solidFill>
          <a:ln w="9525">
            <a:solidFill>
              <a:srgbClr val="2A2540"/>
            </a:solidFill>
            <a:prstDash val="solid"/>
          </a:ln>
        </p:spPr>
      </p:sp>
      <p:sp>
        <p:nvSpPr>
          <p:cNvPr id="16" name="Text 13"/>
          <p:cNvSpPr txBox="1"/>
          <p:nvPr/>
        </p:nvSpPr>
        <p:spPr>
          <a:xfrm>
            <a:off x="8732520" y="3200400"/>
            <a:ext cx="365760" cy="457200"/>
          </a:xfrm>
          <a:prstGeom prst="rect">
            <a:avLst/>
          </a:prstGeom>
          <a:noFill/>
          <a:ln/>
        </p:spPr>
        <p:txBody>
          <a:bodyPr wrap="square" lIns="0" tIns="0" rIns="0" bIns="0" rtlCol="0" anchor="ctr"/>
          <a:lstStyle/>
          <a:p>
            <a:pPr algn="ctr" indent="0" marL="0">
              <a:buNone/>
            </a:pPr>
            <a:r>
              <a:rPr lang="en-US" sz="2000" dirty="0">
                <a:solidFill>
                  <a:srgbClr val="8B85A3"/>
                </a:solidFill>
              </a:rPr>
              <a:t>→</a:t>
            </a:r>
            <a:endParaRPr lang="en-US" sz="2000" dirty="0"/>
          </a:p>
        </p:txBody>
      </p:sp>
      <p:sp>
        <p:nvSpPr>
          <p:cNvPr id="17" name="Text 14"/>
          <p:cNvSpPr txBox="1"/>
          <p:nvPr/>
        </p:nvSpPr>
        <p:spPr>
          <a:xfrm>
            <a:off x="6373368" y="1965960"/>
            <a:ext cx="22860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STAGE 3</a:t>
            </a:r>
            <a:endParaRPr lang="en-US" sz="1050" dirty="0"/>
          </a:p>
        </p:txBody>
      </p:sp>
      <p:sp>
        <p:nvSpPr>
          <p:cNvPr id="18" name="Text 15"/>
          <p:cNvSpPr txBox="1"/>
          <p:nvPr/>
        </p:nvSpPr>
        <p:spPr>
          <a:xfrm>
            <a:off x="6373368" y="2286000"/>
            <a:ext cx="2286000" cy="822960"/>
          </a:xfrm>
          <a:prstGeom prst="rect">
            <a:avLst/>
          </a:prstGeom>
          <a:noFill/>
          <a:ln/>
        </p:spPr>
        <p:txBody>
          <a:bodyPr wrap="square" lIns="0" tIns="0" rIns="0" bIns="0" rtlCol="0" anchor="t">
            <a:normAutofit/>
          </a:bodyPr>
          <a:lstStyle/>
          <a:p>
            <a:pPr indent="0" marL="0">
              <a:buNone/>
            </a:pPr>
            <a:r>
              <a:rPr lang="en-US" sz="1800" b="1" dirty="0">
                <a:solidFill>
                  <a:srgbClr val="F1EEFB"/>
                </a:solidFill>
                <a:latin typeface="Outfit" pitchFamily="34" charset="0"/>
                <a:ea typeface="Outfit" pitchFamily="34" charset="-122"/>
                <a:cs typeface="Outfit" pitchFamily="34" charset="-120"/>
              </a:rPr>
              <a:t>[What shifted]</a:t>
            </a:r>
            <a:endParaRPr lang="en-US" sz="1800" dirty="0"/>
          </a:p>
        </p:txBody>
      </p:sp>
      <p:sp>
        <p:nvSpPr>
          <p:cNvPr id="19" name="Text 16"/>
          <p:cNvSpPr txBox="1"/>
          <p:nvPr/>
        </p:nvSpPr>
        <p:spPr>
          <a:xfrm>
            <a:off x="6373368"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changed.]</a:t>
            </a:r>
            <a:endParaRPr lang="en-US" sz="1300" dirty="0"/>
          </a:p>
        </p:txBody>
      </p:sp>
      <p:sp>
        <p:nvSpPr>
          <p:cNvPr id="20" name="Shape 17"/>
          <p:cNvSpPr/>
          <p:nvPr/>
        </p:nvSpPr>
        <p:spPr>
          <a:xfrm>
            <a:off x="8942832" y="1783080"/>
            <a:ext cx="2697480" cy="3383280"/>
          </a:xfrm>
          <a:prstGeom prst="roundRect">
            <a:avLst>
              <a:gd name="adj" fmla="val 6102"/>
            </a:avLst>
          </a:prstGeom>
          <a:solidFill>
            <a:srgbClr val="1C1829"/>
          </a:solidFill>
          <a:ln w="9525">
            <a:solidFill>
              <a:srgbClr val="2A2540"/>
            </a:solidFill>
            <a:prstDash val="solid"/>
          </a:ln>
        </p:spPr>
      </p:sp>
      <p:sp>
        <p:nvSpPr>
          <p:cNvPr id="21" name="Text 18"/>
          <p:cNvSpPr txBox="1"/>
          <p:nvPr/>
        </p:nvSpPr>
        <p:spPr>
          <a:xfrm>
            <a:off x="9171432" y="1965960"/>
            <a:ext cx="2286000" cy="274320"/>
          </a:xfrm>
          <a:prstGeom prst="rect">
            <a:avLst/>
          </a:prstGeom>
          <a:noFill/>
          <a:ln/>
        </p:spPr>
        <p:txBody>
          <a:bodyPr wrap="square" lIns="0" tIns="0" rIns="0" bIns="0" rtlCol="0" anchor="ctr"/>
          <a:lstStyle/>
          <a:p>
            <a:pPr indent="0" marL="0">
              <a:buNone/>
            </a:pPr>
            <a:r>
              <a:rPr lang="en-US" sz="1050" spc="300" kern="0" dirty="0">
                <a:solidFill>
                  <a:srgbClr val="E8C878"/>
                </a:solidFill>
                <a:latin typeface="DM Mono" pitchFamily="34" charset="0"/>
                <a:ea typeface="DM Mono" pitchFamily="34" charset="-122"/>
                <a:cs typeface="DM Mono" pitchFamily="34" charset="-120"/>
              </a:rPr>
              <a:t>RESULT</a:t>
            </a:r>
            <a:endParaRPr lang="en-US" sz="1050" dirty="0"/>
          </a:p>
        </p:txBody>
      </p:sp>
      <p:sp>
        <p:nvSpPr>
          <p:cNvPr id="22" name="Text 19"/>
          <p:cNvSpPr txBox="1"/>
          <p:nvPr/>
        </p:nvSpPr>
        <p:spPr>
          <a:xfrm>
            <a:off x="9171432" y="2286000"/>
            <a:ext cx="2286000" cy="822960"/>
          </a:xfrm>
          <a:prstGeom prst="rect">
            <a:avLst/>
          </a:prstGeom>
          <a:noFill/>
          <a:ln/>
        </p:spPr>
        <p:txBody>
          <a:bodyPr wrap="square" lIns="0" tIns="0" rIns="0" bIns="0" rtlCol="0" anchor="t">
            <a:normAutofit/>
          </a:bodyPr>
          <a:lstStyle/>
          <a:p>
            <a:pPr indent="0" marL="0">
              <a:buNone/>
            </a:pPr>
            <a:r>
              <a:rPr lang="en-US" sz="2200" b="1" dirty="0">
                <a:solidFill>
                  <a:srgbClr val="E8C878"/>
                </a:solidFill>
                <a:latin typeface="Outfit" pitchFamily="34" charset="0"/>
                <a:ea typeface="Outfit" pitchFamily="34" charset="-122"/>
                <a:cs typeface="Outfit" pitchFamily="34" charset="-120"/>
              </a:rPr>
              <a:t>[The result]</a:t>
            </a:r>
            <a:endParaRPr lang="en-US" sz="2200" dirty="0"/>
          </a:p>
        </p:txBody>
      </p:sp>
      <p:sp>
        <p:nvSpPr>
          <p:cNvPr id="23" name="Text 20"/>
          <p:cNvSpPr txBox="1"/>
          <p:nvPr/>
        </p:nvSpPr>
        <p:spPr>
          <a:xfrm>
            <a:off x="9171432" y="3154680"/>
            <a:ext cx="2286000" cy="19202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happened.]</a:t>
            </a:r>
            <a:endParaRPr lang="en-US" sz="1300" dirty="0"/>
          </a:p>
        </p:txBody>
      </p:sp>
      <p:sp>
        <p:nvSpPr>
          <p:cNvPr id="24" name="Text 21"/>
          <p:cNvSpPr txBox="1"/>
          <p:nvPr/>
        </p:nvSpPr>
        <p:spPr>
          <a:xfrm>
            <a:off x="548640" y="5394960"/>
            <a:ext cx="11064240" cy="731520"/>
          </a:xfrm>
          <a:prstGeom prst="rect">
            <a:avLst/>
          </a:prstGeom>
          <a:noFill/>
          <a:ln/>
        </p:spPr>
        <p:txBody>
          <a:bodyPr wrap="square" lIns="0" tIns="0" rIns="0" bIns="0" rtlCol="0" anchor="ctr">
            <a:normAutofit/>
          </a:bodyP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[One line on how this applies to the person watching.]</a:t>
            </a:r>
            <a:endParaRPr lang="en-US" sz="2200" dirty="0"/>
          </a:p>
        </p:txBody>
      </p:sp>
      <p:sp>
        <p:nvSpPr>
          <p:cNvPr id="25" name="Text 22"/>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6" name="Text 2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hoto.jpg">    </p:cNvPr>
          <p:cNvPicPr>
            <a:picLocks noChangeAspect="1"/>
          </p:cNvPicPr>
          <p:nvPr/>
        </p:nvPicPr>
        <p:blipFill>
          <a:blip r:embed="rId2"/>
          <a:stretch>
            <a:fillRect/>
          </a:stretch>
        </p:blipFill>
        <p:spPr>
          <a:xfrm>
            <a:off x="6336792" y="0"/>
            <a:ext cx="5852160" cy="6858000"/>
          </a:xfrm>
          <a:prstGeom prst="rect">
            <a:avLst/>
          </a:prstGeom>
        </p:spPr>
      </p:pic>
      <p:sp>
        <p:nvSpPr>
          <p:cNvPr id="4" name="Shape 0"/>
          <p:cNvSpPr/>
          <p:nvPr/>
        </p:nvSpPr>
        <p:spPr>
          <a:xfrm>
            <a:off x="6336792" y="0"/>
            <a:ext cx="822960" cy="6858000"/>
          </a:xfrm>
          <a:prstGeom prst="rect">
            <a:avLst/>
          </a:prstGeom>
          <a:solidFill>
            <a:srgbClr val="0B0A12">
              <a:alpha val="60000"/>
            </a:srgbClr>
          </a:solidFill>
          <a:ln w="12700">
            <a:solidFill>
              <a:srgbClr val="0B0A12">
                <a:alpha val="0"/>
              </a:srgbClr>
            </a:solidFill>
            <a:prstDash val="solid"/>
          </a:ln>
        </p:spPr>
      </p:sp>
      <p:sp>
        <p:nvSpPr>
          <p:cNvPr id="5" name="Text 1"/>
          <p:cNvSpPr txBox="1"/>
          <p:nvPr/>
        </p:nvSpPr>
        <p:spPr>
          <a:xfrm>
            <a:off x="548640" y="822960"/>
            <a:ext cx="5120640" cy="2011680"/>
          </a:xfrm>
          <a:prstGeom prst="rect">
            <a:avLst/>
          </a:prstGeom>
          <a:noFill/>
          <a:ln/>
        </p:spPr>
        <p:txBody>
          <a:bodyPr wrap="square" lIns="0" tIns="0" rIns="0" bIns="0" rtlCol="0" anchor="ctr">
            <a:normAutofit/>
          </a:bodyPr>
          <a:lstStyle/>
          <a:p>
            <a:pPr indent="0" marL="0">
              <a:buNone/>
            </a:pPr>
            <a:r>
              <a:rPr lang="en-US" sz="12000" i="1" dirty="0">
                <a:solidFill>
                  <a:srgbClr val="B79CF5"/>
                </a:solidFill>
                <a:latin typeface="Instrument Serif" pitchFamily="34" charset="0"/>
                <a:ea typeface="Instrument Serif" pitchFamily="34" charset="-122"/>
                <a:cs typeface="Instrument Serif" pitchFamily="34" charset="-120"/>
              </a:rPr>
              <a:t>03</a:t>
            </a:r>
            <a:endParaRPr lang="en-US" sz="12000" dirty="0"/>
          </a:p>
        </p:txBody>
      </p:sp>
      <p:sp>
        <p:nvSpPr>
          <p:cNvPr id="6" name="Text 2"/>
          <p:cNvSpPr txBox="1"/>
          <p:nvPr/>
        </p:nvSpPr>
        <p:spPr>
          <a:xfrm>
            <a:off x="548640" y="2926080"/>
            <a:ext cx="5394960" cy="1005840"/>
          </a:xfrm>
          <a:prstGeom prst="rect">
            <a:avLst/>
          </a:prstGeom>
          <a:noFill/>
          <a:ln/>
        </p:spPr>
        <p:txBody>
          <a:bodyPr wrap="square" lIns="0" tIns="0" rIns="0" bIns="0" rtlCol="0" anchor="ctr">
            <a:normAutofit/>
          </a:bodyPr>
          <a:lstStyle/>
          <a:p>
            <a:pPr indent="0" marL="0">
              <a:buNone/>
            </a:pPr>
            <a:r>
              <a:rPr lang="en-US" sz="4800" b="1" dirty="0">
                <a:solidFill>
                  <a:srgbClr val="F1EEFB"/>
                </a:solidFill>
                <a:latin typeface="Outfit" pitchFamily="34" charset="0"/>
                <a:ea typeface="Outfit" pitchFamily="34" charset="-122"/>
                <a:cs typeface="Outfit" pitchFamily="34" charset="-120"/>
              </a:rPr>
              <a:t>[Step 3 name]</a:t>
            </a:r>
            <a:endParaRPr lang="en-US" sz="4800" dirty="0"/>
          </a:p>
        </p:txBody>
      </p:sp>
      <p:sp>
        <p:nvSpPr>
          <p:cNvPr id="7" name="Text 3"/>
          <p:cNvSpPr txBox="1"/>
          <p:nvPr/>
        </p:nvSpPr>
        <p:spPr>
          <a:xfrm>
            <a:off x="548640" y="4069080"/>
            <a:ext cx="5394960" cy="1097280"/>
          </a:xfrm>
          <a:prstGeom prst="rect">
            <a:avLst/>
          </a:prstGeom>
          <a:noFill/>
          <a:ln/>
        </p:spPr>
        <p:txBody>
          <a:bodyPr wrap="square" lIns="0" tIns="0" rIns="0" bIns="0" rtlCol="0" anchor="t">
            <a:normAutofit/>
          </a:bodyPr>
          <a:lstStyle/>
          <a:p>
            <a:pPr indent="0" marL="0">
              <a:buNone/>
            </a:pPr>
            <a:r>
              <a:rPr lang="en-US" sz="1200" spc="300" kern="0" dirty="0">
                <a:solidFill>
                  <a:srgbClr val="E8C878"/>
                </a:solidFill>
                <a:latin typeface="DM Mono" pitchFamily="34" charset="0"/>
                <a:ea typeface="DM Mono" pitchFamily="34" charset="-122"/>
                <a:cs typeface="DM Mono" pitchFamily="34" charset="-120"/>
              </a:rPr>
              <a:t>[ONE LINE: WHAT STEP THREE IS, IN PLAIN WORDS]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STEP 3</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[Step 3 in one sentence: the third thing to get right]</a:t>
            </a:r>
            <a:endParaRPr lang="en-US" sz="3000" dirty="0"/>
          </a:p>
        </p:txBody>
      </p:sp>
      <p:sp>
        <p:nvSpPr>
          <p:cNvPr id="5" name="Shape 2"/>
          <p:cNvSpPr/>
          <p:nvPr/>
        </p:nvSpPr>
        <p:spPr>
          <a:xfrm>
            <a:off x="548640" y="1737360"/>
            <a:ext cx="11091672" cy="731520"/>
          </a:xfrm>
          <a:prstGeom prst="roundRect">
            <a:avLst>
              <a:gd name="adj" fmla="val 22500"/>
            </a:avLst>
          </a:prstGeom>
          <a:solidFill>
            <a:srgbClr val="1C1829"/>
          </a:solidFill>
          <a:ln w="9525">
            <a:solidFill>
              <a:srgbClr val="2A2540"/>
            </a:solidFill>
            <a:prstDash val="solid"/>
          </a:ln>
        </p:spPr>
      </p:sp>
      <p:sp>
        <p:nvSpPr>
          <p:cNvPr id="6" name="Text 3"/>
          <p:cNvSpPr txBox="1"/>
          <p:nvPr/>
        </p:nvSpPr>
        <p:spPr>
          <a:xfrm>
            <a:off x="822960" y="1737360"/>
            <a:ext cx="10515600" cy="731520"/>
          </a:xfrm>
          <a:prstGeom prst="rect">
            <a:avLst/>
          </a:prstGeom>
          <a:noFill/>
          <a:ln/>
        </p:spPr>
        <p:txBody>
          <a:bodyPr wrap="square" lIns="0" tIns="0" rIns="0" bIns="0" rtlCol="0" anchor="ctr">
            <a:normAutofit/>
          </a:bodyPr>
          <a:lstStyle/>
          <a:p>
            <a:pPr indent="0" marL="0">
              <a:buNone/>
            </a:pPr>
            <a:r>
              <a:rPr lang="en-US" sz="1150" spc="200" kern="0" dirty="0">
                <a:solidFill>
                  <a:srgbClr val="E8C878"/>
                </a:solidFill>
                <a:latin typeface="DM Mono" pitchFamily="34" charset="0"/>
                <a:ea typeface="DM Mono" pitchFamily="34" charset="-122"/>
                <a:cs typeface="DM Mono" pitchFamily="34" charset="-120"/>
              </a:rPr>
              <a:t>[THE KEY IDEA OF STEP THREE, ONE LINE]</a:t>
            </a:r>
            <a:endParaRPr lang="en-US" sz="1150" dirty="0"/>
          </a:p>
        </p:txBody>
      </p:sp>
      <p:sp>
        <p:nvSpPr>
          <p:cNvPr id="7" name="Shape 4"/>
          <p:cNvSpPr/>
          <p:nvPr/>
        </p:nvSpPr>
        <p:spPr>
          <a:xfrm>
            <a:off x="548640" y="2697480"/>
            <a:ext cx="3639312" cy="2514600"/>
          </a:xfrm>
          <a:prstGeom prst="roundRect">
            <a:avLst>
              <a:gd name="adj" fmla="val 6545"/>
            </a:avLst>
          </a:prstGeom>
          <a:solidFill>
            <a:srgbClr val="15121F"/>
          </a:solidFill>
          <a:ln w="9525">
            <a:solidFill>
              <a:srgbClr val="2A2540"/>
            </a:solidFill>
            <a:prstDash val="solid"/>
          </a:ln>
        </p:spPr>
      </p:sp>
      <p:sp>
        <p:nvSpPr>
          <p:cNvPr id="8" name="Text 5"/>
          <p:cNvSpPr txBox="1"/>
          <p:nvPr/>
        </p:nvSpPr>
        <p:spPr>
          <a:xfrm>
            <a:off x="777240" y="2880360"/>
            <a:ext cx="32004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WHAT TO DO</a:t>
            </a:r>
            <a:endParaRPr lang="en-US" sz="1050" dirty="0"/>
          </a:p>
        </p:txBody>
      </p:sp>
      <p:sp>
        <p:nvSpPr>
          <p:cNvPr id="9" name="Text 6"/>
          <p:cNvSpPr txBox="1"/>
          <p:nvPr/>
        </p:nvSpPr>
        <p:spPr>
          <a:xfrm>
            <a:off x="77724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[What they do, in two or three sentences.]</a:t>
            </a:r>
            <a:endParaRPr lang="en-US" sz="1400" dirty="0"/>
          </a:p>
        </p:txBody>
      </p:sp>
      <p:sp>
        <p:nvSpPr>
          <p:cNvPr id="10" name="Shape 7"/>
          <p:cNvSpPr/>
          <p:nvPr/>
        </p:nvSpPr>
        <p:spPr>
          <a:xfrm>
            <a:off x="4274820" y="2697480"/>
            <a:ext cx="3639312" cy="2514600"/>
          </a:xfrm>
          <a:prstGeom prst="roundRect">
            <a:avLst>
              <a:gd name="adj" fmla="val 6545"/>
            </a:avLst>
          </a:prstGeom>
          <a:solidFill>
            <a:srgbClr val="15121F"/>
          </a:solidFill>
          <a:ln w="9525">
            <a:solidFill>
              <a:srgbClr val="2A2540"/>
            </a:solidFill>
            <a:prstDash val="solid"/>
          </a:ln>
        </p:spPr>
      </p:sp>
      <p:sp>
        <p:nvSpPr>
          <p:cNvPr id="11" name="Text 8"/>
          <p:cNvSpPr txBox="1"/>
          <p:nvPr/>
        </p:nvSpPr>
        <p:spPr>
          <a:xfrm>
            <a:off x="4503420" y="2880360"/>
            <a:ext cx="32004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HOW TO DO IT</a:t>
            </a:r>
            <a:endParaRPr lang="en-US" sz="1050" dirty="0"/>
          </a:p>
        </p:txBody>
      </p:sp>
      <p:sp>
        <p:nvSpPr>
          <p:cNvPr id="12" name="Text 9"/>
          <p:cNvSpPr txBox="1"/>
          <p:nvPr/>
        </p:nvSpPr>
        <p:spPr>
          <a:xfrm>
            <a:off x="450342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[How, with one concrete example.]</a:t>
            </a:r>
            <a:endParaRPr lang="en-US" sz="1400" dirty="0"/>
          </a:p>
        </p:txBody>
      </p:sp>
      <p:sp>
        <p:nvSpPr>
          <p:cNvPr id="13" name="Shape 10"/>
          <p:cNvSpPr/>
          <p:nvPr/>
        </p:nvSpPr>
        <p:spPr>
          <a:xfrm>
            <a:off x="8001000" y="2697480"/>
            <a:ext cx="3639312" cy="2514600"/>
          </a:xfrm>
          <a:prstGeom prst="roundRect">
            <a:avLst>
              <a:gd name="adj" fmla="val 6545"/>
            </a:avLst>
          </a:prstGeom>
          <a:solidFill>
            <a:srgbClr val="15121F"/>
          </a:solidFill>
          <a:ln w="9525">
            <a:solidFill>
              <a:srgbClr val="2A2540"/>
            </a:solidFill>
            <a:prstDash val="solid"/>
          </a:ln>
        </p:spPr>
      </p:sp>
      <p:sp>
        <p:nvSpPr>
          <p:cNvPr id="14" name="Text 11"/>
          <p:cNvSpPr txBox="1"/>
          <p:nvPr/>
        </p:nvSpPr>
        <p:spPr>
          <a:xfrm>
            <a:off x="8229600" y="2880360"/>
            <a:ext cx="3200400" cy="274320"/>
          </a:xfrm>
          <a:prstGeom prst="rect">
            <a:avLst/>
          </a:prstGeom>
          <a:noFill/>
          <a:ln/>
        </p:spPr>
        <p:txBody>
          <a:bodyPr wrap="square" lIns="0" tIns="0" rIns="0" bIns="0" rtlCol="0" anchor="ctr"/>
          <a:lstStyle/>
          <a:p>
            <a:pPr indent="0" marL="0">
              <a:buNone/>
            </a:pPr>
            <a:r>
              <a:rPr lang="en-US" sz="1050" spc="300" kern="0" dirty="0">
                <a:solidFill>
                  <a:srgbClr val="F08BB0"/>
                </a:solidFill>
                <a:latin typeface="DM Mono" pitchFamily="34" charset="0"/>
                <a:ea typeface="DM Mono" pitchFamily="34" charset="-122"/>
                <a:cs typeface="DM Mono" pitchFamily="34" charset="-120"/>
              </a:rPr>
              <a:t>THE MISTAKE TO AVOID</a:t>
            </a:r>
            <a:endParaRPr lang="en-US" sz="1050" dirty="0"/>
          </a:p>
        </p:txBody>
      </p:sp>
      <p:sp>
        <p:nvSpPr>
          <p:cNvPr id="15" name="Text 12"/>
          <p:cNvSpPr txBox="1"/>
          <p:nvPr/>
        </p:nvSpPr>
        <p:spPr>
          <a:xfrm>
            <a:off x="8229600" y="3246120"/>
            <a:ext cx="3200400" cy="1828800"/>
          </a:xfrm>
          <a:prstGeom prst="rect">
            <a:avLst/>
          </a:prstGeom>
          <a:noFill/>
          <a:ln/>
        </p:spPr>
        <p:txBody>
          <a:bodyPr wrap="square" lIns="0" tIns="0" rIns="0" bIns="0" rtlCol="0" anchor="t">
            <a:normAutofit/>
          </a:bodyPr>
          <a:lstStyle/>
          <a:p>
            <a:pPr indent="0" marL="0">
              <a:buNone/>
            </a:pPr>
            <a:r>
              <a:rPr lang="en-US" sz="1400" dirty="0">
                <a:solidFill>
                  <a:srgbClr val="F1EEFB"/>
                </a:solidFill>
                <a:latin typeface="Outfit" pitchFamily="34" charset="0"/>
                <a:ea typeface="Outfit" pitchFamily="34" charset="-122"/>
                <a:cs typeface="Outfit" pitchFamily="34" charset="-120"/>
              </a:rPr>
              <a:t>[The mistake almost everyone makes here.]</a:t>
            </a:r>
            <a:endParaRPr lang="en-US" sz="1400" dirty="0"/>
          </a:p>
        </p:txBody>
      </p:sp>
      <p:sp>
        <p:nvSpPr>
          <p:cNvPr id="16" name="Text 13"/>
          <p:cNvSpPr txBox="1"/>
          <p:nvPr/>
        </p:nvSpPr>
        <p:spPr>
          <a:xfrm>
            <a:off x="548640" y="5394960"/>
            <a:ext cx="11064240" cy="731520"/>
          </a:xfrm>
          <a:prstGeom prst="rect">
            <a:avLst/>
          </a:prstGeom>
          <a:noFill/>
          <a:ln/>
        </p:spPr>
        <p:txBody>
          <a:bodyPr wrap="square" lIns="0" tIns="0" rIns="0" bIns="0" rtlCol="0" anchor="ctr">
            <a:normAutofit/>
          </a:bodyP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[Why this step matters, one line.]</a:t>
            </a:r>
            <a:endParaRPr lang="en-US" sz="2200" dirty="0"/>
          </a:p>
        </p:txBody>
      </p:sp>
      <p:sp>
        <p:nvSpPr>
          <p:cNvPr id="17" name="Text 14"/>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18" name="Text 1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WHAT IT LOOKS LIKE</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What happens when you book [your audit name]</a:t>
            </a:r>
            <a:endParaRPr lang="en-US" sz="3000" dirty="0"/>
          </a:p>
        </p:txBody>
      </p:sp>
      <p:sp>
        <p:nvSpPr>
          <p:cNvPr id="5" name="Shape 2"/>
          <p:cNvSpPr/>
          <p:nvPr/>
        </p:nvSpPr>
        <p:spPr>
          <a:xfrm>
            <a:off x="548640" y="1764792"/>
            <a:ext cx="3419856" cy="2518029"/>
          </a:xfrm>
          <a:prstGeom prst="roundRect">
            <a:avLst>
              <a:gd name="adj" fmla="val 6537"/>
            </a:avLst>
          </a:prstGeom>
          <a:solidFill>
            <a:srgbClr val="1C1829"/>
          </a:solidFill>
          <a:ln w="9525">
            <a:solidFill>
              <a:srgbClr val="2A2540"/>
            </a:solidFill>
            <a:prstDash val="solid"/>
          </a:ln>
        </p:spPr>
      </p:sp>
      <p:sp>
        <p:nvSpPr>
          <p:cNvPr id="6" name="Shape 3"/>
          <p:cNvSpPr/>
          <p:nvPr/>
        </p:nvSpPr>
        <p:spPr>
          <a:xfrm>
            <a:off x="676656" y="1874520"/>
            <a:ext cx="109728" cy="109728"/>
          </a:xfrm>
          <a:prstGeom prst="ellipse">
            <a:avLst/>
          </a:prstGeom>
          <a:solidFill>
            <a:srgbClr val="F08BB0"/>
          </a:solidFill>
          <a:ln w="12700">
            <a:solidFill>
              <a:srgbClr val="F08BB0"/>
            </a:solidFill>
            <a:prstDash val="solid"/>
          </a:ln>
        </p:spPr>
      </p:sp>
      <p:sp>
        <p:nvSpPr>
          <p:cNvPr id="7" name="Shape 4"/>
          <p:cNvSpPr/>
          <p:nvPr/>
        </p:nvSpPr>
        <p:spPr>
          <a:xfrm>
            <a:off x="859536" y="1874520"/>
            <a:ext cx="109728" cy="109728"/>
          </a:xfrm>
          <a:prstGeom prst="ellipse">
            <a:avLst/>
          </a:prstGeom>
          <a:solidFill>
            <a:srgbClr val="E8C878"/>
          </a:solidFill>
          <a:ln w="12700">
            <a:solidFill>
              <a:srgbClr val="E8C878"/>
            </a:solidFill>
            <a:prstDash val="solid"/>
          </a:ln>
        </p:spPr>
      </p:sp>
      <p:sp>
        <p:nvSpPr>
          <p:cNvPr id="8" name="Shape 5"/>
          <p:cNvSpPr/>
          <p:nvPr/>
        </p:nvSpPr>
        <p:spPr>
          <a:xfrm>
            <a:off x="1042416" y="1874520"/>
            <a:ext cx="109728" cy="109728"/>
          </a:xfrm>
          <a:prstGeom prst="ellipse">
            <a:avLst/>
          </a:prstGeom>
          <a:solidFill>
            <a:srgbClr val="7FE0B8"/>
          </a:solidFill>
          <a:ln w="12700">
            <a:solidFill>
              <a:srgbClr val="7FE0B8"/>
            </a:solidFill>
            <a:prstDash val="solid"/>
          </a:ln>
        </p:spPr>
      </p:sp>
      <p:pic>
        <p:nvPicPr>
          <p:cNvPr id="9" name="Image 0" descr="shot.jpg">    </p:cNvPr>
          <p:cNvPicPr>
            <a:picLocks noChangeAspect="1"/>
          </p:cNvPicPr>
          <p:nvPr/>
        </p:nvPicPr>
        <p:blipFill>
          <a:blip r:embed="rId2"/>
          <a:stretch>
            <a:fillRect/>
          </a:stretch>
        </p:blipFill>
        <p:spPr>
          <a:xfrm>
            <a:off x="658368" y="2148840"/>
            <a:ext cx="3200400" cy="2024253"/>
          </a:xfrm>
          <a:prstGeom prst="rect">
            <a:avLst/>
          </a:prstGeom>
        </p:spPr>
      </p:pic>
      <p:sp>
        <p:nvSpPr>
          <p:cNvPr id="10" name="Text 6"/>
          <p:cNvSpPr txBox="1"/>
          <p:nvPr/>
        </p:nvSpPr>
        <p:spPr>
          <a:xfrm>
            <a:off x="658368" y="4343400"/>
            <a:ext cx="3200400" cy="411480"/>
          </a:xfrm>
          <a:prstGeom prst="rect">
            <a:avLst/>
          </a:prstGeom>
          <a:noFill/>
          <a:ln/>
        </p:spPr>
        <p:txBody>
          <a:bodyPr wrap="square" lIns="0" tIns="0" rIns="0" bIns="0" rtlCol="0" anchor="ctr"/>
          <a:lstStyle/>
          <a:p>
            <a:pPr indent="0" marL="0">
              <a:buNone/>
            </a:pPr>
            <a:r>
              <a:rPr lang="en-US" sz="1900" b="1" dirty="0">
                <a:solidFill>
                  <a:srgbClr val="E8C878"/>
                </a:solidFill>
                <a:latin typeface="Outfit" pitchFamily="34" charset="0"/>
                <a:ea typeface="Outfit" pitchFamily="34" charset="-122"/>
                <a:cs typeface="Outfit" pitchFamily="34" charset="-120"/>
              </a:rPr>
              <a:t>Before</a:t>
            </a:r>
            <a:endParaRPr lang="en-US" sz="1900" dirty="0"/>
          </a:p>
        </p:txBody>
      </p:sp>
      <p:sp>
        <p:nvSpPr>
          <p:cNvPr id="11" name="Text 7"/>
          <p:cNvSpPr txBox="1"/>
          <p:nvPr/>
        </p:nvSpPr>
        <p:spPr>
          <a:xfrm>
            <a:off x="658368" y="4754880"/>
            <a:ext cx="3200400" cy="5486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send you, and what you do with it before the call.]</a:t>
            </a:r>
            <a:endParaRPr lang="en-US" sz="1300" dirty="0"/>
          </a:p>
        </p:txBody>
      </p:sp>
      <p:sp>
        <p:nvSpPr>
          <p:cNvPr id="12" name="Text 8"/>
          <p:cNvSpPr txBox="1"/>
          <p:nvPr/>
        </p:nvSpPr>
        <p:spPr>
          <a:xfrm>
            <a:off x="3877056" y="2926080"/>
            <a:ext cx="365760" cy="457200"/>
          </a:xfrm>
          <a:prstGeom prst="rect">
            <a:avLst/>
          </a:prstGeom>
          <a:noFill/>
          <a:ln/>
        </p:spPr>
        <p:txBody>
          <a:bodyPr wrap="square" lIns="0" tIns="0" rIns="0" bIns="0" rtlCol="0" anchor="ctr"/>
          <a:lstStyle/>
          <a:p>
            <a:pPr algn="ctr" indent="0" marL="0">
              <a:buNone/>
            </a:pPr>
            <a:r>
              <a:rPr lang="en-US" sz="2200" dirty="0">
                <a:solidFill>
                  <a:srgbClr val="B79CF5"/>
                </a:solidFill>
              </a:rPr>
              <a:t>→</a:t>
            </a:r>
            <a:endParaRPr lang="en-US" sz="2200" dirty="0"/>
          </a:p>
        </p:txBody>
      </p:sp>
      <p:sp>
        <p:nvSpPr>
          <p:cNvPr id="13" name="Shape 9"/>
          <p:cNvSpPr/>
          <p:nvPr/>
        </p:nvSpPr>
        <p:spPr>
          <a:xfrm>
            <a:off x="4279392" y="1764792"/>
            <a:ext cx="3419856" cy="2518029"/>
          </a:xfrm>
          <a:prstGeom prst="roundRect">
            <a:avLst>
              <a:gd name="adj" fmla="val 6537"/>
            </a:avLst>
          </a:prstGeom>
          <a:solidFill>
            <a:srgbClr val="1C1829"/>
          </a:solidFill>
          <a:ln w="9525">
            <a:solidFill>
              <a:srgbClr val="2A2540"/>
            </a:solidFill>
            <a:prstDash val="solid"/>
          </a:ln>
        </p:spPr>
      </p:sp>
      <p:sp>
        <p:nvSpPr>
          <p:cNvPr id="14" name="Shape 10"/>
          <p:cNvSpPr/>
          <p:nvPr/>
        </p:nvSpPr>
        <p:spPr>
          <a:xfrm>
            <a:off x="4407408" y="1874520"/>
            <a:ext cx="109728" cy="109728"/>
          </a:xfrm>
          <a:prstGeom prst="ellipse">
            <a:avLst/>
          </a:prstGeom>
          <a:solidFill>
            <a:srgbClr val="F08BB0"/>
          </a:solidFill>
          <a:ln w="12700">
            <a:solidFill>
              <a:srgbClr val="F08BB0"/>
            </a:solidFill>
            <a:prstDash val="solid"/>
          </a:ln>
        </p:spPr>
      </p:sp>
      <p:sp>
        <p:nvSpPr>
          <p:cNvPr id="15" name="Shape 11"/>
          <p:cNvSpPr/>
          <p:nvPr/>
        </p:nvSpPr>
        <p:spPr>
          <a:xfrm>
            <a:off x="4590288" y="1874520"/>
            <a:ext cx="109728" cy="109728"/>
          </a:xfrm>
          <a:prstGeom prst="ellipse">
            <a:avLst/>
          </a:prstGeom>
          <a:solidFill>
            <a:srgbClr val="E8C878"/>
          </a:solidFill>
          <a:ln w="12700">
            <a:solidFill>
              <a:srgbClr val="E8C878"/>
            </a:solidFill>
            <a:prstDash val="solid"/>
          </a:ln>
        </p:spPr>
      </p:sp>
      <p:sp>
        <p:nvSpPr>
          <p:cNvPr id="16" name="Shape 12"/>
          <p:cNvSpPr/>
          <p:nvPr/>
        </p:nvSpPr>
        <p:spPr>
          <a:xfrm>
            <a:off x="4773168" y="1874520"/>
            <a:ext cx="109728" cy="109728"/>
          </a:xfrm>
          <a:prstGeom prst="ellipse">
            <a:avLst/>
          </a:prstGeom>
          <a:solidFill>
            <a:srgbClr val="7FE0B8"/>
          </a:solidFill>
          <a:ln w="12700">
            <a:solidFill>
              <a:srgbClr val="7FE0B8"/>
            </a:solidFill>
            <a:prstDash val="solid"/>
          </a:ln>
        </p:spPr>
      </p:sp>
      <p:pic>
        <p:nvPicPr>
          <p:cNvPr id="17" name="Image 1" descr="shot.jpg">    </p:cNvPr>
          <p:cNvPicPr>
            <a:picLocks noChangeAspect="1"/>
          </p:cNvPicPr>
          <p:nvPr/>
        </p:nvPicPr>
        <p:blipFill>
          <a:blip r:embed="rId3"/>
          <a:stretch>
            <a:fillRect/>
          </a:stretch>
        </p:blipFill>
        <p:spPr>
          <a:xfrm>
            <a:off x="4389120" y="2148840"/>
            <a:ext cx="3200400" cy="2024253"/>
          </a:xfrm>
          <a:prstGeom prst="rect">
            <a:avLst/>
          </a:prstGeom>
        </p:spPr>
      </p:pic>
      <p:sp>
        <p:nvSpPr>
          <p:cNvPr id="18" name="Text 13"/>
          <p:cNvSpPr txBox="1"/>
          <p:nvPr/>
        </p:nvSpPr>
        <p:spPr>
          <a:xfrm>
            <a:off x="4389120" y="4343400"/>
            <a:ext cx="3200400" cy="411480"/>
          </a:xfrm>
          <a:prstGeom prst="rect">
            <a:avLst/>
          </a:prstGeom>
          <a:noFill/>
          <a:ln/>
        </p:spPr>
        <p:txBody>
          <a:bodyPr wrap="square" lIns="0" tIns="0" rIns="0" bIns="0" rtlCol="0" anchor="ctr"/>
          <a:lstStyle/>
          <a:p>
            <a:pPr indent="0" marL="0">
              <a:buNone/>
            </a:pPr>
            <a:r>
              <a:rPr lang="en-US" sz="1900" b="1" dirty="0">
                <a:solidFill>
                  <a:srgbClr val="E8C878"/>
                </a:solidFill>
                <a:latin typeface="Outfit" pitchFamily="34" charset="0"/>
                <a:ea typeface="Outfit" pitchFamily="34" charset="-122"/>
                <a:cs typeface="Outfit" pitchFamily="34" charset="-120"/>
              </a:rPr>
              <a:t>The 60 minutes</a:t>
            </a:r>
            <a:endParaRPr lang="en-US" sz="1900" dirty="0"/>
          </a:p>
        </p:txBody>
      </p:sp>
      <p:sp>
        <p:nvSpPr>
          <p:cNvPr id="19" name="Text 14"/>
          <p:cNvSpPr txBox="1"/>
          <p:nvPr/>
        </p:nvSpPr>
        <p:spPr>
          <a:xfrm>
            <a:off x="4389120" y="4754880"/>
            <a:ext cx="3200400" cy="5486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happens on the call, in one line.]</a:t>
            </a:r>
            <a:endParaRPr lang="en-US" sz="1300" dirty="0"/>
          </a:p>
        </p:txBody>
      </p:sp>
      <p:sp>
        <p:nvSpPr>
          <p:cNvPr id="20" name="Text 15"/>
          <p:cNvSpPr txBox="1"/>
          <p:nvPr/>
        </p:nvSpPr>
        <p:spPr>
          <a:xfrm>
            <a:off x="7607808" y="2926080"/>
            <a:ext cx="365760" cy="457200"/>
          </a:xfrm>
          <a:prstGeom prst="rect">
            <a:avLst/>
          </a:prstGeom>
          <a:noFill/>
          <a:ln/>
        </p:spPr>
        <p:txBody>
          <a:bodyPr wrap="square" lIns="0" tIns="0" rIns="0" bIns="0" rtlCol="0" anchor="ctr"/>
          <a:lstStyle/>
          <a:p>
            <a:pPr algn="ctr" indent="0" marL="0">
              <a:buNone/>
            </a:pPr>
            <a:r>
              <a:rPr lang="en-US" sz="2200" dirty="0">
                <a:solidFill>
                  <a:srgbClr val="B79CF5"/>
                </a:solidFill>
              </a:rPr>
              <a:t>→</a:t>
            </a:r>
            <a:endParaRPr lang="en-US" sz="2200" dirty="0"/>
          </a:p>
        </p:txBody>
      </p:sp>
      <p:sp>
        <p:nvSpPr>
          <p:cNvPr id="21" name="Shape 16"/>
          <p:cNvSpPr/>
          <p:nvPr/>
        </p:nvSpPr>
        <p:spPr>
          <a:xfrm>
            <a:off x="8010144" y="1764792"/>
            <a:ext cx="3419856" cy="2518029"/>
          </a:xfrm>
          <a:prstGeom prst="roundRect">
            <a:avLst>
              <a:gd name="adj" fmla="val 6537"/>
            </a:avLst>
          </a:prstGeom>
          <a:solidFill>
            <a:srgbClr val="1C1829"/>
          </a:solidFill>
          <a:ln w="9525">
            <a:solidFill>
              <a:srgbClr val="2A2540"/>
            </a:solidFill>
            <a:prstDash val="solid"/>
          </a:ln>
        </p:spPr>
      </p:sp>
      <p:sp>
        <p:nvSpPr>
          <p:cNvPr id="22" name="Shape 17"/>
          <p:cNvSpPr/>
          <p:nvPr/>
        </p:nvSpPr>
        <p:spPr>
          <a:xfrm>
            <a:off x="8138160" y="1874520"/>
            <a:ext cx="109728" cy="109728"/>
          </a:xfrm>
          <a:prstGeom prst="ellipse">
            <a:avLst/>
          </a:prstGeom>
          <a:solidFill>
            <a:srgbClr val="F08BB0"/>
          </a:solidFill>
          <a:ln w="12700">
            <a:solidFill>
              <a:srgbClr val="F08BB0"/>
            </a:solidFill>
            <a:prstDash val="solid"/>
          </a:ln>
        </p:spPr>
      </p:sp>
      <p:sp>
        <p:nvSpPr>
          <p:cNvPr id="23" name="Shape 18"/>
          <p:cNvSpPr/>
          <p:nvPr/>
        </p:nvSpPr>
        <p:spPr>
          <a:xfrm>
            <a:off x="8321040" y="1874520"/>
            <a:ext cx="109728" cy="109728"/>
          </a:xfrm>
          <a:prstGeom prst="ellipse">
            <a:avLst/>
          </a:prstGeom>
          <a:solidFill>
            <a:srgbClr val="E8C878"/>
          </a:solidFill>
          <a:ln w="12700">
            <a:solidFill>
              <a:srgbClr val="E8C878"/>
            </a:solidFill>
            <a:prstDash val="solid"/>
          </a:ln>
        </p:spPr>
      </p:sp>
      <p:sp>
        <p:nvSpPr>
          <p:cNvPr id="24" name="Shape 19"/>
          <p:cNvSpPr/>
          <p:nvPr/>
        </p:nvSpPr>
        <p:spPr>
          <a:xfrm>
            <a:off x="8503920" y="1874520"/>
            <a:ext cx="109728" cy="109728"/>
          </a:xfrm>
          <a:prstGeom prst="ellipse">
            <a:avLst/>
          </a:prstGeom>
          <a:solidFill>
            <a:srgbClr val="7FE0B8"/>
          </a:solidFill>
          <a:ln w="12700">
            <a:solidFill>
              <a:srgbClr val="7FE0B8"/>
            </a:solidFill>
            <a:prstDash val="solid"/>
          </a:ln>
        </p:spPr>
      </p:sp>
      <p:pic>
        <p:nvPicPr>
          <p:cNvPr id="25" name="Image 2" descr="shot.jpg">    </p:cNvPr>
          <p:cNvPicPr>
            <a:picLocks noChangeAspect="1"/>
          </p:cNvPicPr>
          <p:nvPr/>
        </p:nvPicPr>
        <p:blipFill>
          <a:blip r:embed="rId4"/>
          <a:stretch>
            <a:fillRect/>
          </a:stretch>
        </p:blipFill>
        <p:spPr>
          <a:xfrm>
            <a:off x="8119872" y="2148840"/>
            <a:ext cx="3200400" cy="2024253"/>
          </a:xfrm>
          <a:prstGeom prst="rect">
            <a:avLst/>
          </a:prstGeom>
        </p:spPr>
      </p:pic>
      <p:sp>
        <p:nvSpPr>
          <p:cNvPr id="26" name="Text 20"/>
          <p:cNvSpPr txBox="1"/>
          <p:nvPr/>
        </p:nvSpPr>
        <p:spPr>
          <a:xfrm>
            <a:off x="8119872" y="4343400"/>
            <a:ext cx="3200400" cy="411480"/>
          </a:xfrm>
          <a:prstGeom prst="rect">
            <a:avLst/>
          </a:prstGeom>
          <a:noFill/>
          <a:ln/>
        </p:spPr>
        <p:txBody>
          <a:bodyPr wrap="square" lIns="0" tIns="0" rIns="0" bIns="0" rtlCol="0" anchor="ctr"/>
          <a:lstStyle/>
          <a:p>
            <a:pPr indent="0" marL="0">
              <a:buNone/>
            </a:pPr>
            <a:r>
              <a:rPr lang="en-US" sz="1900" b="1" dirty="0">
                <a:solidFill>
                  <a:srgbClr val="E8C878"/>
                </a:solidFill>
                <a:latin typeface="Outfit" pitchFamily="34" charset="0"/>
                <a:ea typeface="Outfit" pitchFamily="34" charset="-122"/>
                <a:cs typeface="Outfit" pitchFamily="34" charset="-120"/>
              </a:rPr>
              <a:t>After</a:t>
            </a:r>
            <a:endParaRPr lang="en-US" sz="1900" dirty="0"/>
          </a:p>
        </p:txBody>
      </p:sp>
      <p:sp>
        <p:nvSpPr>
          <p:cNvPr id="27" name="Text 21"/>
          <p:cNvSpPr txBox="1"/>
          <p:nvPr/>
        </p:nvSpPr>
        <p:spPr>
          <a:xfrm>
            <a:off x="8119872" y="4754880"/>
            <a:ext cx="3200400" cy="54864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walk away with, in one line.]</a:t>
            </a:r>
            <a:endParaRPr lang="en-US" sz="1300" dirty="0"/>
          </a:p>
        </p:txBody>
      </p:sp>
      <p:sp>
        <p:nvSpPr>
          <p:cNvPr id="28" name="Text 22"/>
          <p:cNvSpPr txBox="1"/>
          <p:nvPr/>
        </p:nvSpPr>
        <p:spPr>
          <a:xfrm>
            <a:off x="548640" y="5440680"/>
            <a:ext cx="11064240" cy="731520"/>
          </a:xfrm>
          <a:prstGeom prst="rect">
            <a:avLst/>
          </a:prstGeom>
          <a:noFill/>
          <a:ln/>
        </p:spPr>
        <p:txBody>
          <a:bodyPr wrap="square" lIns="0" tIns="0" rIns="0" bIns="0" rtlCol="0" anchor="ctr">
            <a:normAutofit/>
          </a:bodyPr>
          <a:lstStyle/>
          <a:p>
            <a:pPr indent="0" marL="0">
              <a:buNone/>
            </a:pPr>
            <a:r>
              <a:rPr lang="en-US" sz="2100" i="1" dirty="0">
                <a:solidFill>
                  <a:srgbClr val="B79CF5"/>
                </a:solidFill>
                <a:latin typeface="Instrument Serif" pitchFamily="34" charset="0"/>
                <a:ea typeface="Instrument Serif" pitchFamily="34" charset="-122"/>
                <a:cs typeface="Instrument Serif" pitchFamily="34" charset="-120"/>
              </a:rPr>
              <a:t>[One line: the #1 thing you find and the 3 steps they leave with.]</a:t>
            </a:r>
            <a:endParaRPr lang="en-US" sz="2100" dirty="0"/>
          </a:p>
        </p:txBody>
      </p:sp>
      <p:sp>
        <p:nvSpPr>
          <p:cNvPr id="29" name="Text 23"/>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30" name="Text 2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YOUR TURN · 2 MINUTES</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[A small task they can do right now]</a:t>
            </a:r>
            <a:endParaRPr lang="en-US" sz="3000" dirty="0"/>
          </a:p>
        </p:txBody>
      </p:sp>
      <p:sp>
        <p:nvSpPr>
          <p:cNvPr id="5" name="Shape 2"/>
          <p:cNvSpPr/>
          <p:nvPr/>
        </p:nvSpPr>
        <p:spPr>
          <a:xfrm>
            <a:off x="548640" y="1783080"/>
            <a:ext cx="11091672" cy="1737360"/>
          </a:xfrm>
          <a:prstGeom prst="roundRect">
            <a:avLst>
              <a:gd name="adj" fmla="val 9474"/>
            </a:avLst>
          </a:prstGeom>
          <a:solidFill>
            <a:srgbClr val="1C1829"/>
          </a:solidFill>
          <a:ln w="9525">
            <a:solidFill>
              <a:srgbClr val="2A2540"/>
            </a:solidFill>
            <a:prstDash val="solid"/>
          </a:ln>
        </p:spPr>
      </p:sp>
      <p:sp>
        <p:nvSpPr>
          <p:cNvPr id="6" name="Text 3"/>
          <p:cNvSpPr txBox="1"/>
          <p:nvPr/>
        </p:nvSpPr>
        <p:spPr>
          <a:xfrm>
            <a:off x="868680" y="1965960"/>
            <a:ext cx="4572000" cy="274320"/>
          </a:xfrm>
          <a:prstGeom prst="rect">
            <a:avLst/>
          </a:prstGeom>
          <a:noFill/>
          <a:ln/>
        </p:spPr>
        <p:txBody>
          <a:bodyPr wrap="square" lIns="0" tIns="0" rIns="0" bIns="0" rtlCol="0" anchor="ctr"/>
          <a:lstStyle/>
          <a:p>
            <a:pPr indent="0" marL="0">
              <a:buNone/>
            </a:pPr>
            <a:r>
              <a:rPr lang="en-US" sz="1050" spc="300" kern="0" dirty="0">
                <a:solidFill>
                  <a:srgbClr val="E8C878"/>
                </a:solidFill>
                <a:latin typeface="DM Mono" pitchFamily="34" charset="0"/>
                <a:ea typeface="DM Mono" pitchFamily="34" charset="-122"/>
                <a:cs typeface="DM Mono" pitchFamily="34" charset="-120"/>
              </a:rPr>
              <a:t>FILL IN THIS SENTENCE</a:t>
            </a:r>
            <a:endParaRPr lang="en-US" sz="1050" dirty="0"/>
          </a:p>
        </p:txBody>
      </p:sp>
      <p:sp>
        <p:nvSpPr>
          <p:cNvPr id="7" name="Text 4"/>
          <p:cNvSpPr txBox="1"/>
          <p:nvPr/>
        </p:nvSpPr>
        <p:spPr>
          <a:xfrm>
            <a:off x="868680" y="2286000"/>
            <a:ext cx="10424160" cy="1143000"/>
          </a:xfrm>
          <a:prstGeom prst="rect">
            <a:avLst/>
          </a:prstGeom>
          <a:noFill/>
          <a:ln/>
        </p:spPr>
        <p:txBody>
          <a:bodyPr wrap="square" lIns="0" tIns="0" rIns="0" bIns="0" rtlCol="0" anchor="t">
            <a:normAutofit/>
          </a:bodyPr>
          <a:lstStyle/>
          <a:p>
            <a:pPr indent="0" marL="0">
              <a:buNone/>
            </a:pPr>
            <a:r>
              <a:rPr lang="en-US" sz="2200" i="1" dirty="0">
                <a:solidFill>
                  <a:srgbClr val="F1EEFB"/>
                </a:solidFill>
                <a:latin typeface="Instrument Serif" pitchFamily="34" charset="0"/>
                <a:ea typeface="Instrument Serif" pitchFamily="34" charset="-122"/>
                <a:cs typeface="Instrument Serif" pitchFamily="34" charset="-120"/>
              </a:rPr>
              <a:t>"[A fill-in-the-blank sentence that makes them apply step one to themselves.]"</a:t>
            </a:r>
            <a:endParaRPr lang="en-US" sz="2200" dirty="0"/>
          </a:p>
        </p:txBody>
      </p:sp>
      <p:sp>
        <p:nvSpPr>
          <p:cNvPr id="8" name="Shape 5"/>
          <p:cNvSpPr/>
          <p:nvPr/>
        </p:nvSpPr>
        <p:spPr>
          <a:xfrm>
            <a:off x="548640" y="3703320"/>
            <a:ext cx="3563112" cy="1874520"/>
          </a:xfrm>
          <a:prstGeom prst="roundRect">
            <a:avLst>
              <a:gd name="adj" fmla="val 8780"/>
            </a:avLst>
          </a:prstGeom>
          <a:solidFill>
            <a:srgbClr val="15121F"/>
          </a:solidFill>
          <a:ln w="9525">
            <a:solidFill>
              <a:srgbClr val="2A2540"/>
            </a:solidFill>
            <a:prstDash val="solid"/>
          </a:ln>
        </p:spPr>
      </p:sp>
      <p:sp>
        <p:nvSpPr>
          <p:cNvPr id="9" name="Text 6"/>
          <p:cNvSpPr txBox="1"/>
          <p:nvPr/>
        </p:nvSpPr>
        <p:spPr>
          <a:xfrm>
            <a:off x="777240" y="38679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10" name="Text 7"/>
          <p:cNvSpPr txBox="1"/>
          <p:nvPr/>
        </p:nvSpPr>
        <p:spPr>
          <a:xfrm>
            <a:off x="777240" y="427024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[How to do it, 1]</a:t>
            </a:r>
            <a:endParaRPr lang="en-US" sz="1500" dirty="0"/>
          </a:p>
        </p:txBody>
      </p:sp>
      <p:sp>
        <p:nvSpPr>
          <p:cNvPr id="11" name="Text 8"/>
          <p:cNvSpPr txBox="1"/>
          <p:nvPr/>
        </p:nvSpPr>
        <p:spPr>
          <a:xfrm>
            <a:off x="777240" y="475488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line.]</a:t>
            </a:r>
            <a:endParaRPr lang="en-US" sz="1300" dirty="0"/>
          </a:p>
        </p:txBody>
      </p:sp>
      <p:sp>
        <p:nvSpPr>
          <p:cNvPr id="12" name="Shape 9"/>
          <p:cNvSpPr/>
          <p:nvPr/>
        </p:nvSpPr>
        <p:spPr>
          <a:xfrm>
            <a:off x="4312920" y="3703320"/>
            <a:ext cx="3563112" cy="1874520"/>
          </a:xfrm>
          <a:prstGeom prst="roundRect">
            <a:avLst>
              <a:gd name="adj" fmla="val 8780"/>
            </a:avLst>
          </a:prstGeom>
          <a:solidFill>
            <a:srgbClr val="15121F"/>
          </a:solidFill>
          <a:ln w="9525">
            <a:solidFill>
              <a:srgbClr val="2A2540"/>
            </a:solidFill>
            <a:prstDash val="solid"/>
          </a:ln>
        </p:spPr>
      </p:sp>
      <p:sp>
        <p:nvSpPr>
          <p:cNvPr id="13" name="Text 10"/>
          <p:cNvSpPr txBox="1"/>
          <p:nvPr/>
        </p:nvSpPr>
        <p:spPr>
          <a:xfrm>
            <a:off x="4541520" y="38679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4" name="Text 11"/>
          <p:cNvSpPr txBox="1"/>
          <p:nvPr/>
        </p:nvSpPr>
        <p:spPr>
          <a:xfrm>
            <a:off x="4541520" y="427024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[How to do it, 2]</a:t>
            </a:r>
            <a:endParaRPr lang="en-US" sz="1500" dirty="0"/>
          </a:p>
        </p:txBody>
      </p:sp>
      <p:sp>
        <p:nvSpPr>
          <p:cNvPr id="15" name="Text 12"/>
          <p:cNvSpPr txBox="1"/>
          <p:nvPr/>
        </p:nvSpPr>
        <p:spPr>
          <a:xfrm>
            <a:off x="4541520" y="475488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line.]</a:t>
            </a:r>
            <a:endParaRPr lang="en-US" sz="1300" dirty="0"/>
          </a:p>
        </p:txBody>
      </p:sp>
      <p:sp>
        <p:nvSpPr>
          <p:cNvPr id="16" name="Shape 13"/>
          <p:cNvSpPr/>
          <p:nvPr/>
        </p:nvSpPr>
        <p:spPr>
          <a:xfrm>
            <a:off x="8077200" y="3703320"/>
            <a:ext cx="3563112" cy="1874520"/>
          </a:xfrm>
          <a:prstGeom prst="roundRect">
            <a:avLst>
              <a:gd name="adj" fmla="val 8780"/>
            </a:avLst>
          </a:prstGeom>
          <a:solidFill>
            <a:srgbClr val="15121F"/>
          </a:solidFill>
          <a:ln w="9525">
            <a:solidFill>
              <a:srgbClr val="2A2540"/>
            </a:solidFill>
            <a:prstDash val="solid"/>
          </a:ln>
        </p:spPr>
      </p:sp>
      <p:sp>
        <p:nvSpPr>
          <p:cNvPr id="17" name="Text 14"/>
          <p:cNvSpPr txBox="1"/>
          <p:nvPr/>
        </p:nvSpPr>
        <p:spPr>
          <a:xfrm>
            <a:off x="8305800" y="38679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8" name="Text 15"/>
          <p:cNvSpPr txBox="1"/>
          <p:nvPr/>
        </p:nvSpPr>
        <p:spPr>
          <a:xfrm>
            <a:off x="8305800" y="427024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[If they get stuck]</a:t>
            </a:r>
            <a:endParaRPr lang="en-US" sz="1500" dirty="0"/>
          </a:p>
        </p:txBody>
      </p:sp>
      <p:sp>
        <p:nvSpPr>
          <p:cNvPr id="19" name="Text 16"/>
          <p:cNvSpPr txBox="1"/>
          <p:nvPr/>
        </p:nvSpPr>
        <p:spPr>
          <a:xfrm>
            <a:off x="8305800" y="4754880"/>
            <a:ext cx="3105912" cy="6858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line.]</a:t>
            </a:r>
            <a:endParaRPr lang="en-US" sz="1300" dirty="0"/>
          </a:p>
        </p:txBody>
      </p:sp>
      <p:sp>
        <p:nvSpPr>
          <p:cNvPr id="20" name="Shape 17"/>
          <p:cNvSpPr/>
          <p:nvPr/>
        </p:nvSpPr>
        <p:spPr>
          <a:xfrm>
            <a:off x="548640" y="5715000"/>
            <a:ext cx="11091672" cy="566928"/>
          </a:xfrm>
          <a:prstGeom prst="roundRect">
            <a:avLst>
              <a:gd name="adj" fmla="val 29032"/>
            </a:avLst>
          </a:prstGeom>
          <a:solidFill>
            <a:srgbClr val="1C1829"/>
          </a:solidFill>
          <a:ln w="9525">
            <a:solidFill>
              <a:srgbClr val="2A2540"/>
            </a:solidFill>
            <a:prstDash val="solid"/>
          </a:ln>
        </p:spPr>
      </p:sp>
      <p:sp>
        <p:nvSpPr>
          <p:cNvPr id="21" name="Text 18"/>
          <p:cNvSpPr txBox="1"/>
          <p:nvPr/>
        </p:nvSpPr>
        <p:spPr>
          <a:xfrm>
            <a:off x="777240" y="5715000"/>
            <a:ext cx="10607040" cy="566928"/>
          </a:xfrm>
          <a:prstGeom prst="rect">
            <a:avLst/>
          </a:prstGeom>
          <a:noFill/>
          <a:ln/>
        </p:spPr>
        <p:txBody>
          <a:bodyPr wrap="square" lIns="0" tIns="0" rIns="0" bIns="0" rtlCol="0" anchor="ctr"/>
          <a:lstStyle/>
          <a:p>
            <a:pPr indent="0" marL="0">
              <a:buNone/>
            </a:pPr>
            <a:r>
              <a:rPr lang="en-US" sz="1400" dirty="0">
                <a:solidFill>
                  <a:srgbClr val="E8C878"/>
                </a:solidFill>
                <a:latin typeface="Outfit" pitchFamily="34" charset="0"/>
                <a:ea typeface="Outfit" pitchFamily="34" charset="-122"/>
                <a:cs typeface="Outfit" pitchFamily="34" charset="-120"/>
              </a:rPr>
              <a:t>✦  </a:t>
            </a:r>
            <a:pPr indent="0" marL="0">
              <a:buNone/>
            </a:pPr>
            <a:r>
              <a:rPr lang="en-US" sz="1400" dirty="0">
                <a:solidFill>
                  <a:srgbClr val="F1EEFB"/>
                </a:solidFill>
                <a:latin typeface="Outfit" pitchFamily="34" charset="0"/>
                <a:ea typeface="Outfit" pitchFamily="34" charset="-122"/>
                <a:cs typeface="Outfit" pitchFamily="34" charset="-120"/>
              </a:rPr>
              <a:t>Got one? Comment it below. I read every one.</a:t>
            </a:r>
            <a:endParaRPr lang="en-US" sz="1400" dirty="0"/>
          </a:p>
        </p:txBody>
      </p:sp>
      <p:sp>
        <p:nvSpPr>
          <p:cNvPr id="22" name="Text 19"/>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3" name="Text 2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PROOF</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What happened for the people I've done this with</a:t>
            </a:r>
            <a:endParaRPr lang="en-US" sz="3000" dirty="0"/>
          </a:p>
        </p:txBody>
      </p:sp>
      <p:sp>
        <p:nvSpPr>
          <p:cNvPr id="5" name="Shape 2"/>
          <p:cNvSpPr/>
          <p:nvPr/>
        </p:nvSpPr>
        <p:spPr>
          <a:xfrm>
            <a:off x="548640" y="1783080"/>
            <a:ext cx="3566160" cy="2103120"/>
          </a:xfrm>
          <a:prstGeom prst="roundRect">
            <a:avLst>
              <a:gd name="adj" fmla="val 7826"/>
            </a:avLst>
          </a:prstGeom>
          <a:solidFill>
            <a:srgbClr val="15121F"/>
          </a:solidFill>
          <a:ln w="9525">
            <a:solidFill>
              <a:srgbClr val="2A2540"/>
            </a:solidFill>
            <a:prstDash val="solid"/>
          </a:ln>
        </p:spPr>
      </p:sp>
      <p:sp>
        <p:nvSpPr>
          <p:cNvPr id="6" name="Text 3"/>
          <p:cNvSpPr txBox="1"/>
          <p:nvPr/>
        </p:nvSpPr>
        <p:spPr>
          <a:xfrm>
            <a:off x="777240" y="1920240"/>
            <a:ext cx="3108960" cy="457200"/>
          </a:xfrm>
          <a:prstGeom prst="rect">
            <a:avLst/>
          </a:prstGeom>
          <a:noFill/>
          <a:ln/>
        </p:spPr>
        <p:txBody>
          <a:bodyPr wrap="square" lIns="0" tIns="0" rIns="0" bIns="0" rtlCol="0" anchor="ctr"/>
          <a:lstStyle/>
          <a:p>
            <a:pPr indent="0" marL="0">
              <a:buNone/>
            </a:pPr>
            <a:r>
              <a:rPr lang="en-US" sz="2000" b="1" dirty="0">
                <a:solidFill>
                  <a:srgbClr val="B79CF5"/>
                </a:solidFill>
                <a:latin typeface="Outfit" pitchFamily="34" charset="0"/>
                <a:ea typeface="Outfit" pitchFamily="34" charset="-122"/>
                <a:cs typeface="Outfit" pitchFamily="34" charset="-120"/>
              </a:rPr>
              <a:t>[First name]</a:t>
            </a:r>
            <a:endParaRPr lang="en-US" sz="2000" dirty="0"/>
          </a:p>
        </p:txBody>
      </p:sp>
      <p:sp>
        <p:nvSpPr>
          <p:cNvPr id="7" name="Text 4"/>
          <p:cNvSpPr txBox="1"/>
          <p:nvPr/>
        </p:nvSpPr>
        <p:spPr>
          <a:xfrm>
            <a:off x="777240" y="2423160"/>
            <a:ext cx="3108960" cy="13716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came with, what shifted, in two or three lines, in their words if you have them.]</a:t>
            </a:r>
            <a:endParaRPr lang="en-US" sz="1300" dirty="0"/>
          </a:p>
        </p:txBody>
      </p:sp>
      <p:sp>
        <p:nvSpPr>
          <p:cNvPr id="8" name="Shape 5"/>
          <p:cNvSpPr/>
          <p:nvPr/>
        </p:nvSpPr>
        <p:spPr>
          <a:xfrm>
            <a:off x="4306824" y="1783080"/>
            <a:ext cx="3566160" cy="2103120"/>
          </a:xfrm>
          <a:prstGeom prst="roundRect">
            <a:avLst>
              <a:gd name="adj" fmla="val 7826"/>
            </a:avLst>
          </a:prstGeom>
          <a:solidFill>
            <a:srgbClr val="15121F"/>
          </a:solidFill>
          <a:ln w="9525">
            <a:solidFill>
              <a:srgbClr val="2A2540"/>
            </a:solidFill>
            <a:prstDash val="solid"/>
          </a:ln>
        </p:spPr>
      </p:sp>
      <p:sp>
        <p:nvSpPr>
          <p:cNvPr id="9" name="Text 6"/>
          <p:cNvSpPr txBox="1"/>
          <p:nvPr/>
        </p:nvSpPr>
        <p:spPr>
          <a:xfrm>
            <a:off x="4535424" y="1920240"/>
            <a:ext cx="3108960" cy="457200"/>
          </a:xfrm>
          <a:prstGeom prst="rect">
            <a:avLst/>
          </a:prstGeom>
          <a:noFill/>
          <a:ln/>
        </p:spPr>
        <p:txBody>
          <a:bodyPr wrap="square" lIns="0" tIns="0" rIns="0" bIns="0" rtlCol="0" anchor="ctr"/>
          <a:lstStyle/>
          <a:p>
            <a:pPr indent="0" marL="0">
              <a:buNone/>
            </a:pPr>
            <a:r>
              <a:rPr lang="en-US" sz="2000" b="1" dirty="0">
                <a:solidFill>
                  <a:srgbClr val="7FE0B8"/>
                </a:solidFill>
                <a:latin typeface="Outfit" pitchFamily="34" charset="0"/>
                <a:ea typeface="Outfit" pitchFamily="34" charset="-122"/>
                <a:cs typeface="Outfit" pitchFamily="34" charset="-120"/>
              </a:rPr>
              <a:t>[First name]</a:t>
            </a:r>
            <a:endParaRPr lang="en-US" sz="2000" dirty="0"/>
          </a:p>
        </p:txBody>
      </p:sp>
      <p:sp>
        <p:nvSpPr>
          <p:cNvPr id="10" name="Text 7"/>
          <p:cNvSpPr txBox="1"/>
          <p:nvPr/>
        </p:nvSpPr>
        <p:spPr>
          <a:xfrm>
            <a:off x="4535424" y="2423160"/>
            <a:ext cx="3108960" cy="13716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came with, what shifted.]</a:t>
            </a:r>
            <a:endParaRPr lang="en-US" sz="1300" dirty="0"/>
          </a:p>
        </p:txBody>
      </p:sp>
      <p:sp>
        <p:nvSpPr>
          <p:cNvPr id="11" name="Shape 8"/>
          <p:cNvSpPr/>
          <p:nvPr/>
        </p:nvSpPr>
        <p:spPr>
          <a:xfrm>
            <a:off x="8065008" y="1783080"/>
            <a:ext cx="3566160" cy="2103120"/>
          </a:xfrm>
          <a:prstGeom prst="roundRect">
            <a:avLst>
              <a:gd name="adj" fmla="val 7826"/>
            </a:avLst>
          </a:prstGeom>
          <a:solidFill>
            <a:srgbClr val="15121F"/>
          </a:solidFill>
          <a:ln w="9525">
            <a:solidFill>
              <a:srgbClr val="2A2540"/>
            </a:solidFill>
            <a:prstDash val="solid"/>
          </a:ln>
        </p:spPr>
      </p:sp>
      <p:sp>
        <p:nvSpPr>
          <p:cNvPr id="12" name="Text 9"/>
          <p:cNvSpPr txBox="1"/>
          <p:nvPr/>
        </p:nvSpPr>
        <p:spPr>
          <a:xfrm>
            <a:off x="8293608" y="1920240"/>
            <a:ext cx="3108960" cy="457200"/>
          </a:xfrm>
          <a:prstGeom prst="rect">
            <a:avLst/>
          </a:prstGeom>
          <a:noFill/>
          <a:ln/>
        </p:spPr>
        <p:txBody>
          <a:bodyPr wrap="square" lIns="0" tIns="0" rIns="0" bIns="0" rtlCol="0" anchor="ctr"/>
          <a:lstStyle/>
          <a:p>
            <a:pPr indent="0" marL="0">
              <a:buNone/>
            </a:pPr>
            <a:r>
              <a:rPr lang="en-US" sz="2000" b="1" dirty="0">
                <a:solidFill>
                  <a:srgbClr val="E8C878"/>
                </a:solidFill>
                <a:latin typeface="Outfit" pitchFamily="34" charset="0"/>
                <a:ea typeface="Outfit" pitchFamily="34" charset="-122"/>
                <a:cs typeface="Outfit" pitchFamily="34" charset="-120"/>
              </a:rPr>
              <a:t>[First name]</a:t>
            </a:r>
            <a:endParaRPr lang="en-US" sz="2000" dirty="0"/>
          </a:p>
        </p:txBody>
      </p:sp>
      <p:sp>
        <p:nvSpPr>
          <p:cNvPr id="13" name="Text 10"/>
          <p:cNvSpPr txBox="1"/>
          <p:nvPr/>
        </p:nvSpPr>
        <p:spPr>
          <a:xfrm>
            <a:off x="8293608" y="2423160"/>
            <a:ext cx="3108960" cy="137160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[What they came with, what shifted.]</a:t>
            </a:r>
            <a:endParaRPr lang="en-US" sz="1300" dirty="0"/>
          </a:p>
        </p:txBody>
      </p:sp>
      <p:sp>
        <p:nvSpPr>
          <p:cNvPr id="14" name="Shape 11"/>
          <p:cNvSpPr/>
          <p:nvPr/>
        </p:nvSpPr>
        <p:spPr>
          <a:xfrm>
            <a:off x="548640" y="4050792"/>
            <a:ext cx="3419856" cy="2518029"/>
          </a:xfrm>
          <a:prstGeom prst="roundRect">
            <a:avLst>
              <a:gd name="adj" fmla="val 6537"/>
            </a:avLst>
          </a:prstGeom>
          <a:solidFill>
            <a:srgbClr val="1C1829"/>
          </a:solidFill>
          <a:ln w="9525">
            <a:solidFill>
              <a:srgbClr val="2A2540"/>
            </a:solidFill>
            <a:prstDash val="solid"/>
          </a:ln>
        </p:spPr>
      </p:sp>
      <p:sp>
        <p:nvSpPr>
          <p:cNvPr id="15" name="Shape 12"/>
          <p:cNvSpPr/>
          <p:nvPr/>
        </p:nvSpPr>
        <p:spPr>
          <a:xfrm>
            <a:off x="676656" y="4160520"/>
            <a:ext cx="109728" cy="109728"/>
          </a:xfrm>
          <a:prstGeom prst="ellipse">
            <a:avLst/>
          </a:prstGeom>
          <a:solidFill>
            <a:srgbClr val="F08BB0"/>
          </a:solidFill>
          <a:ln w="12700">
            <a:solidFill>
              <a:srgbClr val="F08BB0"/>
            </a:solidFill>
            <a:prstDash val="solid"/>
          </a:ln>
        </p:spPr>
      </p:sp>
      <p:sp>
        <p:nvSpPr>
          <p:cNvPr id="16" name="Shape 13"/>
          <p:cNvSpPr/>
          <p:nvPr/>
        </p:nvSpPr>
        <p:spPr>
          <a:xfrm>
            <a:off x="859536" y="4160520"/>
            <a:ext cx="109728" cy="109728"/>
          </a:xfrm>
          <a:prstGeom prst="ellipse">
            <a:avLst/>
          </a:prstGeom>
          <a:solidFill>
            <a:srgbClr val="E8C878"/>
          </a:solidFill>
          <a:ln w="12700">
            <a:solidFill>
              <a:srgbClr val="E8C878"/>
            </a:solidFill>
            <a:prstDash val="solid"/>
          </a:ln>
        </p:spPr>
      </p:sp>
      <p:sp>
        <p:nvSpPr>
          <p:cNvPr id="17" name="Shape 14"/>
          <p:cNvSpPr/>
          <p:nvPr/>
        </p:nvSpPr>
        <p:spPr>
          <a:xfrm>
            <a:off x="1042416" y="4160520"/>
            <a:ext cx="109728" cy="109728"/>
          </a:xfrm>
          <a:prstGeom prst="ellipse">
            <a:avLst/>
          </a:prstGeom>
          <a:solidFill>
            <a:srgbClr val="7FE0B8"/>
          </a:solidFill>
          <a:ln w="12700">
            <a:solidFill>
              <a:srgbClr val="7FE0B8"/>
            </a:solidFill>
            <a:prstDash val="solid"/>
          </a:ln>
        </p:spPr>
      </p:sp>
      <p:sp>
        <p:nvSpPr>
          <p:cNvPr id="18" name="Text 15"/>
          <p:cNvSpPr txBox="1"/>
          <p:nvPr/>
        </p:nvSpPr>
        <p:spPr>
          <a:xfrm>
            <a:off x="1389888" y="4105656"/>
            <a:ext cx="2377440" cy="219456"/>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their words</a:t>
            </a:r>
            <a:endParaRPr lang="en-US" sz="900" dirty="0"/>
          </a:p>
        </p:txBody>
      </p:sp>
      <p:pic>
        <p:nvPicPr>
          <p:cNvPr id="19" name="Image 0" descr="shot.jpg">    </p:cNvPr>
          <p:cNvPicPr>
            <a:picLocks noChangeAspect="1"/>
          </p:cNvPicPr>
          <p:nvPr/>
        </p:nvPicPr>
        <p:blipFill>
          <a:blip r:embed="rId2"/>
          <a:stretch>
            <a:fillRect/>
          </a:stretch>
        </p:blipFill>
        <p:spPr>
          <a:xfrm>
            <a:off x="658368" y="4434840"/>
            <a:ext cx="3200400" cy="2024253"/>
          </a:xfrm>
          <a:prstGeom prst="rect">
            <a:avLst/>
          </a:prstGeom>
        </p:spPr>
      </p:pic>
      <p:sp>
        <p:nvSpPr>
          <p:cNvPr id="20" name="Shape 16"/>
          <p:cNvSpPr/>
          <p:nvPr/>
        </p:nvSpPr>
        <p:spPr>
          <a:xfrm>
            <a:off x="4279392" y="4050792"/>
            <a:ext cx="3419856" cy="2518029"/>
          </a:xfrm>
          <a:prstGeom prst="roundRect">
            <a:avLst>
              <a:gd name="adj" fmla="val 6537"/>
            </a:avLst>
          </a:prstGeom>
          <a:solidFill>
            <a:srgbClr val="1C1829"/>
          </a:solidFill>
          <a:ln w="9525">
            <a:solidFill>
              <a:srgbClr val="2A2540"/>
            </a:solidFill>
            <a:prstDash val="solid"/>
          </a:ln>
        </p:spPr>
      </p:sp>
      <p:sp>
        <p:nvSpPr>
          <p:cNvPr id="21" name="Shape 17"/>
          <p:cNvSpPr/>
          <p:nvPr/>
        </p:nvSpPr>
        <p:spPr>
          <a:xfrm>
            <a:off x="4407408" y="4160520"/>
            <a:ext cx="109728" cy="109728"/>
          </a:xfrm>
          <a:prstGeom prst="ellipse">
            <a:avLst/>
          </a:prstGeom>
          <a:solidFill>
            <a:srgbClr val="F08BB0"/>
          </a:solidFill>
          <a:ln w="12700">
            <a:solidFill>
              <a:srgbClr val="F08BB0"/>
            </a:solidFill>
            <a:prstDash val="solid"/>
          </a:ln>
        </p:spPr>
      </p:sp>
      <p:sp>
        <p:nvSpPr>
          <p:cNvPr id="22" name="Shape 18"/>
          <p:cNvSpPr/>
          <p:nvPr/>
        </p:nvSpPr>
        <p:spPr>
          <a:xfrm>
            <a:off x="4590288" y="4160520"/>
            <a:ext cx="109728" cy="109728"/>
          </a:xfrm>
          <a:prstGeom prst="ellipse">
            <a:avLst/>
          </a:prstGeom>
          <a:solidFill>
            <a:srgbClr val="E8C878"/>
          </a:solidFill>
          <a:ln w="12700">
            <a:solidFill>
              <a:srgbClr val="E8C878"/>
            </a:solidFill>
            <a:prstDash val="solid"/>
          </a:ln>
        </p:spPr>
      </p:sp>
      <p:sp>
        <p:nvSpPr>
          <p:cNvPr id="23" name="Shape 19"/>
          <p:cNvSpPr/>
          <p:nvPr/>
        </p:nvSpPr>
        <p:spPr>
          <a:xfrm>
            <a:off x="4773168" y="4160520"/>
            <a:ext cx="109728" cy="109728"/>
          </a:xfrm>
          <a:prstGeom prst="ellipse">
            <a:avLst/>
          </a:prstGeom>
          <a:solidFill>
            <a:srgbClr val="7FE0B8"/>
          </a:solidFill>
          <a:ln w="12700">
            <a:solidFill>
              <a:srgbClr val="7FE0B8"/>
            </a:solidFill>
            <a:prstDash val="solid"/>
          </a:ln>
        </p:spPr>
      </p:sp>
      <p:sp>
        <p:nvSpPr>
          <p:cNvPr id="24" name="Text 20"/>
          <p:cNvSpPr txBox="1"/>
          <p:nvPr/>
        </p:nvSpPr>
        <p:spPr>
          <a:xfrm>
            <a:off x="5120640" y="4105656"/>
            <a:ext cx="2377440" cy="219456"/>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their words</a:t>
            </a:r>
            <a:endParaRPr lang="en-US" sz="900" dirty="0"/>
          </a:p>
        </p:txBody>
      </p:sp>
      <p:pic>
        <p:nvPicPr>
          <p:cNvPr id="25" name="Image 1" descr="shot.jpg">    </p:cNvPr>
          <p:cNvPicPr>
            <a:picLocks noChangeAspect="1"/>
          </p:cNvPicPr>
          <p:nvPr/>
        </p:nvPicPr>
        <p:blipFill>
          <a:blip r:embed="rId3"/>
          <a:stretch>
            <a:fillRect/>
          </a:stretch>
        </p:blipFill>
        <p:spPr>
          <a:xfrm>
            <a:off x="4389120" y="4434840"/>
            <a:ext cx="3200400" cy="2024253"/>
          </a:xfrm>
          <a:prstGeom prst="rect">
            <a:avLst/>
          </a:prstGeom>
        </p:spPr>
      </p:pic>
      <p:sp>
        <p:nvSpPr>
          <p:cNvPr id="26" name="Shape 21"/>
          <p:cNvSpPr/>
          <p:nvPr/>
        </p:nvSpPr>
        <p:spPr>
          <a:xfrm>
            <a:off x="8010144" y="4050792"/>
            <a:ext cx="3419856" cy="2518029"/>
          </a:xfrm>
          <a:prstGeom prst="roundRect">
            <a:avLst>
              <a:gd name="adj" fmla="val 6537"/>
            </a:avLst>
          </a:prstGeom>
          <a:solidFill>
            <a:srgbClr val="1C1829"/>
          </a:solidFill>
          <a:ln w="9525">
            <a:solidFill>
              <a:srgbClr val="2A2540"/>
            </a:solidFill>
            <a:prstDash val="solid"/>
          </a:ln>
        </p:spPr>
      </p:sp>
      <p:sp>
        <p:nvSpPr>
          <p:cNvPr id="27" name="Shape 22"/>
          <p:cNvSpPr/>
          <p:nvPr/>
        </p:nvSpPr>
        <p:spPr>
          <a:xfrm>
            <a:off x="8138160" y="4160520"/>
            <a:ext cx="109728" cy="109728"/>
          </a:xfrm>
          <a:prstGeom prst="ellipse">
            <a:avLst/>
          </a:prstGeom>
          <a:solidFill>
            <a:srgbClr val="F08BB0"/>
          </a:solidFill>
          <a:ln w="12700">
            <a:solidFill>
              <a:srgbClr val="F08BB0"/>
            </a:solidFill>
            <a:prstDash val="solid"/>
          </a:ln>
        </p:spPr>
      </p:sp>
      <p:sp>
        <p:nvSpPr>
          <p:cNvPr id="28" name="Shape 23"/>
          <p:cNvSpPr/>
          <p:nvPr/>
        </p:nvSpPr>
        <p:spPr>
          <a:xfrm>
            <a:off x="8321040" y="4160520"/>
            <a:ext cx="109728" cy="109728"/>
          </a:xfrm>
          <a:prstGeom prst="ellipse">
            <a:avLst/>
          </a:prstGeom>
          <a:solidFill>
            <a:srgbClr val="E8C878"/>
          </a:solidFill>
          <a:ln w="12700">
            <a:solidFill>
              <a:srgbClr val="E8C878"/>
            </a:solidFill>
            <a:prstDash val="solid"/>
          </a:ln>
        </p:spPr>
      </p:sp>
      <p:sp>
        <p:nvSpPr>
          <p:cNvPr id="29" name="Shape 24"/>
          <p:cNvSpPr/>
          <p:nvPr/>
        </p:nvSpPr>
        <p:spPr>
          <a:xfrm>
            <a:off x="8503920" y="4160520"/>
            <a:ext cx="109728" cy="109728"/>
          </a:xfrm>
          <a:prstGeom prst="ellipse">
            <a:avLst/>
          </a:prstGeom>
          <a:solidFill>
            <a:srgbClr val="7FE0B8"/>
          </a:solidFill>
          <a:ln w="12700">
            <a:solidFill>
              <a:srgbClr val="7FE0B8"/>
            </a:solidFill>
            <a:prstDash val="solid"/>
          </a:ln>
        </p:spPr>
      </p:sp>
      <p:sp>
        <p:nvSpPr>
          <p:cNvPr id="30" name="Text 25"/>
          <p:cNvSpPr txBox="1"/>
          <p:nvPr/>
        </p:nvSpPr>
        <p:spPr>
          <a:xfrm>
            <a:off x="8851392" y="4105656"/>
            <a:ext cx="2377440" cy="219456"/>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their words</a:t>
            </a:r>
            <a:endParaRPr lang="en-US" sz="900" dirty="0"/>
          </a:p>
        </p:txBody>
      </p:sp>
      <p:pic>
        <p:nvPicPr>
          <p:cNvPr id="31" name="Image 2" descr="shot.jpg">    </p:cNvPr>
          <p:cNvPicPr>
            <a:picLocks noChangeAspect="1"/>
          </p:cNvPicPr>
          <p:nvPr/>
        </p:nvPicPr>
        <p:blipFill>
          <a:blip r:embed="rId4"/>
          <a:stretch>
            <a:fillRect/>
          </a:stretch>
        </p:blipFill>
        <p:spPr>
          <a:xfrm>
            <a:off x="8119872" y="4434840"/>
            <a:ext cx="3200400" cy="2024253"/>
          </a:xfrm>
          <a:prstGeom prst="rect">
            <a:avLst/>
          </a:prstGeom>
        </p:spPr>
      </p:pic>
      <p:sp>
        <p:nvSpPr>
          <p:cNvPr id="32" name="Text 26"/>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33" name="Text 2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RECAP</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What you now know</a:t>
            </a:r>
            <a:endParaRPr lang="en-US" sz="3000" dirty="0"/>
          </a:p>
        </p:txBody>
      </p:sp>
      <p:sp>
        <p:nvSpPr>
          <p:cNvPr id="5" name="Shape 2"/>
          <p:cNvSpPr/>
          <p:nvPr/>
        </p:nvSpPr>
        <p:spPr>
          <a:xfrm>
            <a:off x="548640" y="1783080"/>
            <a:ext cx="11091672" cy="656539"/>
          </a:xfrm>
          <a:prstGeom prst="roundRect">
            <a:avLst>
              <a:gd name="adj" fmla="val 25070"/>
            </a:avLst>
          </a:prstGeom>
          <a:solidFill>
            <a:srgbClr val="15121F"/>
          </a:solidFill>
          <a:ln w="9525">
            <a:solidFill>
              <a:srgbClr val="2A2540"/>
            </a:solidFill>
            <a:prstDash val="solid"/>
          </a:ln>
        </p:spPr>
      </p:sp>
      <p:sp>
        <p:nvSpPr>
          <p:cNvPr id="6" name="Text 3"/>
          <p:cNvSpPr txBox="1"/>
          <p:nvPr/>
        </p:nvSpPr>
        <p:spPr>
          <a:xfrm>
            <a:off x="822960" y="188275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1645920" y="1892808"/>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The real problem</a:t>
            </a:r>
            <a:endParaRPr lang="en-US" sz="1500" dirty="0"/>
          </a:p>
        </p:txBody>
      </p:sp>
      <p:sp>
        <p:nvSpPr>
          <p:cNvPr id="8" name="Text 5"/>
          <p:cNvSpPr txBox="1"/>
          <p:nvPr/>
        </p:nvSpPr>
        <p:spPr>
          <a:xfrm>
            <a:off x="5029200" y="1892808"/>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[One line.]</a:t>
            </a:r>
            <a:endParaRPr lang="en-US" sz="1350" dirty="0"/>
          </a:p>
        </p:txBody>
      </p:sp>
      <p:sp>
        <p:nvSpPr>
          <p:cNvPr id="9" name="Shape 6"/>
          <p:cNvSpPr/>
          <p:nvPr/>
        </p:nvSpPr>
        <p:spPr>
          <a:xfrm>
            <a:off x="548640" y="2567635"/>
            <a:ext cx="11091672" cy="656539"/>
          </a:xfrm>
          <a:prstGeom prst="roundRect">
            <a:avLst>
              <a:gd name="adj" fmla="val 25070"/>
            </a:avLst>
          </a:prstGeom>
          <a:solidFill>
            <a:srgbClr val="15121F"/>
          </a:solidFill>
          <a:ln w="9525">
            <a:solidFill>
              <a:srgbClr val="2A2540"/>
            </a:solidFill>
            <a:prstDash val="solid"/>
          </a:ln>
        </p:spPr>
      </p:sp>
      <p:sp>
        <p:nvSpPr>
          <p:cNvPr id="10" name="Text 7"/>
          <p:cNvSpPr txBox="1"/>
          <p:nvPr/>
        </p:nvSpPr>
        <p:spPr>
          <a:xfrm>
            <a:off x="822960" y="2667305"/>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1645920" y="2677363"/>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Who you become</a:t>
            </a:r>
            <a:endParaRPr lang="en-US" sz="1500" dirty="0"/>
          </a:p>
        </p:txBody>
      </p:sp>
      <p:sp>
        <p:nvSpPr>
          <p:cNvPr id="12" name="Text 9"/>
          <p:cNvSpPr txBox="1"/>
          <p:nvPr/>
        </p:nvSpPr>
        <p:spPr>
          <a:xfrm>
            <a:off x="5029200" y="2677363"/>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[One line.]</a:t>
            </a:r>
            <a:endParaRPr lang="en-US" sz="1350" dirty="0"/>
          </a:p>
        </p:txBody>
      </p:sp>
      <p:sp>
        <p:nvSpPr>
          <p:cNvPr id="13" name="Shape 10"/>
          <p:cNvSpPr/>
          <p:nvPr/>
        </p:nvSpPr>
        <p:spPr>
          <a:xfrm>
            <a:off x="548640" y="3352190"/>
            <a:ext cx="11091672" cy="656539"/>
          </a:xfrm>
          <a:prstGeom prst="roundRect">
            <a:avLst>
              <a:gd name="adj" fmla="val 25070"/>
            </a:avLst>
          </a:prstGeom>
          <a:solidFill>
            <a:srgbClr val="15121F"/>
          </a:solidFill>
          <a:ln w="9525">
            <a:solidFill>
              <a:srgbClr val="2A2540"/>
            </a:solidFill>
            <a:prstDash val="solid"/>
          </a:ln>
        </p:spPr>
      </p:sp>
      <p:sp>
        <p:nvSpPr>
          <p:cNvPr id="14" name="Text 11"/>
          <p:cNvSpPr txBox="1"/>
          <p:nvPr/>
        </p:nvSpPr>
        <p:spPr>
          <a:xfrm>
            <a:off x="822960" y="34518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1645920" y="3461918"/>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1 · [Name]</a:t>
            </a:r>
            <a:endParaRPr lang="en-US" sz="1500" dirty="0"/>
          </a:p>
        </p:txBody>
      </p:sp>
      <p:sp>
        <p:nvSpPr>
          <p:cNvPr id="16" name="Text 13"/>
          <p:cNvSpPr txBox="1"/>
          <p:nvPr/>
        </p:nvSpPr>
        <p:spPr>
          <a:xfrm>
            <a:off x="5029200" y="3461918"/>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[One line.]</a:t>
            </a:r>
            <a:endParaRPr lang="en-US" sz="1350" dirty="0"/>
          </a:p>
        </p:txBody>
      </p:sp>
      <p:sp>
        <p:nvSpPr>
          <p:cNvPr id="17" name="Shape 14"/>
          <p:cNvSpPr/>
          <p:nvPr/>
        </p:nvSpPr>
        <p:spPr>
          <a:xfrm>
            <a:off x="548640" y="4136746"/>
            <a:ext cx="11091672" cy="656539"/>
          </a:xfrm>
          <a:prstGeom prst="roundRect">
            <a:avLst>
              <a:gd name="adj" fmla="val 25070"/>
            </a:avLst>
          </a:prstGeom>
          <a:solidFill>
            <a:srgbClr val="15121F"/>
          </a:solidFill>
          <a:ln w="9525">
            <a:solidFill>
              <a:srgbClr val="2A2540"/>
            </a:solidFill>
            <a:prstDash val="solid"/>
          </a:ln>
        </p:spPr>
      </p:sp>
      <p:sp>
        <p:nvSpPr>
          <p:cNvPr id="18" name="Text 15"/>
          <p:cNvSpPr txBox="1"/>
          <p:nvPr/>
        </p:nvSpPr>
        <p:spPr>
          <a:xfrm>
            <a:off x="822960" y="4236415"/>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1645920" y="4246474"/>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2 · [Name]</a:t>
            </a:r>
            <a:endParaRPr lang="en-US" sz="1500" dirty="0"/>
          </a:p>
        </p:txBody>
      </p:sp>
      <p:sp>
        <p:nvSpPr>
          <p:cNvPr id="20" name="Text 17"/>
          <p:cNvSpPr txBox="1"/>
          <p:nvPr/>
        </p:nvSpPr>
        <p:spPr>
          <a:xfrm>
            <a:off x="5029200" y="4246474"/>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[One line.]</a:t>
            </a:r>
            <a:endParaRPr lang="en-US" sz="1350" dirty="0"/>
          </a:p>
        </p:txBody>
      </p:sp>
      <p:sp>
        <p:nvSpPr>
          <p:cNvPr id="21" name="Shape 18"/>
          <p:cNvSpPr/>
          <p:nvPr/>
        </p:nvSpPr>
        <p:spPr>
          <a:xfrm>
            <a:off x="548640" y="4921301"/>
            <a:ext cx="11091672" cy="656539"/>
          </a:xfrm>
          <a:prstGeom prst="roundRect">
            <a:avLst>
              <a:gd name="adj" fmla="val 25070"/>
            </a:avLst>
          </a:prstGeom>
          <a:solidFill>
            <a:srgbClr val="15121F"/>
          </a:solidFill>
          <a:ln w="9525">
            <a:solidFill>
              <a:srgbClr val="2A2540"/>
            </a:solidFill>
            <a:prstDash val="solid"/>
          </a:ln>
        </p:spPr>
      </p:sp>
      <p:sp>
        <p:nvSpPr>
          <p:cNvPr id="22" name="Text 19"/>
          <p:cNvSpPr txBox="1"/>
          <p:nvPr/>
        </p:nvSpPr>
        <p:spPr>
          <a:xfrm>
            <a:off x="822960" y="502097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05</a:t>
            </a:r>
            <a:endParaRPr lang="en-US" sz="2200" dirty="0"/>
          </a:p>
        </p:txBody>
      </p:sp>
      <p:sp>
        <p:nvSpPr>
          <p:cNvPr id="23" name="Text 20"/>
          <p:cNvSpPr txBox="1"/>
          <p:nvPr/>
        </p:nvSpPr>
        <p:spPr>
          <a:xfrm>
            <a:off x="1645920" y="5031029"/>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Step 3 · [Name]</a:t>
            </a:r>
            <a:endParaRPr lang="en-US" sz="1500" dirty="0"/>
          </a:p>
        </p:txBody>
      </p:sp>
      <p:sp>
        <p:nvSpPr>
          <p:cNvPr id="24" name="Text 21"/>
          <p:cNvSpPr txBox="1"/>
          <p:nvPr/>
        </p:nvSpPr>
        <p:spPr>
          <a:xfrm>
            <a:off x="5029200" y="5031029"/>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[One line.]</a:t>
            </a:r>
            <a:endParaRPr lang="en-US" sz="1350" dirty="0"/>
          </a:p>
        </p:txBody>
      </p:sp>
      <p:sp>
        <p:nvSpPr>
          <p:cNvPr id="25" name="Shape 22"/>
          <p:cNvSpPr/>
          <p:nvPr/>
        </p:nvSpPr>
        <p:spPr>
          <a:xfrm>
            <a:off x="548640" y="5715000"/>
            <a:ext cx="11091672" cy="566928"/>
          </a:xfrm>
          <a:prstGeom prst="roundRect">
            <a:avLst>
              <a:gd name="adj" fmla="val 29032"/>
            </a:avLst>
          </a:prstGeom>
          <a:solidFill>
            <a:srgbClr val="1C1829"/>
          </a:solidFill>
          <a:ln w="9525">
            <a:solidFill>
              <a:srgbClr val="2A2540"/>
            </a:solidFill>
            <a:prstDash val="solid"/>
          </a:ln>
        </p:spPr>
      </p:sp>
      <p:sp>
        <p:nvSpPr>
          <p:cNvPr id="26" name="Text 23"/>
          <p:cNvSpPr txBox="1"/>
          <p:nvPr/>
        </p:nvSpPr>
        <p:spPr>
          <a:xfrm>
            <a:off x="777240" y="5715000"/>
            <a:ext cx="10607040" cy="566928"/>
          </a:xfrm>
          <a:prstGeom prst="rect">
            <a:avLst/>
          </a:prstGeom>
          <a:noFill/>
          <a:ln/>
        </p:spPr>
        <p:txBody>
          <a:bodyPr wrap="square" lIns="0" tIns="0" rIns="0" bIns="0" rtlCol="0" anchor="ctr"/>
          <a:lstStyle/>
          <a:p>
            <a:pPr indent="0" marL="0">
              <a:buNone/>
            </a:pPr>
            <a:r>
              <a:rPr lang="en-US" sz="1400" dirty="0">
                <a:solidFill>
                  <a:srgbClr val="E8C878"/>
                </a:solidFill>
                <a:latin typeface="Outfit" pitchFamily="34" charset="0"/>
                <a:ea typeface="Outfit" pitchFamily="34" charset="-122"/>
                <a:cs typeface="Outfit" pitchFamily="34" charset="-120"/>
              </a:rPr>
              <a:t>✦  </a:t>
            </a:r>
            <a:pPr indent="0" marL="0">
              <a:buNone/>
            </a:pPr>
            <a:r>
              <a:rPr lang="en-US" sz="1400" dirty="0">
                <a:solidFill>
                  <a:srgbClr val="F1EEFB"/>
                </a:solidFill>
                <a:latin typeface="Outfit" pitchFamily="34" charset="0"/>
                <a:ea typeface="Outfit" pitchFamily="34" charset="-122"/>
                <a:cs typeface="Outfit" pitchFamily="34" charset="-120"/>
              </a:rPr>
              <a:t>[The step most people can't see for themselves is step ___. That's what the audit is for.]</a:t>
            </a:r>
            <a:endParaRPr lang="en-US" sz="1400" dirty="0"/>
          </a:p>
        </p:txBody>
      </p:sp>
      <p:sp>
        <p:nvSpPr>
          <p:cNvPr id="27" name="Text 24"/>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8" name="Text 2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hoto.jpg">    </p:cNvPr>
          <p:cNvPicPr>
            <a:picLocks noChangeAspect="1"/>
          </p:cNvPicPr>
          <p:nvPr/>
        </p:nvPicPr>
        <p:blipFill>
          <a:blip r:embed="rId2"/>
          <a:stretch>
            <a:fillRect/>
          </a:stretch>
        </p:blipFill>
        <p:spPr>
          <a:xfrm>
            <a:off x="6336792" y="0"/>
            <a:ext cx="5852160" cy="6858000"/>
          </a:xfrm>
          <a:prstGeom prst="rect">
            <a:avLst/>
          </a:prstGeom>
        </p:spPr>
      </p:pic>
      <p:sp>
        <p:nvSpPr>
          <p:cNvPr id="4" name="Shape 0"/>
          <p:cNvSpPr/>
          <p:nvPr/>
        </p:nvSpPr>
        <p:spPr>
          <a:xfrm>
            <a:off x="6336792" y="0"/>
            <a:ext cx="822960" cy="6858000"/>
          </a:xfrm>
          <a:prstGeom prst="rect">
            <a:avLst/>
          </a:prstGeom>
          <a:solidFill>
            <a:srgbClr val="0B0A12">
              <a:alpha val="60000"/>
            </a:srgbClr>
          </a:solidFill>
          <a:ln w="12700">
            <a:solidFill>
              <a:srgbClr val="0B0A12">
                <a:alpha val="0"/>
              </a:srgbClr>
            </a:solidFill>
            <a:prstDash val="solid"/>
          </a:ln>
        </p:spPr>
      </p:sp>
      <p:sp>
        <p:nvSpPr>
          <p:cNvPr id="5" name="Text 1"/>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050" spc="300" kern="0" dirty="0">
                <a:solidFill>
                  <a:srgbClr val="E8C878"/>
                </a:solidFill>
                <a:latin typeface="DM Mono" pitchFamily="34" charset="0"/>
                <a:ea typeface="DM Mono" pitchFamily="34" charset="-122"/>
                <a:cs typeface="DM Mono" pitchFamily="34" charset="-120"/>
              </a:rPr>
              <a:t>YOUR INVITATION</a:t>
            </a:r>
            <a:endParaRPr lang="en-US" sz="1050" dirty="0"/>
          </a:p>
        </p:txBody>
      </p:sp>
      <p:sp>
        <p:nvSpPr>
          <p:cNvPr id="6" name="Text 2"/>
          <p:cNvSpPr txBox="1"/>
          <p:nvPr/>
        </p:nvSpPr>
        <p:spPr>
          <a:xfrm>
            <a:off x="548640" y="1005840"/>
            <a:ext cx="5394960" cy="1645920"/>
          </a:xfrm>
          <a:prstGeom prst="rect">
            <a:avLst/>
          </a:prstGeom>
          <a:noFill/>
          <a:ln/>
        </p:spPr>
        <p:txBody>
          <a:bodyPr wrap="square" lIns="0" tIns="0" rIns="0" bIns="0" rtlCol="0" anchor="t">
            <a:normAutofit/>
          </a:bodyPr>
          <a:lstStyle/>
          <a:p>
            <a:pPr indent="0" marL="0">
              <a:buNone/>
            </a:pPr>
            <a:r>
              <a:rPr lang="en-US" sz="3600" b="1" dirty="0">
                <a:solidFill>
                  <a:srgbClr val="F1EEFB"/>
                </a:solidFill>
                <a:latin typeface="Outfit" pitchFamily="34" charset="0"/>
                <a:ea typeface="Outfit" pitchFamily="34" charset="-122"/>
                <a:cs typeface="Outfit" pitchFamily="34" charset="-120"/>
              </a:rPr>
              <a:t>Book your </a:t>
            </a:r>
            <a:pPr indent="0" marL="0">
              <a:buNone/>
            </a:pPr>
            <a:r>
              <a:rPr lang="en-US" sz="3600" b="1" i="1" dirty="0">
                <a:solidFill>
                  <a:srgbClr val="B79CF5"/>
                </a:solidFill>
                <a:latin typeface="Instrument Serif" pitchFamily="34" charset="0"/>
                <a:ea typeface="Instrument Serif" pitchFamily="34" charset="-122"/>
                <a:cs typeface="Instrument Serif" pitchFamily="34" charset="-120"/>
              </a:rPr>
              <a:t>[Audit name]</a:t>
            </a:r>
            <a:endParaRPr lang="en-US" sz="3600" dirty="0"/>
          </a:p>
        </p:txBody>
      </p:sp>
      <p:sp>
        <p:nvSpPr>
          <p:cNvPr id="7" name="Text 3"/>
          <p:cNvSpPr txBox="1"/>
          <p:nvPr/>
        </p:nvSpPr>
        <p:spPr>
          <a:xfrm>
            <a:off x="548640" y="2743200"/>
            <a:ext cx="5212080" cy="822960"/>
          </a:xfrm>
          <a:prstGeom prst="rect">
            <a:avLst/>
          </a:prstGeom>
          <a:noFill/>
          <a:ln/>
        </p:spPr>
        <p:txBody>
          <a:bodyPr wrap="square" lIns="0" tIns="0" rIns="0" bIns="0" rtlCol="0" anchor="t">
            <a:normAutofit/>
          </a:bodyPr>
          <a:lstStyle/>
          <a:p>
            <a:pPr indent="0" marL="0">
              <a:buNone/>
            </a:pPr>
            <a:r>
              <a:rPr lang="en-US" sz="1500" dirty="0">
                <a:solidFill>
                  <a:srgbClr val="C9C3DD"/>
                </a:solidFill>
                <a:latin typeface="Outfit" pitchFamily="34" charset="0"/>
                <a:ea typeface="Outfit" pitchFamily="34" charset="-122"/>
                <a:cs typeface="Outfit" pitchFamily="34" charset="-120"/>
              </a:rPr>
              <a:t>[One sentence: who it's for and what they walk away with. "60 minutes, the #1 thing blocking you from [result], and your 3 next steps for the next 90 days."]</a:t>
            </a:r>
            <a:endParaRPr lang="en-US" sz="1500" dirty="0"/>
          </a:p>
        </p:txBody>
      </p:sp>
      <p:sp>
        <p:nvSpPr>
          <p:cNvPr id="8" name="Shape 4"/>
          <p:cNvSpPr/>
          <p:nvPr/>
        </p:nvSpPr>
        <p:spPr>
          <a:xfrm>
            <a:off x="548640" y="3657600"/>
            <a:ext cx="5394960" cy="1005840"/>
          </a:xfrm>
          <a:prstGeom prst="roundRect">
            <a:avLst>
              <a:gd name="adj" fmla="val 16364"/>
            </a:avLst>
          </a:prstGeom>
          <a:solidFill>
            <a:srgbClr val="7C5CF0"/>
          </a:solidFill>
          <a:ln w="9525">
            <a:solidFill>
              <a:srgbClr val="2A2540"/>
            </a:solidFill>
            <a:prstDash val="solid"/>
          </a:ln>
        </p:spPr>
      </p:sp>
      <p:sp>
        <p:nvSpPr>
          <p:cNvPr id="9" name="Text 5"/>
          <p:cNvSpPr txBox="1"/>
          <p:nvPr/>
        </p:nvSpPr>
        <p:spPr>
          <a:xfrm>
            <a:off x="822960" y="3657600"/>
            <a:ext cx="4846320" cy="1005840"/>
          </a:xfrm>
          <a:prstGeom prst="rect">
            <a:avLst/>
          </a:prstGeom>
          <a:noFill/>
          <a:ln/>
        </p:spPr>
        <p:txBody>
          <a:bodyPr wrap="square" lIns="0" tIns="0" rIns="0" bIns="0" rtlCol="0" anchor="ctr"/>
          <a:lstStyle/>
          <a:p>
            <a:pPr indent="0" marL="0">
              <a:buNone/>
            </a:pPr>
            <a:r>
              <a:rPr lang="en-US" sz="1800" b="1" dirty="0">
                <a:solidFill>
                  <a:srgbClr val="FFFFFF"/>
                </a:solidFill>
                <a:latin typeface="Outfit" pitchFamily="34" charset="0"/>
                <a:ea typeface="Outfit" pitchFamily="34" charset="-122"/>
                <a:cs typeface="Outfit" pitchFamily="34" charset="-120"/>
              </a:rPr>
              <a:t>[Audit name] · [price or "paid"]
</a:t>
            </a:r>
            <a:pPr indent="0" marL="0">
              <a:buNone/>
            </a:pPr>
            <a:r>
              <a:rPr lang="en-US" sz="1300" dirty="0">
                <a:solidFill>
                  <a:srgbClr val="E8E2FF"/>
                </a:solidFill>
                <a:latin typeface="DM Mono" pitchFamily="34" charset="0"/>
                <a:ea typeface="DM Mono" pitchFamily="34" charset="-122"/>
                <a:cs typeface="DM Mono" pitchFamily="34" charset="-120"/>
              </a:rPr>
              <a:t>[your booking link]</a:t>
            </a:r>
            <a:endParaRPr lang="en-US" sz="1800" dirty="0"/>
          </a:p>
        </p:txBody>
      </p:sp>
      <p:sp>
        <p:nvSpPr>
          <p:cNvPr id="10" name="Shape 6"/>
          <p:cNvSpPr/>
          <p:nvPr/>
        </p:nvSpPr>
        <p:spPr>
          <a:xfrm>
            <a:off x="548640" y="4846320"/>
            <a:ext cx="5394960" cy="1005840"/>
          </a:xfrm>
          <a:prstGeom prst="roundRect">
            <a:avLst>
              <a:gd name="adj" fmla="val 16364"/>
            </a:avLst>
          </a:prstGeom>
          <a:solidFill>
            <a:srgbClr val="15121F"/>
          </a:solidFill>
          <a:ln w="9525">
            <a:solidFill>
              <a:srgbClr val="2A2540"/>
            </a:solidFill>
            <a:prstDash val="solid"/>
          </a:ln>
        </p:spPr>
      </p:sp>
      <p:sp>
        <p:nvSpPr>
          <p:cNvPr id="11" name="Text 7"/>
          <p:cNvSpPr txBox="1"/>
          <p:nvPr/>
        </p:nvSpPr>
        <p:spPr>
          <a:xfrm>
            <a:off x="822960" y="4846320"/>
            <a:ext cx="4846320" cy="1005840"/>
          </a:xfrm>
          <a:prstGeom prst="rect">
            <a:avLst/>
          </a:prstGeom>
          <a:noFill/>
          <a:ln/>
        </p:spPr>
        <p:txBody>
          <a:bodyPr wrap="square" lIns="0" tIns="0" rIns="0" bIns="0" rtlCol="0" anchor="ctr"/>
          <a:lstStyle/>
          <a:p>
            <a:pPr indent="0" marL="0">
              <a:buNone/>
            </a:pPr>
            <a:r>
              <a:rPr lang="en-US" sz="950" dirty="0">
                <a:solidFill>
                  <a:srgbClr val="8B85A3"/>
                </a:solidFill>
                <a:latin typeface="DM Mono" pitchFamily="34" charset="0"/>
                <a:ea typeface="DM Mono" pitchFamily="34" charset="-122"/>
                <a:cs typeface="DM Mono" pitchFamily="34" charset="-120"/>
              </a:rPr>
              <a:t>NOT READY YET?
</a:t>
            </a:r>
            <a:pPr indent="0" marL="0">
              <a:buNone/>
            </a:pPr>
            <a:r>
              <a:rPr lang="en-US" sz="1600" b="1" dirty="0">
                <a:solidFill>
                  <a:srgbClr val="F1EEFB"/>
                </a:solidFill>
                <a:latin typeface="Outfit" pitchFamily="34" charset="0"/>
                <a:ea typeface="Outfit" pitchFamily="34" charset="-122"/>
                <a:cs typeface="Outfit" pitchFamily="34" charset="-120"/>
              </a:rPr>
              <a:t>[Your free thing]  </a:t>
            </a:r>
            <a:pPr indent="0" marL="0">
              <a:buNone/>
            </a:pPr>
            <a:r>
              <a:rPr lang="en-US" sz="1200" dirty="0">
                <a:solidFill>
                  <a:srgbClr val="B79CF5"/>
                </a:solidFill>
                <a:latin typeface="DM Mono" pitchFamily="34" charset="0"/>
                <a:ea typeface="DM Mono" pitchFamily="34" charset="-122"/>
                <a:cs typeface="DM Mono" pitchFamily="34" charset="-120"/>
              </a:rPr>
              <a:t>[where to get it]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WHAT HAPPENS WHEN YOU BOOK</a:t>
            </a:r>
            <a:endParaRPr lang="en-US" sz="1050" dirty="0"/>
          </a:p>
        </p:txBody>
      </p:sp>
      <p:sp>
        <p:nvSpPr>
          <p:cNvPr id="4" name="Text 1"/>
          <p:cNvSpPr txBox="1"/>
          <p:nvPr/>
        </p:nvSpPr>
        <p:spPr>
          <a:xfrm>
            <a:off x="548640" y="777240"/>
            <a:ext cx="11064240" cy="685800"/>
          </a:xfrm>
          <a:prstGeom prst="rect">
            <a:avLst/>
          </a:prstGeom>
          <a:noFill/>
          <a:ln/>
        </p:spPr>
        <p:txBody>
          <a:bodyPr wrap="square" lIns="0" tIns="0" rIns="0" bIns="0" rtlCol="0" anchor="t">
            <a:normAutofit/>
          </a:bodyPr>
          <a:lstStyle/>
          <a:p>
            <a:pPr indent="0" marL="0">
              <a:buNone/>
            </a:pPr>
            <a:r>
              <a:rPr lang="en-US" sz="3000" b="1" dirty="0">
                <a:solidFill>
                  <a:srgbClr val="F1EEFB"/>
                </a:solidFill>
                <a:latin typeface="Outfit" pitchFamily="34" charset="0"/>
                <a:ea typeface="Outfit" pitchFamily="34" charset="-122"/>
                <a:cs typeface="Outfit" pitchFamily="34" charset="-120"/>
              </a:rPr>
              <a:t>From booking to your 3 next steps</a:t>
            </a:r>
            <a:endParaRPr lang="en-US" sz="3000" dirty="0"/>
          </a:p>
        </p:txBody>
      </p:sp>
      <p:sp>
        <p:nvSpPr>
          <p:cNvPr id="5" name="Shape 2"/>
          <p:cNvSpPr/>
          <p:nvPr/>
        </p:nvSpPr>
        <p:spPr>
          <a:xfrm>
            <a:off x="548640" y="1783080"/>
            <a:ext cx="11091672" cy="656539"/>
          </a:xfrm>
          <a:prstGeom prst="roundRect">
            <a:avLst>
              <a:gd name="adj" fmla="val 25070"/>
            </a:avLst>
          </a:prstGeom>
          <a:solidFill>
            <a:srgbClr val="15121F"/>
          </a:solidFill>
          <a:ln w="9525">
            <a:solidFill>
              <a:srgbClr val="2A2540"/>
            </a:solidFill>
            <a:prstDash val="solid"/>
          </a:ln>
        </p:spPr>
      </p:sp>
      <p:sp>
        <p:nvSpPr>
          <p:cNvPr id="6" name="Text 3"/>
          <p:cNvSpPr txBox="1"/>
          <p:nvPr/>
        </p:nvSpPr>
        <p:spPr>
          <a:xfrm>
            <a:off x="822960" y="188275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1645920" y="1892808"/>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You book</a:t>
            </a:r>
            <a:endParaRPr lang="en-US" sz="1500" dirty="0"/>
          </a:p>
        </p:txBody>
      </p:sp>
      <p:sp>
        <p:nvSpPr>
          <p:cNvPr id="8" name="Text 5"/>
          <p:cNvSpPr txBox="1"/>
          <p:nvPr/>
        </p:nvSpPr>
        <p:spPr>
          <a:xfrm>
            <a:off x="5029200" y="1892808"/>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[Where, and what they fill in. One line.]</a:t>
            </a:r>
            <a:endParaRPr lang="en-US" sz="1350" dirty="0"/>
          </a:p>
        </p:txBody>
      </p:sp>
      <p:sp>
        <p:nvSpPr>
          <p:cNvPr id="9" name="Shape 6"/>
          <p:cNvSpPr/>
          <p:nvPr/>
        </p:nvSpPr>
        <p:spPr>
          <a:xfrm>
            <a:off x="548640" y="2567635"/>
            <a:ext cx="11091672" cy="656539"/>
          </a:xfrm>
          <a:prstGeom prst="roundRect">
            <a:avLst>
              <a:gd name="adj" fmla="val 25070"/>
            </a:avLst>
          </a:prstGeom>
          <a:solidFill>
            <a:srgbClr val="15121F"/>
          </a:solidFill>
          <a:ln w="9525">
            <a:solidFill>
              <a:srgbClr val="2A2540"/>
            </a:solidFill>
            <a:prstDash val="solid"/>
          </a:ln>
        </p:spPr>
      </p:sp>
      <p:sp>
        <p:nvSpPr>
          <p:cNvPr id="10" name="Text 7"/>
          <p:cNvSpPr txBox="1"/>
          <p:nvPr/>
        </p:nvSpPr>
        <p:spPr>
          <a:xfrm>
            <a:off x="822960" y="2667305"/>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1645920" y="2677363"/>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Before the call</a:t>
            </a:r>
            <a:endParaRPr lang="en-US" sz="1500" dirty="0"/>
          </a:p>
        </p:txBody>
      </p:sp>
      <p:sp>
        <p:nvSpPr>
          <p:cNvPr id="12" name="Text 9"/>
          <p:cNvSpPr txBox="1"/>
          <p:nvPr/>
        </p:nvSpPr>
        <p:spPr>
          <a:xfrm>
            <a:off x="5029200" y="2677363"/>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you do with what they sent. One line.]</a:t>
            </a:r>
            <a:endParaRPr lang="en-US" sz="1350" dirty="0"/>
          </a:p>
        </p:txBody>
      </p:sp>
      <p:sp>
        <p:nvSpPr>
          <p:cNvPr id="13" name="Shape 10"/>
          <p:cNvSpPr/>
          <p:nvPr/>
        </p:nvSpPr>
        <p:spPr>
          <a:xfrm>
            <a:off x="548640" y="3352190"/>
            <a:ext cx="11091672" cy="656539"/>
          </a:xfrm>
          <a:prstGeom prst="roundRect">
            <a:avLst>
              <a:gd name="adj" fmla="val 25070"/>
            </a:avLst>
          </a:prstGeom>
          <a:solidFill>
            <a:srgbClr val="15121F"/>
          </a:solidFill>
          <a:ln w="9525">
            <a:solidFill>
              <a:srgbClr val="2A2540"/>
            </a:solidFill>
            <a:prstDash val="solid"/>
          </a:ln>
        </p:spPr>
      </p:sp>
      <p:sp>
        <p:nvSpPr>
          <p:cNvPr id="14" name="Text 11"/>
          <p:cNvSpPr txBox="1"/>
          <p:nvPr/>
        </p:nvSpPr>
        <p:spPr>
          <a:xfrm>
            <a:off x="822960" y="345186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1645920" y="3461918"/>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The 60 minutes</a:t>
            </a:r>
            <a:endParaRPr lang="en-US" sz="1500" dirty="0"/>
          </a:p>
        </p:txBody>
      </p:sp>
      <p:sp>
        <p:nvSpPr>
          <p:cNvPr id="16" name="Text 13"/>
          <p:cNvSpPr txBox="1"/>
          <p:nvPr/>
        </p:nvSpPr>
        <p:spPr>
          <a:xfrm>
            <a:off x="5029200" y="3461918"/>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happens, one line.]</a:t>
            </a:r>
            <a:endParaRPr lang="en-US" sz="1350" dirty="0"/>
          </a:p>
        </p:txBody>
      </p:sp>
      <p:sp>
        <p:nvSpPr>
          <p:cNvPr id="17" name="Shape 14"/>
          <p:cNvSpPr/>
          <p:nvPr/>
        </p:nvSpPr>
        <p:spPr>
          <a:xfrm>
            <a:off x="548640" y="4136746"/>
            <a:ext cx="11091672" cy="656539"/>
          </a:xfrm>
          <a:prstGeom prst="roundRect">
            <a:avLst>
              <a:gd name="adj" fmla="val 25070"/>
            </a:avLst>
          </a:prstGeom>
          <a:solidFill>
            <a:srgbClr val="15121F"/>
          </a:solidFill>
          <a:ln w="9525">
            <a:solidFill>
              <a:srgbClr val="2A2540"/>
            </a:solidFill>
            <a:prstDash val="solid"/>
          </a:ln>
        </p:spPr>
      </p:sp>
      <p:sp>
        <p:nvSpPr>
          <p:cNvPr id="18" name="Text 15"/>
          <p:cNvSpPr txBox="1"/>
          <p:nvPr/>
        </p:nvSpPr>
        <p:spPr>
          <a:xfrm>
            <a:off x="822960" y="4236415"/>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04</a:t>
            </a:r>
            <a:endParaRPr lang="en-US" sz="2200" dirty="0"/>
          </a:p>
        </p:txBody>
      </p:sp>
      <p:sp>
        <p:nvSpPr>
          <p:cNvPr id="19" name="Text 16"/>
          <p:cNvSpPr txBox="1"/>
          <p:nvPr/>
        </p:nvSpPr>
        <p:spPr>
          <a:xfrm>
            <a:off x="1645920" y="4246474"/>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After</a:t>
            </a:r>
            <a:endParaRPr lang="en-US" sz="1500" dirty="0"/>
          </a:p>
        </p:txBody>
      </p:sp>
      <p:sp>
        <p:nvSpPr>
          <p:cNvPr id="20" name="Text 17"/>
          <p:cNvSpPr txBox="1"/>
          <p:nvPr/>
        </p:nvSpPr>
        <p:spPr>
          <a:xfrm>
            <a:off x="5029200" y="4246474"/>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[What they get and when. One line.]</a:t>
            </a:r>
            <a:endParaRPr lang="en-US" sz="1350" dirty="0"/>
          </a:p>
        </p:txBody>
      </p:sp>
      <p:sp>
        <p:nvSpPr>
          <p:cNvPr id="21" name="Shape 18"/>
          <p:cNvSpPr/>
          <p:nvPr/>
        </p:nvSpPr>
        <p:spPr>
          <a:xfrm>
            <a:off x="548640" y="4921301"/>
            <a:ext cx="11091672" cy="656539"/>
          </a:xfrm>
          <a:prstGeom prst="roundRect">
            <a:avLst>
              <a:gd name="adj" fmla="val 25070"/>
            </a:avLst>
          </a:prstGeom>
          <a:solidFill>
            <a:srgbClr val="15121F"/>
          </a:solidFill>
          <a:ln w="9525">
            <a:solidFill>
              <a:srgbClr val="2A2540"/>
            </a:solidFill>
            <a:prstDash val="solid"/>
          </a:ln>
        </p:spPr>
      </p:sp>
      <p:sp>
        <p:nvSpPr>
          <p:cNvPr id="22" name="Text 19"/>
          <p:cNvSpPr txBox="1"/>
          <p:nvPr/>
        </p:nvSpPr>
        <p:spPr>
          <a:xfrm>
            <a:off x="822960" y="5020970"/>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05</a:t>
            </a:r>
            <a:endParaRPr lang="en-US" sz="2200" dirty="0"/>
          </a:p>
        </p:txBody>
      </p:sp>
      <p:sp>
        <p:nvSpPr>
          <p:cNvPr id="23" name="Text 20"/>
          <p:cNvSpPr txBox="1"/>
          <p:nvPr/>
        </p:nvSpPr>
        <p:spPr>
          <a:xfrm>
            <a:off x="1645920" y="5031029"/>
            <a:ext cx="3291840" cy="437083"/>
          </a:xfrm>
          <a:prstGeom prst="rect">
            <a:avLst/>
          </a:prstGeom>
          <a:noFill/>
          <a:ln/>
        </p:spPr>
        <p:txBody>
          <a:bodyPr wrap="square" lIns="0" tIns="0" rIns="0" bIns="0" rtlCol="0" anchor="ctr">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Then</a:t>
            </a:r>
            <a:endParaRPr lang="en-US" sz="1500" dirty="0"/>
          </a:p>
        </p:txBody>
      </p:sp>
      <p:sp>
        <p:nvSpPr>
          <p:cNvPr id="24" name="Text 21"/>
          <p:cNvSpPr txBox="1"/>
          <p:nvPr/>
        </p:nvSpPr>
        <p:spPr>
          <a:xfrm>
            <a:off x="5029200" y="5031029"/>
            <a:ext cx="6336792" cy="437083"/>
          </a:xfrm>
          <a:prstGeom prst="rect">
            <a:avLst/>
          </a:prstGeom>
          <a:noFill/>
          <a:ln/>
        </p:spPr>
        <p:txBody>
          <a:bodyPr wrap="square" lIns="0" tIns="0" rIns="0" bIns="0" rtlCol="0" anchor="ctr">
            <a:normAutofit/>
          </a:bodyPr>
          <a:lstStyle/>
          <a:p>
            <a:pPr indent="0" marL="0">
              <a:buNone/>
            </a:pPr>
            <a:r>
              <a:rPr lang="en-US" sz="1350" dirty="0">
                <a:solidFill>
                  <a:srgbClr val="C9C3DD"/>
                </a:solidFill>
                <a:latin typeface="Outfit" pitchFamily="34" charset="0"/>
                <a:ea typeface="Outfit" pitchFamily="34" charset="-122"/>
                <a:cs typeface="Outfit" pitchFamily="34" charset="-120"/>
              </a:rPr>
              <a:t>[The 90-day container, one line, no pressure.]</a:t>
            </a:r>
            <a:endParaRPr lang="en-US" sz="1350" dirty="0"/>
          </a:p>
        </p:txBody>
      </p:sp>
      <p:sp>
        <p:nvSpPr>
          <p:cNvPr id="25" name="Text 22"/>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26" name="Text 2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YOUR QUESTIONS</a:t>
            </a:r>
            <a:endParaRPr lang="en-US" sz="1050" dirty="0"/>
          </a:p>
        </p:txBody>
      </p:sp>
      <p:pic>
        <p:nvPicPr>
          <p:cNvPr id="4" name="Image 0" descr="face.jpg">    </p:cNvPr>
          <p:cNvPicPr>
            <a:picLocks noChangeAspect="1"/>
          </p:cNvPicPr>
          <p:nvPr/>
        </p:nvPicPr>
        <p:blipFill>
          <a:blip r:embed="rId2"/>
          <a:stretch>
            <a:fillRect/>
          </a:stretch>
        </p:blipFill>
        <p:spPr>
          <a:xfrm>
            <a:off x="548640" y="1554480"/>
            <a:ext cx="3108960" cy="3108960"/>
          </a:xfrm>
          <a:prstGeom prst="ellipse">
            <a:avLst/>
          </a:prstGeom>
        </p:spPr>
      </p:pic>
      <p:sp>
        <p:nvSpPr>
          <p:cNvPr id="5" name="Text 1"/>
          <p:cNvSpPr txBox="1"/>
          <p:nvPr/>
        </p:nvSpPr>
        <p:spPr>
          <a:xfrm>
            <a:off x="4206240" y="1188720"/>
            <a:ext cx="7315200" cy="731520"/>
          </a:xfrm>
          <a:prstGeom prst="rect">
            <a:avLst/>
          </a:prstGeom>
          <a:noFill/>
          <a:ln/>
        </p:spPr>
        <p:txBody>
          <a:bodyPr wrap="square" lIns="0" tIns="0" rIns="0" bIns="0" rtlCol="0" anchor="ctr"/>
          <a:lstStyle/>
          <a:p>
            <a:pPr indent="0" marL="0">
              <a:buNone/>
            </a:pPr>
            <a:r>
              <a:rPr lang="en-US" sz="4000" b="1" dirty="0">
                <a:solidFill>
                  <a:srgbClr val="F1EEFB"/>
                </a:solidFill>
                <a:latin typeface="Outfit" pitchFamily="34" charset="0"/>
                <a:ea typeface="Outfit" pitchFamily="34" charset="-122"/>
                <a:cs typeface="Outfit" pitchFamily="34" charset="-120"/>
              </a:rPr>
              <a:t>Your questions</a:t>
            </a:r>
            <a:endParaRPr lang="en-US" sz="4000" dirty="0"/>
          </a:p>
        </p:txBody>
      </p:sp>
      <p:sp>
        <p:nvSpPr>
          <p:cNvPr id="6" name="Text 2"/>
          <p:cNvSpPr txBox="1"/>
          <p:nvPr/>
        </p:nvSpPr>
        <p:spPr>
          <a:xfrm>
            <a:off x="4206240" y="2011680"/>
            <a:ext cx="822960" cy="457200"/>
          </a:xfrm>
          <a:prstGeom prst="rect">
            <a:avLst/>
          </a:prstGeom>
          <a:noFill/>
          <a:ln/>
        </p:spPr>
        <p:txBody>
          <a:bodyPr wrap="square" lIns="0" tIns="0" rIns="0" bIns="0" rtlCol="0" anchor="ctr"/>
          <a:lstStyle/>
          <a:p>
            <a:pPr indent="0" marL="0">
              <a:buNone/>
            </a:pPr>
            <a:r>
              <a:rPr lang="en-US" sz="2000" i="1" dirty="0">
                <a:solidFill>
                  <a:srgbClr val="B79CF5"/>
                </a:solidFill>
                <a:latin typeface="Instrument Serif" pitchFamily="34" charset="0"/>
                <a:ea typeface="Instrument Serif" pitchFamily="34" charset="-122"/>
                <a:cs typeface="Instrument Serif" pitchFamily="34" charset="-120"/>
              </a:rPr>
              <a:t>01</a:t>
            </a:r>
            <a:endParaRPr lang="en-US" sz="2000" dirty="0"/>
          </a:p>
        </p:txBody>
      </p:sp>
      <p:sp>
        <p:nvSpPr>
          <p:cNvPr id="7" name="Text 3"/>
          <p:cNvSpPr txBox="1"/>
          <p:nvPr/>
        </p:nvSpPr>
        <p:spPr>
          <a:xfrm>
            <a:off x="4709160" y="2011680"/>
            <a:ext cx="6812280" cy="1097280"/>
          </a:xfrm>
          <a:prstGeom prst="rect">
            <a:avLst/>
          </a:prstGeom>
          <a:noFill/>
          <a:ln/>
        </p:spPr>
        <p:txBody>
          <a:bodyPr wrap="square" lIns="0" tIns="0" rIns="0" bIns="0" rtlCol="0" anchor="t">
            <a:normAutofit/>
          </a:bodyPr>
          <a:lstStyle/>
          <a:p>
            <a:pPr indent="0" marL="0">
              <a:buNone/>
            </a:pPr>
            <a:r>
              <a:rPr lang="en-US" sz="1400" b="1" dirty="0">
                <a:solidFill>
                  <a:srgbClr val="F1EEFB"/>
                </a:solidFill>
                <a:latin typeface="Outfit" pitchFamily="34" charset="0"/>
                <a:ea typeface="Outfit" pitchFamily="34" charset="-122"/>
                <a:cs typeface="Outfit" pitchFamily="34" charset="-120"/>
              </a:rPr>
              <a:t>"[Objection 1]"
</a:t>
            </a:r>
            <a:pPr indent="0" marL="0">
              <a:buNone/>
            </a:pPr>
            <a:r>
              <a:rPr lang="en-US" sz="1200" dirty="0">
                <a:solidFill>
                  <a:srgbClr val="C9C3DD"/>
                </a:solidFill>
                <a:latin typeface="Outfit" pitchFamily="34" charset="0"/>
                <a:ea typeface="Outfit" pitchFamily="34" charset="-122"/>
                <a:cs typeface="Outfit" pitchFamily="34" charset="-120"/>
              </a:rPr>
              <a:t>[Your answer, one line.]</a:t>
            </a:r>
            <a:endParaRPr lang="en-US" sz="1400" dirty="0"/>
          </a:p>
        </p:txBody>
      </p:sp>
      <p:sp>
        <p:nvSpPr>
          <p:cNvPr id="8" name="Text 4"/>
          <p:cNvSpPr txBox="1"/>
          <p:nvPr/>
        </p:nvSpPr>
        <p:spPr>
          <a:xfrm>
            <a:off x="4206240" y="3200400"/>
            <a:ext cx="822960" cy="457200"/>
          </a:xfrm>
          <a:prstGeom prst="rect">
            <a:avLst/>
          </a:prstGeom>
          <a:noFill/>
          <a:ln/>
        </p:spPr>
        <p:txBody>
          <a:bodyPr wrap="square" lIns="0" tIns="0" rIns="0" bIns="0" rtlCol="0" anchor="ctr"/>
          <a:lstStyle/>
          <a:p>
            <a:pPr indent="0" marL="0">
              <a:buNone/>
            </a:pPr>
            <a:r>
              <a:rPr lang="en-US" sz="2000" i="1" dirty="0">
                <a:solidFill>
                  <a:srgbClr val="B79CF5"/>
                </a:solidFill>
                <a:latin typeface="Instrument Serif" pitchFamily="34" charset="0"/>
                <a:ea typeface="Instrument Serif" pitchFamily="34" charset="-122"/>
                <a:cs typeface="Instrument Serif" pitchFamily="34" charset="-120"/>
              </a:rPr>
              <a:t>02</a:t>
            </a:r>
            <a:endParaRPr lang="en-US" sz="2000" dirty="0"/>
          </a:p>
        </p:txBody>
      </p:sp>
      <p:sp>
        <p:nvSpPr>
          <p:cNvPr id="9" name="Text 5"/>
          <p:cNvSpPr txBox="1"/>
          <p:nvPr/>
        </p:nvSpPr>
        <p:spPr>
          <a:xfrm>
            <a:off x="4709160" y="3200400"/>
            <a:ext cx="6812280" cy="1097280"/>
          </a:xfrm>
          <a:prstGeom prst="rect">
            <a:avLst/>
          </a:prstGeom>
          <a:noFill/>
          <a:ln/>
        </p:spPr>
        <p:txBody>
          <a:bodyPr wrap="square" lIns="0" tIns="0" rIns="0" bIns="0" rtlCol="0" anchor="t">
            <a:normAutofit/>
          </a:bodyPr>
          <a:lstStyle/>
          <a:p>
            <a:pPr indent="0" marL="0">
              <a:buNone/>
            </a:pPr>
            <a:r>
              <a:rPr lang="en-US" sz="1400" b="1" dirty="0">
                <a:solidFill>
                  <a:srgbClr val="F1EEFB"/>
                </a:solidFill>
                <a:latin typeface="Outfit" pitchFamily="34" charset="0"/>
                <a:ea typeface="Outfit" pitchFamily="34" charset="-122"/>
                <a:cs typeface="Outfit" pitchFamily="34" charset="-120"/>
              </a:rPr>
              <a:t>"[Objection 2]"
</a:t>
            </a:r>
            <a:pPr indent="0" marL="0">
              <a:buNone/>
            </a:pPr>
            <a:r>
              <a:rPr lang="en-US" sz="1200" dirty="0">
                <a:solidFill>
                  <a:srgbClr val="C9C3DD"/>
                </a:solidFill>
                <a:latin typeface="Outfit" pitchFamily="34" charset="0"/>
                <a:ea typeface="Outfit" pitchFamily="34" charset="-122"/>
                <a:cs typeface="Outfit" pitchFamily="34" charset="-120"/>
              </a:rPr>
              <a:t>[Your answer.]</a:t>
            </a:r>
            <a:endParaRPr lang="en-US" sz="1400" dirty="0"/>
          </a:p>
        </p:txBody>
      </p:sp>
      <p:sp>
        <p:nvSpPr>
          <p:cNvPr id="10" name="Text 6"/>
          <p:cNvSpPr txBox="1"/>
          <p:nvPr/>
        </p:nvSpPr>
        <p:spPr>
          <a:xfrm>
            <a:off x="4206240" y="4389120"/>
            <a:ext cx="822960" cy="457200"/>
          </a:xfrm>
          <a:prstGeom prst="rect">
            <a:avLst/>
          </a:prstGeom>
          <a:noFill/>
          <a:ln/>
        </p:spPr>
        <p:txBody>
          <a:bodyPr wrap="square" lIns="0" tIns="0" rIns="0" bIns="0" rtlCol="0" anchor="ctr"/>
          <a:lstStyle/>
          <a:p>
            <a:pPr indent="0" marL="0">
              <a:buNone/>
            </a:pPr>
            <a:r>
              <a:rPr lang="en-US" sz="2000" i="1" dirty="0">
                <a:solidFill>
                  <a:srgbClr val="B79CF5"/>
                </a:solidFill>
                <a:latin typeface="Instrument Serif" pitchFamily="34" charset="0"/>
                <a:ea typeface="Instrument Serif" pitchFamily="34" charset="-122"/>
                <a:cs typeface="Instrument Serif" pitchFamily="34" charset="-120"/>
              </a:rPr>
              <a:t>03</a:t>
            </a:r>
            <a:endParaRPr lang="en-US" sz="2000" dirty="0"/>
          </a:p>
        </p:txBody>
      </p:sp>
      <p:sp>
        <p:nvSpPr>
          <p:cNvPr id="11" name="Text 7"/>
          <p:cNvSpPr txBox="1"/>
          <p:nvPr/>
        </p:nvSpPr>
        <p:spPr>
          <a:xfrm>
            <a:off x="4709160" y="4389120"/>
            <a:ext cx="6812280" cy="1097280"/>
          </a:xfrm>
          <a:prstGeom prst="rect">
            <a:avLst/>
          </a:prstGeom>
          <a:noFill/>
          <a:ln/>
        </p:spPr>
        <p:txBody>
          <a:bodyPr wrap="square" lIns="0" tIns="0" rIns="0" bIns="0" rtlCol="0" anchor="t">
            <a:normAutofit/>
          </a:bodyPr>
          <a:lstStyle/>
          <a:p>
            <a:pPr indent="0" marL="0">
              <a:buNone/>
            </a:pPr>
            <a:r>
              <a:rPr lang="en-US" sz="1400" b="1" dirty="0">
                <a:solidFill>
                  <a:srgbClr val="F1EEFB"/>
                </a:solidFill>
                <a:latin typeface="Outfit" pitchFamily="34" charset="0"/>
                <a:ea typeface="Outfit" pitchFamily="34" charset="-122"/>
                <a:cs typeface="Outfit" pitchFamily="34" charset="-120"/>
              </a:rPr>
              <a:t>"[Objection 3]"
</a:t>
            </a:r>
            <a:pPr indent="0" marL="0">
              <a:buNone/>
            </a:pPr>
            <a:r>
              <a:rPr lang="en-US" sz="1200" dirty="0">
                <a:solidFill>
                  <a:srgbClr val="C9C3DD"/>
                </a:solidFill>
                <a:latin typeface="Outfit" pitchFamily="34" charset="0"/>
                <a:ea typeface="Outfit" pitchFamily="34" charset="-122"/>
                <a:cs typeface="Outfit" pitchFamily="34" charset="-120"/>
              </a:rPr>
              <a:t>[Your answer.]</a:t>
            </a:r>
            <a:endParaRPr lang="en-US" sz="1400" dirty="0"/>
          </a:p>
        </p:txBody>
      </p:sp>
      <p:sp>
        <p:nvSpPr>
          <p:cNvPr id="12" name="Text 8"/>
          <p:cNvSpPr txBox="1"/>
          <p:nvPr/>
        </p:nvSpPr>
        <p:spPr>
          <a:xfrm>
            <a:off x="4206240" y="5669280"/>
            <a:ext cx="7315200" cy="365760"/>
          </a:xfrm>
          <a:prstGeom prst="rect">
            <a:avLst/>
          </a:prstGeom>
          <a:noFill/>
          <a:ln/>
        </p:spPr>
        <p:txBody>
          <a:bodyPr wrap="square" lIns="0" tIns="0" rIns="0" bIns="0" rtlCol="0" anchor="ctr"/>
          <a:lstStyle/>
          <a:p>
            <a:pPr indent="0" marL="0">
              <a:buNone/>
            </a:pPr>
            <a:r>
              <a:rPr lang="en-US" sz="1100" spc="100" kern="0" dirty="0">
                <a:solidFill>
                  <a:srgbClr val="7FE0B8"/>
                </a:solidFill>
                <a:latin typeface="DM Mono" pitchFamily="34" charset="0"/>
                <a:ea typeface="DM Mono" pitchFamily="34" charset="-122"/>
                <a:cs typeface="DM Mono" pitchFamily="34" charset="-120"/>
              </a:rPr>
              <a:t>[Your booking link]  ·  [your handle]</a:t>
            </a:r>
            <a:endParaRPr lang="en-US" sz="1100" dirty="0"/>
          </a:p>
        </p:txBody>
      </p:sp>
      <p:sp>
        <p:nvSpPr>
          <p:cNvPr id="13" name="Text 9"/>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14" name="Text 1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050" spc="300" kern="0" dirty="0">
                <a:solidFill>
                  <a:srgbClr val="7FE0B8"/>
                </a:solidFill>
                <a:latin typeface="DM Mono" pitchFamily="34" charset="0"/>
                <a:ea typeface="DM Mono" pitchFamily="34" charset="-122"/>
                <a:cs typeface="DM Mono" pitchFamily="34" charset="-120"/>
              </a:rPr>
              <a:t>START TODAY</a:t>
            </a:r>
            <a:endParaRPr lang="en-US" sz="1050" dirty="0"/>
          </a:p>
        </p:txBody>
      </p:sp>
      <p:sp>
        <p:nvSpPr>
          <p:cNvPr id="4" name="Text 1"/>
          <p:cNvSpPr txBox="1"/>
          <p:nvPr/>
        </p:nvSpPr>
        <p:spPr>
          <a:xfrm>
            <a:off x="548640" y="777240"/>
            <a:ext cx="11064240" cy="1005840"/>
          </a:xfrm>
          <a:prstGeom prst="rect">
            <a:avLst/>
          </a:prstGeom>
          <a:noFill/>
          <a:ln/>
        </p:spPr>
        <p:txBody>
          <a:bodyPr wrap="square" lIns="0" tIns="0" rIns="0" bIns="0" rtlCol="0" anchor="ctr">
            <a:normAutofit/>
          </a:bodyPr>
          <a:lstStyle/>
          <a:p>
            <a:pPr indent="0" marL="0">
              <a:buNone/>
            </a:pPr>
            <a:r>
              <a:rPr lang="en-US" sz="3400" b="1" dirty="0">
                <a:solidFill>
                  <a:srgbClr val="F1EEFB"/>
                </a:solidFill>
                <a:latin typeface="Outfit" pitchFamily="34" charset="0"/>
                <a:ea typeface="Outfit" pitchFamily="34" charset="-122"/>
                <a:cs typeface="Outfit" pitchFamily="34" charset="-120"/>
              </a:rPr>
              <a:t>[A one-line practice they can start today]. </a:t>
            </a:r>
            <a:pPr indent="0" marL="0">
              <a:buNone/>
            </a:pPr>
            <a:r>
              <a:rPr lang="en-US" sz="3400" b="1" i="1" dirty="0">
                <a:solidFill>
                  <a:srgbClr val="B79CF5"/>
                </a:solidFill>
                <a:latin typeface="Instrument Serif" pitchFamily="34" charset="0"/>
                <a:ea typeface="Instrument Serif" pitchFamily="34" charset="-122"/>
                <a:cs typeface="Instrument Serif" pitchFamily="34" charset="-120"/>
              </a:rPr>
              <a:t>[Two words.]</a:t>
            </a:r>
            <a:endParaRPr lang="en-US" sz="3400" dirty="0"/>
          </a:p>
        </p:txBody>
      </p:sp>
      <p:sp>
        <p:nvSpPr>
          <p:cNvPr id="5" name="Shape 2"/>
          <p:cNvSpPr/>
          <p:nvPr/>
        </p:nvSpPr>
        <p:spPr>
          <a:xfrm>
            <a:off x="548640" y="2103120"/>
            <a:ext cx="3563112" cy="2743200"/>
          </a:xfrm>
          <a:prstGeom prst="roundRect">
            <a:avLst>
              <a:gd name="adj" fmla="val 6000"/>
            </a:avLst>
          </a:prstGeom>
          <a:solidFill>
            <a:srgbClr val="15121F"/>
          </a:solidFill>
          <a:ln w="9525">
            <a:solidFill>
              <a:srgbClr val="2A2540"/>
            </a:solidFill>
            <a:prstDash val="solid"/>
          </a:ln>
        </p:spPr>
      </p:sp>
      <p:sp>
        <p:nvSpPr>
          <p:cNvPr id="6" name="Text 3"/>
          <p:cNvSpPr txBox="1"/>
          <p:nvPr/>
        </p:nvSpPr>
        <p:spPr>
          <a:xfrm>
            <a:off x="777240" y="22677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01</a:t>
            </a:r>
            <a:endParaRPr lang="en-US" sz="2200" dirty="0"/>
          </a:p>
        </p:txBody>
      </p:sp>
      <p:sp>
        <p:nvSpPr>
          <p:cNvPr id="7" name="Text 4"/>
          <p:cNvSpPr txBox="1"/>
          <p:nvPr/>
        </p:nvSpPr>
        <p:spPr>
          <a:xfrm>
            <a:off x="777240" y="267004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[Do this 1]</a:t>
            </a:r>
            <a:endParaRPr lang="en-US" sz="1500" dirty="0"/>
          </a:p>
        </p:txBody>
      </p:sp>
      <p:sp>
        <p:nvSpPr>
          <p:cNvPr id="8" name="Text 5"/>
          <p:cNvSpPr txBox="1"/>
          <p:nvPr/>
        </p:nvSpPr>
        <p:spPr>
          <a:xfrm>
            <a:off x="777240" y="3154680"/>
            <a:ext cx="3105912" cy="15544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line.]</a:t>
            </a:r>
            <a:endParaRPr lang="en-US" sz="1300" dirty="0"/>
          </a:p>
        </p:txBody>
      </p:sp>
      <p:sp>
        <p:nvSpPr>
          <p:cNvPr id="9" name="Shape 6"/>
          <p:cNvSpPr/>
          <p:nvPr/>
        </p:nvSpPr>
        <p:spPr>
          <a:xfrm>
            <a:off x="4312920" y="2103120"/>
            <a:ext cx="3563112" cy="2743200"/>
          </a:xfrm>
          <a:prstGeom prst="roundRect">
            <a:avLst>
              <a:gd name="adj" fmla="val 6000"/>
            </a:avLst>
          </a:prstGeom>
          <a:solidFill>
            <a:srgbClr val="15121F"/>
          </a:solidFill>
          <a:ln w="9525">
            <a:solidFill>
              <a:srgbClr val="2A2540"/>
            </a:solidFill>
            <a:prstDash val="solid"/>
          </a:ln>
        </p:spPr>
      </p:sp>
      <p:sp>
        <p:nvSpPr>
          <p:cNvPr id="10" name="Text 7"/>
          <p:cNvSpPr txBox="1"/>
          <p:nvPr/>
        </p:nvSpPr>
        <p:spPr>
          <a:xfrm>
            <a:off x="4541520" y="22677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02</a:t>
            </a:r>
            <a:endParaRPr lang="en-US" sz="2200" dirty="0"/>
          </a:p>
        </p:txBody>
      </p:sp>
      <p:sp>
        <p:nvSpPr>
          <p:cNvPr id="11" name="Text 8"/>
          <p:cNvSpPr txBox="1"/>
          <p:nvPr/>
        </p:nvSpPr>
        <p:spPr>
          <a:xfrm>
            <a:off x="4541520" y="267004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[Do this 2]</a:t>
            </a:r>
            <a:endParaRPr lang="en-US" sz="1500" dirty="0"/>
          </a:p>
        </p:txBody>
      </p:sp>
      <p:sp>
        <p:nvSpPr>
          <p:cNvPr id="12" name="Text 9"/>
          <p:cNvSpPr txBox="1"/>
          <p:nvPr/>
        </p:nvSpPr>
        <p:spPr>
          <a:xfrm>
            <a:off x="4541520" y="3154680"/>
            <a:ext cx="3105912" cy="15544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line.]</a:t>
            </a:r>
            <a:endParaRPr lang="en-US" sz="1300" dirty="0"/>
          </a:p>
        </p:txBody>
      </p:sp>
      <p:sp>
        <p:nvSpPr>
          <p:cNvPr id="13" name="Shape 10"/>
          <p:cNvSpPr/>
          <p:nvPr/>
        </p:nvSpPr>
        <p:spPr>
          <a:xfrm>
            <a:off x="8077200" y="2103120"/>
            <a:ext cx="3563112" cy="2743200"/>
          </a:xfrm>
          <a:prstGeom prst="roundRect">
            <a:avLst>
              <a:gd name="adj" fmla="val 6000"/>
            </a:avLst>
          </a:prstGeom>
          <a:solidFill>
            <a:srgbClr val="15121F"/>
          </a:solidFill>
          <a:ln w="9525">
            <a:solidFill>
              <a:srgbClr val="2A2540"/>
            </a:solidFill>
            <a:prstDash val="solid"/>
          </a:ln>
        </p:spPr>
      </p:sp>
      <p:sp>
        <p:nvSpPr>
          <p:cNvPr id="14" name="Text 11"/>
          <p:cNvSpPr txBox="1"/>
          <p:nvPr/>
        </p:nvSpPr>
        <p:spPr>
          <a:xfrm>
            <a:off x="8305800" y="2267712"/>
            <a:ext cx="822960" cy="457200"/>
          </a:xfrm>
          <a:prstGeom prst="rect">
            <a:avLst/>
          </a:prstGeom>
          <a:noFill/>
          <a:ln/>
        </p:spPr>
        <p:txBody>
          <a:bodyPr wrap="square" lIns="0" tIns="0" rIns="0" bIns="0" rtlCol="0" anchor="ctr"/>
          <a:lstStyle/>
          <a:p>
            <a:pPr indent="0" marL="0">
              <a:buNone/>
            </a:pPr>
            <a:r>
              <a:rPr lang="en-US" sz="2200" i="1" dirty="0">
                <a:solidFill>
                  <a:srgbClr val="B79CF5"/>
                </a:solidFill>
                <a:latin typeface="Instrument Serif" pitchFamily="34" charset="0"/>
                <a:ea typeface="Instrument Serif" pitchFamily="34" charset="-122"/>
                <a:cs typeface="Instrument Serif" pitchFamily="34" charset="-120"/>
              </a:rPr>
              <a:t>03</a:t>
            </a:r>
            <a:endParaRPr lang="en-US" sz="2200" dirty="0"/>
          </a:p>
        </p:txBody>
      </p:sp>
      <p:sp>
        <p:nvSpPr>
          <p:cNvPr id="15" name="Text 12"/>
          <p:cNvSpPr txBox="1"/>
          <p:nvPr/>
        </p:nvSpPr>
        <p:spPr>
          <a:xfrm>
            <a:off x="8305800" y="2670048"/>
            <a:ext cx="3105912" cy="457200"/>
          </a:xfrm>
          <a:prstGeom prst="rect">
            <a:avLst/>
          </a:prstGeom>
          <a:noFill/>
          <a:ln/>
        </p:spPr>
        <p:txBody>
          <a:bodyPr wrap="square" lIns="0" tIns="0" rIns="0" bIns="0" rtlCol="0" anchor="t">
            <a:normAutofit/>
          </a:bodyPr>
          <a:lstStyle/>
          <a:p>
            <a:pPr indent="0" marL="0">
              <a:buNone/>
            </a:pPr>
            <a:r>
              <a:rPr lang="en-US" sz="1500" b="1" dirty="0">
                <a:solidFill>
                  <a:srgbClr val="F1EEFB"/>
                </a:solidFill>
                <a:latin typeface="Outfit" pitchFamily="34" charset="0"/>
                <a:ea typeface="Outfit" pitchFamily="34" charset="-122"/>
                <a:cs typeface="Outfit" pitchFamily="34" charset="-120"/>
              </a:rPr>
              <a:t>[Do this 3]</a:t>
            </a:r>
            <a:endParaRPr lang="en-US" sz="1500" dirty="0"/>
          </a:p>
        </p:txBody>
      </p:sp>
      <p:sp>
        <p:nvSpPr>
          <p:cNvPr id="16" name="Text 13"/>
          <p:cNvSpPr txBox="1"/>
          <p:nvPr/>
        </p:nvSpPr>
        <p:spPr>
          <a:xfrm>
            <a:off x="8305800" y="3154680"/>
            <a:ext cx="3105912" cy="1554480"/>
          </a:xfrm>
          <a:prstGeom prst="rect">
            <a:avLst/>
          </a:prstGeom>
          <a:noFill/>
          <a:ln/>
        </p:spPr>
        <p:txBody>
          <a:bodyPr wrap="square" lIns="0" tIns="0" rIns="0" bIns="0" rtlCol="0" anchor="t">
            <a:normAutofit/>
          </a:bodyPr>
          <a:lstStyle/>
          <a:p>
            <a:pPr indent="0" marL="0">
              <a:buNone/>
            </a:pPr>
            <a:r>
              <a:rPr lang="en-US" sz="1300" dirty="0">
                <a:solidFill>
                  <a:srgbClr val="C9C3DD"/>
                </a:solidFill>
                <a:latin typeface="Outfit" pitchFamily="34" charset="0"/>
                <a:ea typeface="Outfit" pitchFamily="34" charset="-122"/>
                <a:cs typeface="Outfit" pitchFamily="34" charset="-120"/>
              </a:rPr>
              <a:t>[One line.]</a:t>
            </a:r>
            <a:endParaRPr lang="en-US" sz="1300" dirty="0"/>
          </a:p>
        </p:txBody>
      </p:sp>
      <p:sp>
        <p:nvSpPr>
          <p:cNvPr id="17" name="Text 14"/>
          <p:cNvSpPr txBox="1"/>
          <p:nvPr/>
        </p:nvSpPr>
        <p:spPr>
          <a:xfrm>
            <a:off x="548640" y="5212080"/>
            <a:ext cx="11064240" cy="731520"/>
          </a:xfrm>
          <a:prstGeom prst="rect">
            <a:avLst/>
          </a:prstGeom>
          <a:noFill/>
          <a:ln/>
        </p:spPr>
        <p:txBody>
          <a:bodyPr wrap="square" lIns="0" tIns="0" rIns="0" bIns="0" rtlCol="0" anchor="ctr">
            <a:normAutofit/>
          </a:bodyPr>
          <a:lstStyle/>
          <a:p>
            <a:pPr indent="0" marL="0">
              <a:buNone/>
            </a:pPr>
            <a:r>
              <a:rPr lang="en-US" sz="2800" i="1" dirty="0">
                <a:solidFill>
                  <a:srgbClr val="E8C878"/>
                </a:solidFill>
                <a:latin typeface="Instrument Serif" pitchFamily="34" charset="0"/>
                <a:ea typeface="Instrument Serif" pitchFamily="34" charset="-122"/>
                <a:cs typeface="Instrument Serif" pitchFamily="34" charset="-120"/>
              </a:rPr>
              <a:t>[The last line of the video. The link is in the description.]</a:t>
            </a:r>
            <a:endParaRPr lang="en-US" sz="2800" dirty="0"/>
          </a:p>
        </p:txBody>
      </p:sp>
      <p:sp>
        <p:nvSpPr>
          <p:cNvPr id="18" name="Text 15"/>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8B85A3"/>
                </a:solidFill>
                <a:latin typeface="DM Mono" pitchFamily="34" charset="0"/>
                <a:ea typeface="DM Mono" pitchFamily="34" charset="-122"/>
                <a:cs typeface="DM Mono" pitchFamily="34" charset="-120"/>
              </a:rPr>
              <a:t>[YOUR AUDIT NAME] · [YOUR NAME]</a:t>
            </a:r>
            <a:endParaRPr lang="en-US" sz="900" dirty="0"/>
          </a:p>
        </p:txBody>
      </p:sp>
      <p:sp>
        <p:nvSpPr>
          <p:cNvPr id="19" name="Text 1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8B85A3"/>
                </a:solidFill>
                <a:latin typeface="DM Mono" pitchFamily="34" charset="0"/>
                <a:ea typeface="DM Mono" pitchFamily="34" charset="-122"/>
                <a:cs typeface="DM Mono"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utf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utfi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Audit Masterclass Template</dc:title>
  <dc:subject>PptxGenJS Presentation</dc:subject>
  <dc:creator>Spiritual Business Skool</dc:creator>
  <cp:lastModifiedBy>Spiritual Business Skool</cp:lastModifiedBy>
  <cp:revision>1</cp:revision>
  <dcterms:created xsi:type="dcterms:W3CDTF">2026-10-08T11:30:01Z</dcterms:created>
  <dcterms:modified xsi:type="dcterms:W3CDTF">2026-10-08T11:30:01Z</dcterms:modified>
</cp:coreProperties>
</file>